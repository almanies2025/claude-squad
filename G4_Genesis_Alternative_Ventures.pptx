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Genesis Alternative Ventures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C09620"/>
                </a:solidFill>
              </a:defRPr>
            </a:pPr>
            <a:r>
              <a:t>Southeast Asia's Pioneer in Venture Debt</a:t>
            </a:r>
            <a:br/>
            <a:br/>
            <a:r>
              <a:t>FNCE696 – Entrepreneurial Finance</a:t>
            </a:r>
            <a:br/>
            <a:br/>
            <a:r>
              <a:t>Group 4: Chui Jun Sheng Winston · Almanie Khalid Waleed S</a:t>
            </a:r>
            <a:br/>
            <a:r>
              <a:t>Hsieh I-Ying · Choo Jun Hao · Ujjwal Sancheti · Chee Li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555555"/>
                </a:solidFill>
              </a:defRPr>
            </a:pPr>
            <a:r>
              <a:t>• Genesis Alternative Ventures: Southeast Asia's first private venture debt fund, founded in 2018 by Dr. Wai Lun Loh and two co-founders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555555"/>
                </a:solidFill>
              </a:defRPr>
            </a:pPr>
            <a:r>
              <a:t>• Venture debt bridges the equity–bank gap — providing growth capital to VC-backed companies without diluting founders' equity further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555555"/>
                </a:solidFill>
              </a:defRPr>
            </a:pPr>
            <a:r>
              <a:t>• Genesis backs 'growth mode' companies with proven traction, supplementing interest income with equity kickers (warrants)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555555"/>
                </a:solidFill>
              </a:defRPr>
            </a:pPr>
            <a:r>
              <a:t>• In a weak SEA exit environment, Genesis generates ongoing cash distributions (principal + interest), delivering DPI close to 1x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555555"/>
                </a:solidFill>
              </a:defRPr>
            </a:pPr>
            <a:r>
              <a:t>• Distinct value proposition: 'smart money' — strategic advisory, network access, and long-term partnership beyond just capital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Dr. Loh's Path to Genesis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555555"/>
                </a:solidFill>
              </a:defRPr>
            </a:pPr>
            <a:r>
              <a:t>• Academic background: PhD (1999–2002), expected a career in research and academia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555555"/>
                </a:solidFill>
              </a:defRPr>
            </a:pPr>
            <a:r>
              <a:t>• Turning point at A*STAR (2004–2007): scientists encouraged to commercialise patents, build business plans, and raise capital — worked on an infectious-disease fast PCR diagnostic concept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555555"/>
                </a:solidFill>
              </a:defRPr>
            </a:pPr>
            <a:r>
              <a:t>• Joined EDBi in 2007 (biomedical sciences team) — entered venture capital when it was far less popular than today; built financial acumen from the ground up with mentorship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555555"/>
                </a:solidFill>
              </a:defRPr>
            </a:pPr>
            <a:r>
              <a:t>• Expanded investing across healthcare, medtech, pharma, ICT (gaming, e-commerce), and clean tech over ~10 years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555555"/>
                </a:solidFill>
              </a:defRPr>
            </a:pPr>
            <a:r>
              <a:t>• Moved to DBS to build a new Venture Debt team within SME Banking — no prior debt background; benefited from patient mentorship and freedom to build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555555"/>
                </a:solidFill>
              </a:defRPr>
            </a:pPr>
            <a:r>
              <a:t>• Left DBS: market moved faster than a large bank could support ('clipping our wings') — founded Genesis in 2018 with two co-founders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Venture Debt in Southeast Asia?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555555"/>
                </a:solidFill>
              </a:defRPr>
            </a:pPr>
            <a:r>
              <a:t>• Gap in financing spectrum: commercial banks won't lend to early-stage companies; equity is expensive and highly dilutive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555555"/>
                </a:solidFill>
              </a:defRPr>
            </a:pPr>
            <a:r>
              <a:t>• Reference model: Silicon Valley Bank (SVB) — US venture debt grew from near-zero to a multi-billion-dollar industry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555555"/>
                </a:solidFill>
              </a:defRPr>
            </a:pPr>
            <a:r>
              <a:t>• SEA was largely unexplored — Genesis identified a structural first-mover opportunity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555555"/>
                </a:solidFill>
              </a:defRPr>
            </a:pPr>
            <a:r>
              <a:t>• Dr. Loh's key mentor insight (early SVB employee): venture debt can grow from near-zero into a dominant asset class in a maturing VC ecosystem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555555"/>
                </a:solidFill>
              </a:defRPr>
            </a:pPr>
            <a:r>
              <a:t>• Venture debt advantages for founders: non-dilutive capital, preserve equity upside, faster decisioning than traditional banks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555555"/>
                </a:solidFill>
              </a:defRPr>
            </a:pPr>
            <a:r>
              <a:t>• Some VC peers discouraged the move — but the 'leap of faith' paid off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How Venture Debt Works: Mechanics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355E"/>
                </a:solidFill>
              </a:defRPr>
            </a:pPr>
            <a:r>
              <a:t>Target Borrowers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555555"/>
                </a:solidFill>
              </a:defRPr>
            </a:pPr>
            <a:r>
              <a:t>• VC-backed companies lacking 3-year audited financials</a:t>
            </a:r>
          </a:p>
          <a:p>
            <a:pPr>
              <a:spcBef>
                <a:spcPts val="500"/>
              </a:spcBef>
              <a:defRPr sz="1600">
                <a:solidFill>
                  <a:srgbClr val="555555"/>
                </a:solidFill>
              </a:defRPr>
            </a:pPr>
            <a:r>
              <a:t>• 'Growth mode' companies with traction — not early 'startup mode'</a:t>
            </a:r>
          </a:p>
          <a:p>
            <a:pPr>
              <a:spcBef>
                <a:spcPts val="500"/>
              </a:spcBef>
              <a:defRPr sz="1600">
                <a:solidFill>
                  <a:srgbClr val="555555"/>
                </a:solidFill>
              </a:defRPr>
            </a:pPr>
            <a:r>
              <a:t>• Broadly industry-agnostic; strong equity sponsor preferred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355E"/>
                </a:solidFill>
              </a:defRPr>
            </a:pPr>
            <a:r>
              <a:t>Returns &amp; Risk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916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555555"/>
                </a:solidFill>
              </a:defRPr>
            </a:pPr>
            <a:r>
              <a:t>• Interest income + equity kicker (warrants) OR exit fees for high-valuation companies</a:t>
            </a:r>
          </a:p>
          <a:p>
            <a:pPr>
              <a:spcBef>
                <a:spcPts val="500"/>
              </a:spcBef>
              <a:defRPr sz="1600">
                <a:solidFill>
                  <a:srgbClr val="555555"/>
                </a:solidFill>
              </a:defRPr>
            </a:pPr>
            <a:r>
              <a:t>• Underwriting is forward-looking — based on growth potential and equity sponsor support</a:t>
            </a:r>
          </a:p>
          <a:p>
            <a:pPr>
              <a:spcBef>
                <a:spcPts val="500"/>
              </a:spcBef>
              <a:defRPr sz="1600">
                <a:solidFill>
                  <a:srgbClr val="555555"/>
                </a:solidFill>
              </a:defRPr>
            </a:pPr>
            <a:r>
              <a:t>• Low default target (~3–5%); managed via covenants, restrictions, and monthly monitoring</a:t>
            </a:r>
          </a:p>
          <a:p>
            <a:pPr>
              <a:spcBef>
                <a:spcPts val="500"/>
              </a:spcBef>
              <a:defRPr sz="1600">
                <a:solidFill>
                  <a:srgbClr val="555555"/>
                </a:solidFill>
              </a:defRPr>
            </a:pPr>
            <a:r>
              <a:t>• Stress-testing: base case + downside projections over 6–24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Deal Sourcing &amp; Investment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355E"/>
                </a:solidFill>
              </a:defRPr>
            </a:pPr>
            <a:r>
              <a:t>Deal Sourcing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555555"/>
                </a:solidFill>
              </a:defRPr>
            </a:pPr>
            <a:r>
              <a:t>• Primary: VC investor networks and access to their portfolio companies</a:t>
            </a:r>
          </a:p>
          <a:p>
            <a:pPr>
              <a:spcBef>
                <a:spcPts val="500"/>
              </a:spcBef>
              <a:defRPr sz="1600">
                <a:solidFill>
                  <a:srgbClr val="555555"/>
                </a:solidFill>
              </a:defRPr>
            </a:pPr>
            <a:r>
              <a:t>• Secondary: founder referrals within the entrepreneurial community</a:t>
            </a:r>
          </a:p>
          <a:p>
            <a:pPr>
              <a:spcBef>
                <a:spcPts val="500"/>
              </a:spcBef>
              <a:defRPr sz="1600">
                <a:solidFill>
                  <a:srgbClr val="555555"/>
                </a:solidFill>
              </a:defRPr>
            </a:pPr>
            <a:r>
              <a:t>• Genesis builds long-term relationships — not one-off transactions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355E"/>
                </a:solidFill>
              </a:defRPr>
            </a:pPr>
            <a:r>
              <a:t>Investment Criteria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916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555555"/>
                </a:solidFill>
              </a:defRPr>
            </a:pPr>
            <a:r>
              <a:t>• Companies with proven traction and 'growth mode' positioning</a:t>
            </a:r>
          </a:p>
          <a:p>
            <a:pPr>
              <a:spcBef>
                <a:spcPts val="500"/>
              </a:spcBef>
              <a:defRPr sz="1600">
                <a:solidFill>
                  <a:srgbClr val="555555"/>
                </a:solidFill>
              </a:defRPr>
            </a:pPr>
            <a:r>
              <a:t>• Quality of equity sponsor strongly considered</a:t>
            </a:r>
          </a:p>
          <a:p>
            <a:pPr>
              <a:spcBef>
                <a:spcPts val="500"/>
              </a:spcBef>
              <a:defRPr sz="1600">
                <a:solidFill>
                  <a:srgbClr val="555555"/>
                </a:solidFill>
              </a:defRPr>
            </a:pPr>
            <a:r>
              <a:t>• Founder/management team quality</a:t>
            </a:r>
          </a:p>
          <a:p>
            <a:pPr>
              <a:spcBef>
                <a:spcPts val="500"/>
              </a:spcBef>
              <a:defRPr sz="1600">
                <a:solidFill>
                  <a:srgbClr val="555555"/>
                </a:solidFill>
              </a:defRPr>
            </a:pPr>
            <a:r>
              <a:t>• Rate-setting inputs: credit risk, USD/regional lending rates, company maturity, sponsor quality</a:t>
            </a:r>
          </a:p>
          <a:p>
            <a:pPr>
              <a:spcBef>
                <a:spcPts val="500"/>
              </a:spcBef>
              <a:defRPr sz="1600">
                <a:solidFill>
                  <a:srgbClr val="555555"/>
                </a:solidFill>
              </a:defRPr>
            </a:pPr>
            <a:r>
              <a:t>• Genesis will NOT price down to win deals — disciplined pricing based on borrower-specific risk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Due Diligence &amp; Risk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555555"/>
                </a:solidFill>
              </a:defRPr>
            </a:pPr>
            <a:r>
              <a:t>• Equity sponsor validation is helpful but NOT sufficient on its own — Genesis conducts extensive independent diligence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555555"/>
                </a:solidFill>
              </a:defRPr>
            </a:pPr>
            <a:r>
              <a:t>• Key diligence areas: cash flow, liquidity, receivables, repayment capacity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555555"/>
                </a:solidFill>
              </a:defRPr>
            </a:pPr>
            <a:r>
              <a:t>• Stress-testing: base case AND downside scenarios over 6–24 month horizons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555555"/>
                </a:solidFill>
              </a:defRPr>
            </a:pPr>
            <a:r>
              <a:t>• Ongoing monitoring tools: business covenants, founder covenants, use-of-cash restrictions, monthly check-ins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555555"/>
                </a:solidFill>
              </a:defRPr>
            </a:pPr>
            <a:r>
              <a:t>• Default management mindset: detect issues 6–12 months early; maintain very low default rates (~3–5%)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555555"/>
                </a:solidFill>
              </a:defRPr>
            </a:pPr>
            <a:r>
              <a:t>• Qualitative factors: business model soundness, founder quality, sponsor conviction, realistic projections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Southeast Asia Exit Environment &amp; Venture Debt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555555"/>
                </a:solidFill>
              </a:defRPr>
            </a:pPr>
            <a:r>
              <a:t>• Honest assessment: SEA exits currently limited — 'none' in practical terms; the entire ecosystem is struggling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555555"/>
                </a:solidFill>
              </a:defRPr>
            </a:pPr>
            <a:r>
              <a:t>• Venture debt's structural advantage in weak exit markets: principal + interest repayments provide ongoing cash distributions regardless of exit outcomes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555555"/>
                </a:solidFill>
              </a:defRPr>
            </a:pPr>
            <a:r>
              <a:t>• Genesis DPI (Distributions to Paid-In) close to 1x — compared to equity VCs of similar vintage potentially near zero without exits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555555"/>
                </a:solidFill>
              </a:defRPr>
            </a:pPr>
            <a:r>
              <a:t>• Exit pathways vary by business type: B2B companies more often get acquired; B2C more often pursue IPOs (though both are challenging)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555555"/>
                </a:solidFill>
              </a:defRPr>
            </a:pPr>
            <a:r>
              <a:t>• Stage labels (Series A/B) have become less meaningful — Genesis focuses on revenue traction and structures/prices deals accordingly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"Smart Money": Value-Add Beyond Capital"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555555"/>
                </a:solidFill>
              </a:defRPr>
            </a:pPr>
            <a:r>
              <a:t>• Partners bring pattern recognition across hundreds of business plans — advising on common pitfalls (e.g., premature hiring)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555555"/>
                </a:solidFill>
              </a:defRPr>
            </a:pPr>
            <a:r>
              <a:t>• Strategic support: help with business plan adjustments, fundraising network access, and board-level guidance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555555"/>
                </a:solidFill>
              </a:defRPr>
            </a:pPr>
            <a:r>
              <a:t>• Day-to-day involvement is NOT the model — strategic input on material decisions only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555555"/>
                </a:solidFill>
              </a:defRPr>
            </a:pPr>
            <a:r>
              <a:t>• Long-term partnership: example of Singapore industrial robotics company — relationship built in 2019 led to a recently closed deal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555555"/>
                </a:solidFill>
              </a:defRPr>
            </a:pPr>
            <a:r>
              <a:t>• Founder–lender conflict mitigation: strong governance via board, proactive communication, early disclosure on issues (e.g., delayed payments), and mutual respect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Challenges &amp; Future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555555"/>
                </a:solidFill>
              </a:defRPr>
            </a:pPr>
            <a:r>
              <a:t>• Competition has increased significantly over ~7 years as venture debt has gained recognition in SEA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555555"/>
                </a:solidFill>
              </a:defRPr>
            </a:pPr>
            <a:r>
              <a:t>• Genesis maintains discipline: will not cut pricing to win market share — borrower-specific risk always drives pricing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555555"/>
                </a:solidFill>
              </a:defRPr>
            </a:pPr>
            <a:r>
              <a:t>• Stage labels are increasingly irrelevant — traction (revenue scale) is the true signal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555555"/>
                </a:solidFill>
              </a:defRPr>
            </a:pPr>
            <a:r>
              <a:t>• Exit market remains challenging; venture debt's cash-distribution model provides resilience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555555"/>
                </a:solidFill>
              </a:defRPr>
            </a:pPr>
            <a:r>
              <a:t>• Opportunity: growing SEA VC ecosystem creates more VC-backed companies needing non-dilutive growth capital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555555"/>
                </a:solidFill>
              </a:defRPr>
            </a:pPr>
            <a:r>
              <a:t>• Continued first-mover advantage as SEA's most experienced venture debt team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Career Advice for MBA Students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555555"/>
                </a:solidFill>
              </a:defRPr>
            </a:pPr>
            <a:r>
              <a:t>• Stay flexible and open-minded — Dr. Loh's own path was unplanned; entrepreneurship often finds you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555555"/>
                </a:solidFill>
              </a:defRPr>
            </a:pPr>
            <a:r>
              <a:t>• Make small pivots that leverage your prior experience — don't start from zero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555555"/>
                </a:solidFill>
              </a:defRPr>
            </a:pPr>
            <a:r>
              <a:t>• Find good bosses and mentors — patient mentorship accelerated Dr. Loh's transition from scientist to investor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555555"/>
                </a:solidFill>
              </a:defRPr>
            </a:pPr>
            <a:r>
              <a:t>• Keep learning — financial acumen, deal structures, and sector knowledge can all be built post-MBA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555555"/>
                </a:solidFill>
              </a:defRPr>
            </a:pPr>
            <a:r>
              <a:t>• Money matters but isn't everything — purpose and mentorship drive long-term career satisfaction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555555"/>
                </a:solidFill>
              </a:defRPr>
            </a:pPr>
            <a:r>
              <a:t>• Venture debt fills a critical financing gap in Southeast Asia's ecosystem — non-dilutive growth capital for VC-backed companies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555555"/>
                </a:solidFill>
              </a:defRPr>
            </a:pPr>
            <a:r>
              <a:t>• Genesis Alternative Ventures pioneered this asset class in SEA (2018) and has built a disciplined investment approach with DPI near 1x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555555"/>
                </a:solidFill>
              </a:defRPr>
            </a:pPr>
            <a:r>
              <a:t>• First-mover advantage + rigorous risk management = sustainable competitive edge in a growing market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555555"/>
                </a:solidFill>
              </a:defRPr>
            </a:pPr>
            <a:r>
              <a:t>• Dr. Loh's journey: unplanned pivots, guided by mentors, built on scientific rigour and relentless learning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555555"/>
                </a:solidFill>
              </a:defRPr>
            </a:pPr>
            <a:r>
              <a:t>• For entrepreneurs: venture debt preserves equity upside while providing growth capital; choose lenders who bring 'smart money'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C09620"/>
                </a:solidFill>
              </a:defRPr>
            </a:pPr>
            <a:r>
              <a:t>Thank you</a:t>
            </a:r>
            <a:br/>
            <a:br/>
            <a:r>
              <a:t>Group 4: Chui Jun Sheng Winston · Almanie Khalid Waleed S</a:t>
            </a:r>
            <a:br/>
            <a:r>
              <a:t>Hsieh I-Ying · Choo Jun Hao · Ujjwal Sancheti · Chee Li Min</a:t>
            </a:r>
            <a:br/>
            <a:br/>
            <a:r>
              <a:t>FNCE696 – Entrepreneurial Finance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