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(SAR M)</c:v>
                </c:pt>
              </c:strCache>
            </c:strRef>
          </c:tx>
          <c:spPr>
            <a:solidFill>
              <a:srgbClr val="2E75B6"/>
            </a:solidFill>
          </c:spPr>
          <c:cat>
            <c:strRef>
              <c:f>Sheet1!$A$2:$A$7</c:f>
              <c:strCache>
                <c:ptCount val="6"/>
                <c:pt idx="0">
                  <c:v>FY25</c:v>
                </c:pt>
                <c:pt idx="1">
                  <c:v>FY26E</c:v>
                </c:pt>
                <c:pt idx="2">
                  <c:v>FY27E</c:v>
                </c:pt>
                <c:pt idx="3">
                  <c:v>FY28E</c:v>
                </c:pt>
                <c:pt idx="4">
                  <c:v>FY29E</c:v>
                </c:pt>
                <c:pt idx="5">
                  <c:v>FY30E</c:v>
                </c:pt>
              </c:strCache>
            </c:strRef>
          </c:cat>
          <c:val>
            <c:numRef>
              <c:f>Sheet1!$B$2:$B$7</c:f>
              <c:numCache>
                <c:formatCode>General</c:formatCode>
                <c:ptCount val="6"/>
                <c:pt idx="0">
                  <c:v>5379</c:v>
                </c:pt>
                <c:pt idx="1">
                  <c:v>5516</c:v>
                </c:pt>
                <c:pt idx="2">
                  <c:v>6088</c:v>
                </c:pt>
                <c:pt idx="3">
                  <c:v>6696</c:v>
                </c:pt>
                <c:pt idx="4">
                  <c:v>7232</c:v>
                </c:pt>
                <c:pt idx="5">
                  <c:v>7694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Implied Price</c:v>
                </c:pt>
              </c:strCache>
            </c:strRef>
          </c:tx>
          <c:dPt>
            <c:idx val="0"/>
            <c:spPr>
              <a:solidFill>
                <a:srgbClr val="C00000"/>
              </a:solidFill>
            </c:spPr>
          </c:dPt>
          <c:dPt>
            <c:idx val="1"/>
            <c:spPr>
              <a:solidFill>
                <a:srgbClr val="007030"/>
              </a:solidFill>
            </c:spPr>
          </c:dPt>
          <c:dPt>
            <c:idx val="2"/>
            <c:spPr>
              <a:solidFill>
                <a:srgbClr val="2E75B6"/>
              </a:solidFill>
            </c:spPr>
          </c:dPt>
          <c:dPt>
            <c:idx val="3"/>
            <c:spPr>
              <a:solidFill>
                <a:srgbClr val="ED7D31"/>
              </a:solidFill>
            </c:spPr>
          </c:dPt>
          <c:dPt>
            <c:idx val="4"/>
            <c:spPr>
              <a:solidFill>
                <a:srgbClr val="ED7D31"/>
              </a:solidFill>
            </c:spPr>
          </c:dPt>
          <c:dPt>
            <c:idx val="5"/>
            <c:spPr>
              <a:solidFill>
                <a:srgbClr val="C00000"/>
              </a:solidFill>
            </c:spPr>
          </c:dPt>
          <c:dPt>
            <c:idx val="6"/>
            <c:spPr>
              <a:solidFill>
                <a:srgbClr val="C00000"/>
              </a:solidFill>
            </c:spPr>
          </c:dPt>
          <c:dPt>
            <c:idx val="7"/>
            <c:spPr>
              <a:solidFill>
                <a:srgbClr val="007030"/>
              </a:solidFill>
            </c:spPr>
          </c:dPt>
          <c:dPt>
            <c:idx val="8"/>
            <c:spPr>
              <a:solidFill>
                <a:srgbClr val="2E75B6"/>
              </a:solidFill>
            </c:spPr>
          </c:dPt>
          <c:dPt>
            <c:idx val="9"/>
            <c:spPr>
              <a:solidFill>
                <a:srgbClr val="C00000"/>
              </a:solidFill>
            </c:spPr>
          </c:dPt>
          <c:cat>
            <c:strRef>
              <c:f>Sheet1!$A$2:$A$11</c:f>
              <c:strCache>
                <c:ptCount val="10"/>
                <c:pt idx="0">
                  <c:v>DCF — Bear</c:v>
                </c:pt>
                <c:pt idx="1">
                  <c:v>DCF — Base</c:v>
                </c:pt>
                <c:pt idx="2">
                  <c:v>DCF — Bull</c:v>
                </c:pt>
                <c:pt idx="3">
                  <c:v>Comps — Netflix 26x</c:v>
                </c:pt>
                <c:pt idx="4">
                  <c:v>Comps — Blended 15x</c:v>
                </c:pt>
                <c:pt idx="5">
                  <c:v>Comps — Blended 12x</c:v>
                </c:pt>
                <c:pt idx="6">
                  <c:v>SOTP — Bear</c:v>
                </c:pt>
                <c:pt idx="7">
                  <c:v>SOTP — Base</c:v>
                </c:pt>
                <c:pt idx="8">
                  <c:v>SOTP — Bull</c:v>
                </c:pt>
                <c:pt idx="9">
                  <c:v>Paramount Precedent</c:v>
                </c:pt>
              </c:strCache>
            </c:strRef>
          </c:cat>
          <c:val>
            <c:numRef>
              <c:f>Sheet1!$B$2:$B$11</c:f>
              <c:numCache>
                <c:formatCode>General</c:formatCode>
                <c:ptCount val="10"/>
                <c:pt idx="0">
                  <c:v>37.7</c:v>
                </c:pt>
                <c:pt idx="1">
                  <c:v>48.8</c:v>
                </c:pt>
                <c:pt idx="2">
                  <c:v>112.4</c:v>
                </c:pt>
                <c:pt idx="3">
                  <c:v>58.5</c:v>
                </c:pt>
                <c:pt idx="4">
                  <c:v>35.0</c:v>
                </c:pt>
                <c:pt idx="5">
                  <c:v>28.7</c:v>
                </c:pt>
                <c:pt idx="6">
                  <c:v>31.9</c:v>
                </c:pt>
                <c:pt idx="7">
                  <c:v>49.4</c:v>
                </c:pt>
                <c:pt idx="8">
                  <c:v>75.3</c:v>
                </c:pt>
                <c:pt idx="9">
                  <c:v>16.3</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41148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9144000" cy="54864"/>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9663"/>
            <a:ext cx="9144000" cy="2688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48640"/>
            <a:ext cx="8229600" cy="822960"/>
          </a:xfrm>
          <a:prstGeom prst="rect">
            <a:avLst/>
          </a:prstGeom>
          <a:noFill/>
        </p:spPr>
        <p:txBody>
          <a:bodyPr wrap="square">
            <a:spAutoFit/>
          </a:bodyPr>
          <a:lstStyle/>
          <a:p>
            <a:pPr algn="l"/>
            <a:r>
              <a:rPr sz="3600" b="1" i="0">
                <a:solidFill>
                  <a:srgbClr val="FFFFFF"/>
                </a:solidFill>
              </a:rPr>
              <a:t>MBC GROUP</a:t>
            </a:r>
          </a:p>
        </p:txBody>
      </p:sp>
      <p:sp>
        <p:nvSpPr>
          <p:cNvPr id="6" name="TextBox 5"/>
          <p:cNvSpPr txBox="1"/>
          <p:nvPr/>
        </p:nvSpPr>
        <p:spPr>
          <a:xfrm>
            <a:off x="548640" y="1325880"/>
            <a:ext cx="5486400" cy="365760"/>
          </a:xfrm>
          <a:prstGeom prst="rect">
            <a:avLst/>
          </a:prstGeom>
          <a:noFill/>
        </p:spPr>
        <p:txBody>
          <a:bodyPr wrap="square">
            <a:spAutoFit/>
          </a:bodyPr>
          <a:lstStyle/>
          <a:p>
            <a:pPr algn="l"/>
            <a:r>
              <a:rPr sz="1400" b="0" i="0">
                <a:solidFill>
                  <a:srgbClr val="BDD7EE"/>
                </a:solidFill>
              </a:rPr>
              <a:t>4072.SR  |  Tadawul</a:t>
            </a:r>
          </a:p>
        </p:txBody>
      </p:sp>
      <p:sp>
        <p:nvSpPr>
          <p:cNvPr id="7" name="TextBox 6"/>
          <p:cNvSpPr txBox="1"/>
          <p:nvPr/>
        </p:nvSpPr>
        <p:spPr>
          <a:xfrm>
            <a:off x="548640" y="1783080"/>
            <a:ext cx="8229600" cy="640080"/>
          </a:xfrm>
          <a:prstGeom prst="rect">
            <a:avLst/>
          </a:prstGeom>
          <a:noFill/>
        </p:spPr>
        <p:txBody>
          <a:bodyPr wrap="square">
            <a:spAutoFit/>
          </a:bodyPr>
          <a:lstStyle/>
          <a:p>
            <a:pPr algn="l"/>
            <a:r>
              <a:rPr sz="2600" b="0" i="0">
                <a:solidFill>
                  <a:srgbClr val="FFFFFF"/>
                </a:solidFill>
              </a:rPr>
              <a:t>Equity Valuation Analysis</a:t>
            </a:r>
          </a:p>
        </p:txBody>
      </p:sp>
      <p:sp>
        <p:nvSpPr>
          <p:cNvPr id="8" name="TextBox 7"/>
          <p:cNvSpPr txBox="1"/>
          <p:nvPr/>
        </p:nvSpPr>
        <p:spPr>
          <a:xfrm>
            <a:off x="548640" y="2423160"/>
            <a:ext cx="8229600" cy="365760"/>
          </a:xfrm>
          <a:prstGeom prst="rect">
            <a:avLst/>
          </a:prstGeom>
          <a:noFill/>
        </p:spPr>
        <p:txBody>
          <a:bodyPr wrap="square">
            <a:spAutoFit/>
          </a:bodyPr>
          <a:lstStyle/>
          <a:p>
            <a:pPr algn="l"/>
            <a:r>
              <a:rPr sz="1300" b="0" i="0">
                <a:solidFill>
                  <a:srgbClr val="BDD7EE"/>
                </a:solidFill>
              </a:rPr>
              <a:t>DCF  ·  Comparable Companies  ·  Sum-of-Parts  ·  Synthesis</a:t>
            </a:r>
          </a:p>
        </p:txBody>
      </p:sp>
      <p:sp>
        <p:nvSpPr>
          <p:cNvPr id="9" name="Rectangle 8"/>
          <p:cNvSpPr/>
          <p:nvPr/>
        </p:nvSpPr>
        <p:spPr>
          <a:xfrm>
            <a:off x="548640" y="3108960"/>
            <a:ext cx="5029200" cy="7772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54680"/>
            <a:ext cx="4846320" cy="320040"/>
          </a:xfrm>
          <a:prstGeom prst="rect">
            <a:avLst/>
          </a:prstGeom>
          <a:noFill/>
        </p:spPr>
        <p:txBody>
          <a:bodyPr wrap="square">
            <a:spAutoFit/>
          </a:bodyPr>
          <a:lstStyle/>
          <a:p>
            <a:pPr algn="l"/>
            <a:r>
              <a:rPr sz="1400" b="1" i="0">
                <a:solidFill>
                  <a:srgbClr val="FFFFFF"/>
                </a:solidFill>
              </a:rPr>
              <a:t>INVESTMENT RATING:  BUY</a:t>
            </a:r>
          </a:p>
        </p:txBody>
      </p:sp>
      <p:sp>
        <p:nvSpPr>
          <p:cNvPr id="11" name="TextBox 10"/>
          <p:cNvSpPr txBox="1"/>
          <p:nvPr/>
        </p:nvSpPr>
        <p:spPr>
          <a:xfrm>
            <a:off x="640080" y="3474720"/>
            <a:ext cx="4846320" cy="274320"/>
          </a:xfrm>
          <a:prstGeom prst="rect">
            <a:avLst/>
          </a:prstGeom>
          <a:noFill/>
        </p:spPr>
        <p:txBody>
          <a:bodyPr wrap="square">
            <a:spAutoFit/>
          </a:bodyPr>
          <a:lstStyle/>
          <a:p>
            <a:pPr algn="l"/>
            <a:r>
              <a:rPr sz="1100" b="0" i="0">
                <a:solidFill>
                  <a:srgbClr val="BDD7EE"/>
                </a:solidFill>
              </a:rPr>
              <a:t>Target SAR 42–52  |  Central SAR 47  |  Upside 60–98%</a:t>
            </a:r>
          </a:p>
        </p:txBody>
      </p:sp>
      <p:sp>
        <p:nvSpPr>
          <p:cNvPr id="12" name="Rectangle 11"/>
          <p:cNvSpPr/>
          <p:nvPr/>
        </p:nvSpPr>
        <p:spPr>
          <a:xfrm>
            <a:off x="5943600" y="3017520"/>
            <a:ext cx="2926080" cy="100584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3063240"/>
            <a:ext cx="2743200" cy="274320"/>
          </a:xfrm>
          <a:prstGeom prst="rect">
            <a:avLst/>
          </a:prstGeom>
          <a:noFill/>
        </p:spPr>
        <p:txBody>
          <a:bodyPr wrap="square">
            <a:spAutoFit/>
          </a:bodyPr>
          <a:lstStyle/>
          <a:p>
            <a:pPr algn="l"/>
            <a:r>
              <a:rPr sz="1000" b="0" i="0">
                <a:solidFill>
                  <a:srgbClr val="1F3864"/>
                </a:solidFill>
              </a:rPr>
              <a:t>Current Price</a:t>
            </a:r>
          </a:p>
        </p:txBody>
      </p:sp>
      <p:sp>
        <p:nvSpPr>
          <p:cNvPr id="14" name="TextBox 13"/>
          <p:cNvSpPr txBox="1"/>
          <p:nvPr/>
        </p:nvSpPr>
        <p:spPr>
          <a:xfrm>
            <a:off x="6035040" y="3291840"/>
            <a:ext cx="2743200" cy="457200"/>
          </a:xfrm>
          <a:prstGeom prst="rect">
            <a:avLst/>
          </a:prstGeom>
          <a:noFill/>
        </p:spPr>
        <p:txBody>
          <a:bodyPr wrap="square">
            <a:spAutoFit/>
          </a:bodyPr>
          <a:lstStyle/>
          <a:p>
            <a:pPr algn="l"/>
            <a:r>
              <a:rPr sz="2200" b="1" i="0">
                <a:solidFill>
                  <a:srgbClr val="1F3864"/>
                </a:solidFill>
              </a:rPr>
              <a:t>SAR 26.26</a:t>
            </a:r>
          </a:p>
        </p:txBody>
      </p:sp>
      <p:sp>
        <p:nvSpPr>
          <p:cNvPr id="15" name="TextBox 14"/>
          <p:cNvSpPr txBox="1"/>
          <p:nvPr/>
        </p:nvSpPr>
        <p:spPr>
          <a:xfrm>
            <a:off x="6035040" y="3703320"/>
            <a:ext cx="2743200" cy="228600"/>
          </a:xfrm>
          <a:prstGeom prst="rect">
            <a:avLst/>
          </a:prstGeom>
          <a:noFill/>
        </p:spPr>
        <p:txBody>
          <a:bodyPr wrap="square">
            <a:spAutoFit/>
          </a:bodyPr>
          <a:lstStyle/>
          <a:p>
            <a:pPr algn="l"/>
            <a:r>
              <a:rPr sz="900" b="0" i="1">
                <a:solidFill>
                  <a:srgbClr val="1F3864"/>
                </a:solidFill>
              </a:rPr>
              <a:t>April 21, 2026</a:t>
            </a:r>
          </a:p>
        </p:txBody>
      </p:sp>
      <p:sp>
        <p:nvSpPr>
          <p:cNvPr id="16" name="TextBox 15"/>
          <p:cNvSpPr txBox="1"/>
          <p:nvPr/>
        </p:nvSpPr>
        <p:spPr>
          <a:xfrm>
            <a:off x="548640" y="4572000"/>
            <a:ext cx="8229600" cy="274320"/>
          </a:xfrm>
          <a:prstGeom prst="rect">
            <a:avLst/>
          </a:prstGeom>
          <a:noFill/>
        </p:spPr>
        <p:txBody>
          <a:bodyPr wrap="square">
            <a:spAutoFit/>
          </a:bodyPr>
          <a:lstStyle/>
          <a:p>
            <a:pPr algn="l"/>
            <a:r>
              <a:rPr sz="1000" b="0" i="0">
                <a:solidFill>
                  <a:srgbClr val="404040"/>
                </a:solidFill>
              </a:rPr>
              <a:t>MBA Practice Exercise  |  April 2026</a:t>
            </a:r>
          </a:p>
        </p:txBody>
      </p:sp>
      <p:sp>
        <p:nvSpPr>
          <p:cNvPr id="17" name="TextBox 16"/>
          <p:cNvSpPr txBox="1"/>
          <p:nvPr/>
        </p:nvSpPr>
        <p:spPr>
          <a:xfrm>
            <a:off x="548640" y="4846320"/>
            <a:ext cx="8229600" cy="274320"/>
          </a:xfrm>
          <a:prstGeom prst="rect">
            <a:avLst/>
          </a:prstGeom>
          <a:noFill/>
        </p:spPr>
        <p:txBody>
          <a:bodyPr wrap="square">
            <a:spAutoFit/>
          </a:bodyPr>
          <a:lstStyle/>
          <a:p>
            <a:pPr algn="l"/>
            <a:r>
              <a:rPr sz="900" b="0" i="1">
                <a:solidFill>
                  <a:srgbClr val="808080"/>
                </a:solidFill>
              </a:rPr>
              <a:t>Data: Capital IQ  |  MBC Group Annual Report (Mar 2026)</a:t>
            </a:r>
          </a:p>
        </p:txBody>
      </p:sp>
      <p:sp>
        <p:nvSpPr>
          <p:cNvPr id="18" name="TextBox 17"/>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19" name="TextBox 18"/>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EXECUTIVE SUMMARY</a:t>
            </a:r>
          </a:p>
        </p:txBody>
      </p:sp>
      <p:sp>
        <p:nvSpPr>
          <p:cNvPr id="4" name="TextBox 3"/>
          <p:cNvSpPr txBox="1"/>
          <p:nvPr/>
        </p:nvSpPr>
        <p:spPr>
          <a:xfrm>
            <a:off x="274320" y="594360"/>
            <a:ext cx="8595360" cy="365760"/>
          </a:xfrm>
          <a:prstGeom prst="rect">
            <a:avLst/>
          </a:prstGeom>
          <a:noFill/>
        </p:spPr>
        <p:txBody>
          <a:bodyPr wrap="square">
            <a:spAutoFit/>
          </a:bodyPr>
          <a:lstStyle/>
          <a:p>
            <a:pPr algn="l"/>
            <a:r>
              <a:rPr sz="1600" b="1" i="0">
                <a:solidFill>
                  <a:srgbClr val="1F3864"/>
                </a:solidFill>
              </a:rPr>
              <a:t>Investment Thesis</a:t>
            </a:r>
          </a:p>
        </p:txBody>
      </p:sp>
      <p:sp>
        <p:nvSpPr>
          <p:cNvPr id="5" name="Rectangle 4"/>
          <p:cNvSpPr/>
          <p:nvPr/>
        </p:nvSpPr>
        <p:spPr>
          <a:xfrm>
            <a:off x="274320" y="960120"/>
            <a:ext cx="8595360" cy="68580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05840"/>
            <a:ext cx="8321040" cy="594360"/>
          </a:xfrm>
          <a:prstGeom prst="rect">
            <a:avLst/>
          </a:prstGeom>
          <a:noFill/>
        </p:spPr>
        <p:txBody>
          <a:bodyPr wrap="square">
            <a:spAutoFit/>
          </a:bodyPr>
          <a:lstStyle/>
          <a:p>
            <a:pPr algn="l"/>
            <a:r>
              <a:rPr sz="1100" b="0" i="0">
                <a:solidFill>
                  <a:srgbClr val="1F3864"/>
                </a:solidFill>
              </a:rPr>
              <a:t>MBC Group trades at SAR 26.26 — a 44% discount to our fair value estimate of SAR 47. Two independent valuation methods (DCF and SOTP) converge at SAR 48–50. The discount reflects conglomerate complexity and streaming execution risk, not fundamental business quality.</a:t>
            </a:r>
          </a:p>
        </p:txBody>
      </p:sp>
      <p:sp>
        <p:nvSpPr>
          <p:cNvPr id="7" name="TextBox 6"/>
          <p:cNvSpPr txBox="1"/>
          <p:nvPr/>
        </p:nvSpPr>
        <p:spPr>
          <a:xfrm>
            <a:off x="274320" y="1783080"/>
            <a:ext cx="8595360" cy="320040"/>
          </a:xfrm>
          <a:prstGeom prst="rect">
            <a:avLst/>
          </a:prstGeom>
          <a:noFill/>
        </p:spPr>
        <p:txBody>
          <a:bodyPr wrap="square">
            <a:spAutoFit/>
          </a:bodyPr>
          <a:lstStyle/>
          <a:p>
            <a:pPr algn="l"/>
            <a:r>
              <a:rPr sz="1300" b="1" i="0">
                <a:solidFill>
                  <a:srgbClr val="404040"/>
                </a:solidFill>
              </a:rPr>
              <a:t>Three Businesses, One Discount</a:t>
            </a:r>
          </a:p>
        </p:txBody>
      </p:sp>
      <p:sp>
        <p:nvSpPr>
          <p:cNvPr id="8" name="Rectangle 7"/>
          <p:cNvSpPr/>
          <p:nvPr/>
        </p:nvSpPr>
        <p:spPr>
          <a:xfrm>
            <a:off x="274320" y="2148840"/>
            <a:ext cx="265176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2167128"/>
            <a:ext cx="2468880" cy="201168"/>
          </a:xfrm>
          <a:prstGeom prst="rect">
            <a:avLst/>
          </a:prstGeom>
          <a:noFill/>
        </p:spPr>
        <p:txBody>
          <a:bodyPr wrap="square">
            <a:spAutoFit/>
          </a:bodyPr>
          <a:lstStyle/>
          <a:p>
            <a:pPr algn="l"/>
            <a:r>
              <a:rPr sz="900" b="1" i="0">
                <a:solidFill>
                  <a:srgbClr val="FFFFFF"/>
                </a:solidFill>
              </a:rPr>
              <a:t>BOCA (Broadcast)</a:t>
            </a:r>
          </a:p>
        </p:txBody>
      </p:sp>
      <p:sp>
        <p:nvSpPr>
          <p:cNvPr id="10" name="Rectangle 9"/>
          <p:cNvSpPr/>
          <p:nvPr/>
        </p:nvSpPr>
        <p:spPr>
          <a:xfrm>
            <a:off x="274320" y="2423160"/>
            <a:ext cx="2651760" cy="1645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514600"/>
            <a:ext cx="2468880" cy="1463040"/>
          </a:xfrm>
          <a:prstGeom prst="rect">
            <a:avLst/>
          </a:prstGeom>
          <a:noFill/>
        </p:spPr>
        <p:txBody>
          <a:bodyPr wrap="square">
            <a:spAutoFit/>
          </a:bodyPr>
          <a:lstStyle/>
          <a:p/>
          <a:p>
            <a:pPr algn="l"/>
            <a:r>
              <a:rPr sz="900" b="1" i="0">
                <a:solidFill>
                  <a:srgbClr val="1F3864"/>
                </a:solidFill>
              </a:rPr>
              <a:t>54% of revenue</a:t>
            </a:r>
          </a:p>
          <a:p>
            <a:pPr algn="l">
              <a:spcBef>
                <a:spcPts val="400"/>
              </a:spcBef>
            </a:pPr>
            <a:r>
              <a:rPr sz="900" b="0" i="0">
                <a:solidFill>
                  <a:srgbClr val="404040"/>
                </a:solidFill>
              </a:rPr>
              <a:t>MENA's dominant pan-Arab TV platform</a:t>
            </a:r>
          </a:p>
          <a:p>
            <a:pPr algn="l">
              <a:spcBef>
                <a:spcPts val="600"/>
              </a:spcBef>
            </a:pPr>
            <a:r>
              <a:rPr sz="900" b="1" i="0">
                <a:solidFill>
                  <a:srgbClr val="404040"/>
                </a:solidFill>
              </a:rPr>
              <a:t>Equity value: SAR 8,057M equity</a:t>
            </a:r>
          </a:p>
          <a:p>
            <a:pPr algn="l"/>
            <a:r>
              <a:rPr sz="800" b="0" i="1">
                <a:solidFill>
                  <a:srgbClr val="808080"/>
                </a:solidFill>
              </a:rPr>
              <a:t>Implies: ~SAR 6.5B at 10.5x</a:t>
            </a:r>
          </a:p>
        </p:txBody>
      </p:sp>
      <p:sp>
        <p:nvSpPr>
          <p:cNvPr id="12" name="Rectangle 11"/>
          <p:cNvSpPr/>
          <p:nvPr/>
        </p:nvSpPr>
        <p:spPr>
          <a:xfrm>
            <a:off x="3154680" y="2148840"/>
            <a:ext cx="26517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27832" y="2167128"/>
            <a:ext cx="2468880" cy="201168"/>
          </a:xfrm>
          <a:prstGeom prst="rect">
            <a:avLst/>
          </a:prstGeom>
          <a:noFill/>
        </p:spPr>
        <p:txBody>
          <a:bodyPr wrap="square">
            <a:spAutoFit/>
          </a:bodyPr>
          <a:lstStyle/>
          <a:p>
            <a:pPr algn="l"/>
            <a:r>
              <a:rPr sz="900" b="1" i="0">
                <a:solidFill>
                  <a:srgbClr val="FFFFFF"/>
                </a:solidFill>
              </a:rPr>
              <a:t>Shahid (Streaming)</a:t>
            </a:r>
          </a:p>
        </p:txBody>
      </p:sp>
      <p:sp>
        <p:nvSpPr>
          <p:cNvPr id="14" name="Rectangle 13"/>
          <p:cNvSpPr/>
          <p:nvPr/>
        </p:nvSpPr>
        <p:spPr>
          <a:xfrm>
            <a:off x="3154680" y="2423160"/>
            <a:ext cx="2651760" cy="1645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2514600"/>
            <a:ext cx="2468880" cy="1463040"/>
          </a:xfrm>
          <a:prstGeom prst="rect">
            <a:avLst/>
          </a:prstGeom>
          <a:noFill/>
        </p:spPr>
        <p:txBody>
          <a:bodyPr wrap="square">
            <a:spAutoFit/>
          </a:bodyPr>
          <a:lstStyle/>
          <a:p/>
          <a:p>
            <a:pPr algn="l"/>
            <a:r>
              <a:rPr sz="900" b="1" i="0">
                <a:solidFill>
                  <a:srgbClr val="2E75B6"/>
                </a:solidFill>
              </a:rPr>
              <a:t>23% of revenue</a:t>
            </a:r>
          </a:p>
          <a:p>
            <a:pPr algn="l">
              <a:spcBef>
                <a:spcPts val="400"/>
              </a:spcBef>
            </a:pPr>
            <a:r>
              <a:rPr sz="900" b="0" i="0">
                <a:solidFill>
                  <a:srgbClr val="404040"/>
                </a:solidFill>
              </a:rPr>
              <a:t>34% revenue growth — market leader</a:t>
            </a:r>
          </a:p>
          <a:p>
            <a:pPr algn="l">
              <a:spcBef>
                <a:spcPts val="600"/>
              </a:spcBef>
            </a:pPr>
            <a:r>
              <a:rPr sz="900" b="1" i="0">
                <a:solidFill>
                  <a:srgbClr val="404040"/>
                </a:solidFill>
              </a:rPr>
              <a:t>Equity value: SAR 7,967M equity</a:t>
            </a:r>
          </a:p>
          <a:p>
            <a:pPr algn="l"/>
            <a:r>
              <a:rPr sz="800" b="0" i="1">
                <a:solidFill>
                  <a:srgbClr val="808080"/>
                </a:solidFill>
              </a:rPr>
              <a:t>Implies: ~SAR 1.7B at 5x revenue</a:t>
            </a:r>
          </a:p>
        </p:txBody>
      </p:sp>
      <p:sp>
        <p:nvSpPr>
          <p:cNvPr id="16" name="Rectangle 15"/>
          <p:cNvSpPr/>
          <p:nvPr/>
        </p:nvSpPr>
        <p:spPr>
          <a:xfrm>
            <a:off x="6035040" y="2148840"/>
            <a:ext cx="2651760"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08192" y="2167128"/>
            <a:ext cx="2468880" cy="201168"/>
          </a:xfrm>
          <a:prstGeom prst="rect">
            <a:avLst/>
          </a:prstGeom>
          <a:noFill/>
        </p:spPr>
        <p:txBody>
          <a:bodyPr wrap="square">
            <a:spAutoFit/>
          </a:bodyPr>
          <a:lstStyle/>
          <a:p>
            <a:pPr algn="l"/>
            <a:r>
              <a:rPr sz="900" b="1" i="0">
                <a:solidFill>
                  <a:srgbClr val="FFFFFF"/>
                </a:solidFill>
              </a:rPr>
              <a:t>M&amp;E (Media &amp; Events)</a:t>
            </a:r>
          </a:p>
        </p:txBody>
      </p:sp>
      <p:sp>
        <p:nvSpPr>
          <p:cNvPr id="18" name="Rectangle 17"/>
          <p:cNvSpPr/>
          <p:nvPr/>
        </p:nvSpPr>
        <p:spPr>
          <a:xfrm>
            <a:off x="6035040" y="2423160"/>
            <a:ext cx="2651760" cy="1645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514600"/>
            <a:ext cx="2468880" cy="1463040"/>
          </a:xfrm>
          <a:prstGeom prst="rect">
            <a:avLst/>
          </a:prstGeom>
          <a:noFill/>
        </p:spPr>
        <p:txBody>
          <a:bodyPr wrap="square">
            <a:spAutoFit/>
          </a:bodyPr>
          <a:lstStyle/>
          <a:p/>
          <a:p>
            <a:pPr algn="l"/>
            <a:r>
              <a:rPr sz="900" b="1" i="0">
                <a:solidFill>
                  <a:srgbClr val="C9A227"/>
                </a:solidFill>
              </a:rPr>
              <a:t>23% of revenue</a:t>
            </a:r>
          </a:p>
          <a:p>
            <a:pPr algn="l">
              <a:spcBef>
                <a:spcPts val="400"/>
              </a:spcBef>
            </a:pPr>
            <a:r>
              <a:rPr sz="900" b="0" i="0">
                <a:solidFill>
                  <a:srgbClr val="404040"/>
                </a:solidFill>
              </a:rPr>
              <a:t>Thin margins, Vision 2030 beneficiary</a:t>
            </a:r>
          </a:p>
          <a:p>
            <a:pPr algn="l">
              <a:spcBef>
                <a:spcPts val="600"/>
              </a:spcBef>
            </a:pPr>
            <a:r>
              <a:rPr sz="900" b="1" i="0">
                <a:solidFill>
                  <a:srgbClr val="404040"/>
                </a:solidFill>
              </a:rPr>
              <a:t>Equity value: SAR 417M equity</a:t>
            </a:r>
          </a:p>
          <a:p>
            <a:pPr algn="l"/>
            <a:r>
              <a:rPr sz="800" b="0" i="1">
                <a:solidFill>
                  <a:srgbClr val="808080"/>
                </a:solidFill>
              </a:rPr>
              <a:t>Implies: ~SAR 0.4B at 10x</a:t>
            </a:r>
          </a:p>
        </p:txBody>
      </p:sp>
      <p:sp>
        <p:nvSpPr>
          <p:cNvPr id="20" name="TextBox 19"/>
          <p:cNvSpPr txBox="1"/>
          <p:nvPr/>
        </p:nvSpPr>
        <p:spPr>
          <a:xfrm>
            <a:off x="274320" y="4206240"/>
            <a:ext cx="8595360" cy="320040"/>
          </a:xfrm>
          <a:prstGeom prst="rect">
            <a:avLst/>
          </a:prstGeom>
          <a:noFill/>
        </p:spPr>
        <p:txBody>
          <a:bodyPr wrap="square">
            <a:spAutoFit/>
          </a:bodyPr>
          <a:lstStyle/>
          <a:p>
            <a:pPr algn="l"/>
            <a:r>
              <a:rPr sz="1300" b="1" i="0">
                <a:solidFill>
                  <a:srgbClr val="404040"/>
                </a:solidFill>
              </a:rPr>
              <a:t>Valuation Summary</a:t>
            </a:r>
          </a:p>
        </p:txBody>
      </p:sp>
      <p:sp>
        <p:nvSpPr>
          <p:cNvPr id="21" name="Rectangle 20"/>
          <p:cNvSpPr/>
          <p:nvPr/>
        </p:nvSpPr>
        <p:spPr>
          <a:xfrm>
            <a:off x="274320" y="4526280"/>
            <a:ext cx="2743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4544568"/>
            <a:ext cx="2743200" cy="237744"/>
          </a:xfrm>
          <a:prstGeom prst="rect">
            <a:avLst/>
          </a:prstGeom>
          <a:noFill/>
        </p:spPr>
        <p:txBody>
          <a:bodyPr wrap="square">
            <a:spAutoFit/>
          </a:bodyPr>
          <a:lstStyle/>
          <a:p>
            <a:pPr algn="l"/>
            <a:r>
              <a:rPr sz="900" b="1" i="0">
                <a:solidFill>
                  <a:srgbClr val="FFFFFF"/>
                </a:solidFill>
              </a:rPr>
              <a:t>Method</a:t>
            </a:r>
          </a:p>
        </p:txBody>
      </p:sp>
      <p:sp>
        <p:nvSpPr>
          <p:cNvPr id="23" name="Rectangle 22"/>
          <p:cNvSpPr/>
          <p:nvPr/>
        </p:nvSpPr>
        <p:spPr>
          <a:xfrm>
            <a:off x="3108960" y="4526280"/>
            <a:ext cx="164592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82112" y="4544568"/>
            <a:ext cx="1645920" cy="237744"/>
          </a:xfrm>
          <a:prstGeom prst="rect">
            <a:avLst/>
          </a:prstGeom>
          <a:noFill/>
        </p:spPr>
        <p:txBody>
          <a:bodyPr wrap="square">
            <a:spAutoFit/>
          </a:bodyPr>
          <a:lstStyle/>
          <a:p>
            <a:pPr algn="l"/>
            <a:r>
              <a:rPr sz="900" b="1" i="0">
                <a:solidFill>
                  <a:srgbClr val="FFFFFF"/>
                </a:solidFill>
              </a:rPr>
              <a:t>Fair Value</a:t>
            </a:r>
          </a:p>
        </p:txBody>
      </p:sp>
      <p:sp>
        <p:nvSpPr>
          <p:cNvPr id="25" name="Rectangle 24"/>
          <p:cNvSpPr/>
          <p:nvPr/>
        </p:nvSpPr>
        <p:spPr>
          <a:xfrm>
            <a:off x="4846320" y="4526280"/>
            <a:ext cx="9144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19472" y="4544568"/>
            <a:ext cx="914400" cy="237744"/>
          </a:xfrm>
          <a:prstGeom prst="rect">
            <a:avLst/>
          </a:prstGeom>
          <a:noFill/>
        </p:spPr>
        <p:txBody>
          <a:bodyPr wrap="square">
            <a:spAutoFit/>
          </a:bodyPr>
          <a:lstStyle/>
          <a:p>
            <a:pPr algn="l"/>
            <a:r>
              <a:rPr sz="900" b="1" i="0">
                <a:solidFill>
                  <a:srgbClr val="FFFFFF"/>
                </a:solidFill>
              </a:rPr>
              <a:t>vs. Market</a:t>
            </a:r>
          </a:p>
        </p:txBody>
      </p:sp>
      <p:sp>
        <p:nvSpPr>
          <p:cNvPr id="27" name="Rectangle 26"/>
          <p:cNvSpPr/>
          <p:nvPr/>
        </p:nvSpPr>
        <p:spPr>
          <a:xfrm>
            <a:off x="5852160" y="4526280"/>
            <a:ext cx="301752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25312" y="4544568"/>
            <a:ext cx="3017520" cy="237744"/>
          </a:xfrm>
          <a:prstGeom prst="rect">
            <a:avLst/>
          </a:prstGeom>
          <a:noFill/>
        </p:spPr>
        <p:txBody>
          <a:bodyPr wrap="square">
            <a:spAutoFit/>
          </a:bodyPr>
          <a:lstStyle/>
          <a:p>
            <a:pPr algn="l"/>
            <a:r>
              <a:rPr sz="900" b="1" i="0">
                <a:solidFill>
                  <a:srgbClr val="FFFFFF"/>
                </a:solidFill>
              </a:rPr>
              <a:t>Notes</a:t>
            </a:r>
          </a:p>
        </p:txBody>
      </p:sp>
      <p:sp>
        <p:nvSpPr>
          <p:cNvPr id="29" name="Rectangle 28"/>
          <p:cNvSpPr/>
          <p:nvPr/>
        </p:nvSpPr>
        <p:spPr>
          <a:xfrm>
            <a:off x="274320" y="4828032"/>
            <a:ext cx="27432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 y="4846320"/>
            <a:ext cx="2743200" cy="237744"/>
          </a:xfrm>
          <a:prstGeom prst="rect">
            <a:avLst/>
          </a:prstGeom>
          <a:noFill/>
        </p:spPr>
        <p:txBody>
          <a:bodyPr wrap="square">
            <a:spAutoFit/>
          </a:bodyPr>
          <a:lstStyle/>
          <a:p>
            <a:pPr algn="l"/>
            <a:r>
              <a:rPr sz="900" b="0" i="0">
                <a:solidFill>
                  <a:srgbClr val="007030"/>
                </a:solidFill>
              </a:rPr>
              <a:t>DCF Base Case (WACC 10%)</a:t>
            </a:r>
          </a:p>
        </p:txBody>
      </p:sp>
      <p:sp>
        <p:nvSpPr>
          <p:cNvPr id="31" name="Rectangle 30"/>
          <p:cNvSpPr/>
          <p:nvPr/>
        </p:nvSpPr>
        <p:spPr>
          <a:xfrm>
            <a:off x="3108960" y="4828032"/>
            <a:ext cx="164592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82112" y="4846320"/>
            <a:ext cx="1645920" cy="237744"/>
          </a:xfrm>
          <a:prstGeom prst="rect">
            <a:avLst/>
          </a:prstGeom>
          <a:noFill/>
        </p:spPr>
        <p:txBody>
          <a:bodyPr wrap="square">
            <a:spAutoFit/>
          </a:bodyPr>
          <a:lstStyle/>
          <a:p>
            <a:pPr algn="l"/>
            <a:r>
              <a:rPr sz="900" b="0" i="0">
                <a:solidFill>
                  <a:srgbClr val="007030"/>
                </a:solidFill>
              </a:rPr>
              <a:t>SAR 48.8</a:t>
            </a:r>
          </a:p>
        </p:txBody>
      </p:sp>
      <p:sp>
        <p:nvSpPr>
          <p:cNvPr id="33" name="Rectangle 32"/>
          <p:cNvSpPr/>
          <p:nvPr/>
        </p:nvSpPr>
        <p:spPr>
          <a:xfrm>
            <a:off x="4846320" y="4828032"/>
            <a:ext cx="9144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19472" y="4846320"/>
            <a:ext cx="914400" cy="237744"/>
          </a:xfrm>
          <a:prstGeom prst="rect">
            <a:avLst/>
          </a:prstGeom>
          <a:noFill/>
        </p:spPr>
        <p:txBody>
          <a:bodyPr wrap="square">
            <a:spAutoFit/>
          </a:bodyPr>
          <a:lstStyle/>
          <a:p>
            <a:pPr algn="l"/>
            <a:r>
              <a:rPr sz="900" b="0" i="0">
                <a:solidFill>
                  <a:srgbClr val="007030"/>
                </a:solidFill>
              </a:rPr>
              <a:t>+86%</a:t>
            </a:r>
          </a:p>
        </p:txBody>
      </p:sp>
      <p:sp>
        <p:nvSpPr>
          <p:cNvPr id="35" name="Rectangle 34"/>
          <p:cNvSpPr/>
          <p:nvPr/>
        </p:nvSpPr>
        <p:spPr>
          <a:xfrm>
            <a:off x="5852160" y="4828032"/>
            <a:ext cx="301752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25312" y="4846320"/>
            <a:ext cx="3017520" cy="237744"/>
          </a:xfrm>
          <a:prstGeom prst="rect">
            <a:avLst/>
          </a:prstGeom>
          <a:noFill/>
        </p:spPr>
        <p:txBody>
          <a:bodyPr wrap="square">
            <a:spAutoFit/>
          </a:bodyPr>
          <a:lstStyle/>
          <a:p>
            <a:pPr algn="l"/>
            <a:r>
              <a:rPr sz="900" b="0" i="0">
                <a:solidFill>
                  <a:srgbClr val="007030"/>
                </a:solidFill>
              </a:rPr>
              <a:t>Converges with SOTP</a:t>
            </a:r>
          </a:p>
        </p:txBody>
      </p:sp>
      <p:sp>
        <p:nvSpPr>
          <p:cNvPr id="37" name="Rectangle 36"/>
          <p:cNvSpPr/>
          <p:nvPr/>
        </p:nvSpPr>
        <p:spPr>
          <a:xfrm>
            <a:off x="274320" y="5129784"/>
            <a:ext cx="2743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 y="5148072"/>
            <a:ext cx="2743200" cy="237744"/>
          </a:xfrm>
          <a:prstGeom prst="rect">
            <a:avLst/>
          </a:prstGeom>
          <a:noFill/>
        </p:spPr>
        <p:txBody>
          <a:bodyPr wrap="square">
            <a:spAutoFit/>
          </a:bodyPr>
          <a:lstStyle/>
          <a:p>
            <a:pPr algn="l"/>
            <a:r>
              <a:rPr sz="900" b="0" i="0">
                <a:solidFill>
                  <a:srgbClr val="007030"/>
                </a:solidFill>
              </a:rPr>
              <a:t>SOTP Base Case</a:t>
            </a:r>
          </a:p>
        </p:txBody>
      </p:sp>
      <p:sp>
        <p:nvSpPr>
          <p:cNvPr id="39" name="Rectangle 38"/>
          <p:cNvSpPr/>
          <p:nvPr/>
        </p:nvSpPr>
        <p:spPr>
          <a:xfrm>
            <a:off x="3108960" y="5129784"/>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82112" y="5148072"/>
            <a:ext cx="1645920" cy="237744"/>
          </a:xfrm>
          <a:prstGeom prst="rect">
            <a:avLst/>
          </a:prstGeom>
          <a:noFill/>
        </p:spPr>
        <p:txBody>
          <a:bodyPr wrap="square">
            <a:spAutoFit/>
          </a:bodyPr>
          <a:lstStyle/>
          <a:p>
            <a:pPr algn="l"/>
            <a:r>
              <a:rPr sz="900" b="0" i="0">
                <a:solidFill>
                  <a:srgbClr val="007030"/>
                </a:solidFill>
              </a:rPr>
              <a:t>SAR 49.4</a:t>
            </a:r>
          </a:p>
        </p:txBody>
      </p:sp>
      <p:sp>
        <p:nvSpPr>
          <p:cNvPr id="41" name="Rectangle 40"/>
          <p:cNvSpPr/>
          <p:nvPr/>
        </p:nvSpPr>
        <p:spPr>
          <a:xfrm>
            <a:off x="4846320" y="5129784"/>
            <a:ext cx="914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19472" y="5148072"/>
            <a:ext cx="914400" cy="237744"/>
          </a:xfrm>
          <a:prstGeom prst="rect">
            <a:avLst/>
          </a:prstGeom>
          <a:noFill/>
        </p:spPr>
        <p:txBody>
          <a:bodyPr wrap="square">
            <a:spAutoFit/>
          </a:bodyPr>
          <a:lstStyle/>
          <a:p>
            <a:pPr algn="l"/>
            <a:r>
              <a:rPr sz="900" b="0" i="0">
                <a:solidFill>
                  <a:srgbClr val="007030"/>
                </a:solidFill>
              </a:rPr>
              <a:t>+88%</a:t>
            </a:r>
          </a:p>
        </p:txBody>
      </p:sp>
      <p:sp>
        <p:nvSpPr>
          <p:cNvPr id="43" name="Rectangle 42"/>
          <p:cNvSpPr/>
          <p:nvPr/>
        </p:nvSpPr>
        <p:spPr>
          <a:xfrm>
            <a:off x="5852160" y="5129784"/>
            <a:ext cx="30175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25312" y="5148072"/>
            <a:ext cx="3017520" cy="237744"/>
          </a:xfrm>
          <a:prstGeom prst="rect">
            <a:avLst/>
          </a:prstGeom>
          <a:noFill/>
        </p:spPr>
        <p:txBody>
          <a:bodyPr wrap="square">
            <a:spAutoFit/>
          </a:bodyPr>
          <a:lstStyle/>
          <a:p>
            <a:pPr algn="l"/>
            <a:r>
              <a:rPr sz="900" b="0" i="0">
                <a:solidFill>
                  <a:srgbClr val="007030"/>
                </a:solidFill>
              </a:rPr>
              <a:t>Segment-level valuation</a:t>
            </a:r>
          </a:p>
        </p:txBody>
      </p:sp>
      <p:sp>
        <p:nvSpPr>
          <p:cNvPr id="45" name="Rectangle 44"/>
          <p:cNvSpPr/>
          <p:nvPr/>
        </p:nvSpPr>
        <p:spPr>
          <a:xfrm>
            <a:off x="274320" y="5431536"/>
            <a:ext cx="27432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7472" y="5449824"/>
            <a:ext cx="2743200" cy="237744"/>
          </a:xfrm>
          <a:prstGeom prst="rect">
            <a:avLst/>
          </a:prstGeom>
          <a:noFill/>
        </p:spPr>
        <p:txBody>
          <a:bodyPr wrap="square">
            <a:spAutoFit/>
          </a:bodyPr>
          <a:lstStyle/>
          <a:p>
            <a:pPr algn="l"/>
            <a:r>
              <a:rPr sz="900" b="0" i="0">
                <a:solidFill>
                  <a:srgbClr val="007030"/>
                </a:solidFill>
              </a:rPr>
              <a:t>Comparable Companies</a:t>
            </a:r>
          </a:p>
        </p:txBody>
      </p:sp>
      <p:sp>
        <p:nvSpPr>
          <p:cNvPr id="47" name="Rectangle 46"/>
          <p:cNvSpPr/>
          <p:nvPr/>
        </p:nvSpPr>
        <p:spPr>
          <a:xfrm>
            <a:off x="3108960" y="5431536"/>
            <a:ext cx="164592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82112" y="5449824"/>
            <a:ext cx="1645920" cy="237744"/>
          </a:xfrm>
          <a:prstGeom prst="rect">
            <a:avLst/>
          </a:prstGeom>
          <a:noFill/>
        </p:spPr>
        <p:txBody>
          <a:bodyPr wrap="square">
            <a:spAutoFit/>
          </a:bodyPr>
          <a:lstStyle/>
          <a:p>
            <a:pPr algn="l"/>
            <a:r>
              <a:rPr sz="900" b="0" i="0">
                <a:solidFill>
                  <a:srgbClr val="007030"/>
                </a:solidFill>
              </a:rPr>
              <a:t>SAR 35–50</a:t>
            </a:r>
          </a:p>
        </p:txBody>
      </p:sp>
      <p:sp>
        <p:nvSpPr>
          <p:cNvPr id="49" name="Rectangle 48"/>
          <p:cNvSpPr/>
          <p:nvPr/>
        </p:nvSpPr>
        <p:spPr>
          <a:xfrm>
            <a:off x="4846320" y="5431536"/>
            <a:ext cx="9144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19472" y="5449824"/>
            <a:ext cx="914400" cy="237744"/>
          </a:xfrm>
          <a:prstGeom prst="rect">
            <a:avLst/>
          </a:prstGeom>
          <a:noFill/>
        </p:spPr>
        <p:txBody>
          <a:bodyPr wrap="square">
            <a:spAutoFit/>
          </a:bodyPr>
          <a:lstStyle/>
          <a:p>
            <a:pPr algn="l"/>
            <a:r>
              <a:rPr sz="900" b="0" i="0">
                <a:solidFill>
                  <a:srgbClr val="007030"/>
                </a:solidFill>
              </a:rPr>
              <a:t>+33–90%</a:t>
            </a:r>
          </a:p>
        </p:txBody>
      </p:sp>
      <p:sp>
        <p:nvSpPr>
          <p:cNvPr id="51" name="Rectangle 50"/>
          <p:cNvSpPr/>
          <p:nvPr/>
        </p:nvSpPr>
        <p:spPr>
          <a:xfrm>
            <a:off x="5852160" y="5431536"/>
            <a:ext cx="301752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25312" y="5449824"/>
            <a:ext cx="3017520" cy="237744"/>
          </a:xfrm>
          <a:prstGeom prst="rect">
            <a:avLst/>
          </a:prstGeom>
          <a:noFill/>
        </p:spPr>
        <p:txBody>
          <a:bodyPr wrap="square">
            <a:spAutoFit/>
          </a:bodyPr>
          <a:lstStyle/>
          <a:p>
            <a:pPr algn="l"/>
            <a:r>
              <a:rPr sz="900" b="0" i="0">
                <a:solidFill>
                  <a:srgbClr val="007030"/>
                </a:solidFill>
              </a:rPr>
              <a:t>Blended peer multiples</a:t>
            </a:r>
          </a:p>
        </p:txBody>
      </p:sp>
      <p:sp>
        <p:nvSpPr>
          <p:cNvPr id="53" name="Rectangle 52"/>
          <p:cNvSpPr/>
          <p:nvPr/>
        </p:nvSpPr>
        <p:spPr>
          <a:xfrm>
            <a:off x="274320" y="5733288"/>
            <a:ext cx="2743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7472" y="5751576"/>
            <a:ext cx="2743200" cy="237744"/>
          </a:xfrm>
          <a:prstGeom prst="rect">
            <a:avLst/>
          </a:prstGeom>
          <a:noFill/>
        </p:spPr>
        <p:txBody>
          <a:bodyPr wrap="square">
            <a:spAutoFit/>
          </a:bodyPr>
          <a:lstStyle/>
          <a:p>
            <a:pPr algn="l"/>
            <a:r>
              <a:rPr sz="900" b="1" i="0">
                <a:solidFill>
                  <a:srgbClr val="404040"/>
                </a:solidFill>
              </a:rPr>
              <a:t>Blended Central Estimate</a:t>
            </a:r>
          </a:p>
        </p:txBody>
      </p:sp>
      <p:sp>
        <p:nvSpPr>
          <p:cNvPr id="55" name="Rectangle 54"/>
          <p:cNvSpPr/>
          <p:nvPr/>
        </p:nvSpPr>
        <p:spPr>
          <a:xfrm>
            <a:off x="3108960" y="5733288"/>
            <a:ext cx="1645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82112" y="5751576"/>
            <a:ext cx="1645920" cy="237744"/>
          </a:xfrm>
          <a:prstGeom prst="rect">
            <a:avLst/>
          </a:prstGeom>
          <a:noFill/>
        </p:spPr>
        <p:txBody>
          <a:bodyPr wrap="square">
            <a:spAutoFit/>
          </a:bodyPr>
          <a:lstStyle/>
          <a:p>
            <a:pPr algn="l"/>
            <a:r>
              <a:rPr sz="900" b="1" i="0">
                <a:solidFill>
                  <a:srgbClr val="404040"/>
                </a:solidFill>
              </a:rPr>
              <a:t>SAR 42–52</a:t>
            </a:r>
          </a:p>
        </p:txBody>
      </p:sp>
      <p:sp>
        <p:nvSpPr>
          <p:cNvPr id="57" name="Rectangle 56"/>
          <p:cNvSpPr/>
          <p:nvPr/>
        </p:nvSpPr>
        <p:spPr>
          <a:xfrm>
            <a:off x="4846320" y="5733288"/>
            <a:ext cx="9144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19472" y="5751576"/>
            <a:ext cx="914400" cy="237744"/>
          </a:xfrm>
          <a:prstGeom prst="rect">
            <a:avLst/>
          </a:prstGeom>
          <a:noFill/>
        </p:spPr>
        <p:txBody>
          <a:bodyPr wrap="square">
            <a:spAutoFit/>
          </a:bodyPr>
          <a:lstStyle/>
          <a:p>
            <a:pPr algn="l"/>
            <a:r>
              <a:rPr sz="900" b="1" i="0">
                <a:solidFill>
                  <a:srgbClr val="404040"/>
                </a:solidFill>
              </a:rPr>
              <a:t>+60–98%</a:t>
            </a:r>
          </a:p>
        </p:txBody>
      </p:sp>
      <p:sp>
        <p:nvSpPr>
          <p:cNvPr id="59" name="Rectangle 58"/>
          <p:cNvSpPr/>
          <p:nvPr/>
        </p:nvSpPr>
        <p:spPr>
          <a:xfrm>
            <a:off x="5852160" y="5733288"/>
            <a:ext cx="30175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25312" y="5751576"/>
            <a:ext cx="3017520" cy="237744"/>
          </a:xfrm>
          <a:prstGeom prst="rect">
            <a:avLst/>
          </a:prstGeom>
          <a:noFill/>
        </p:spPr>
        <p:txBody>
          <a:bodyPr wrap="square">
            <a:spAutoFit/>
          </a:bodyPr>
          <a:lstStyle/>
          <a:p>
            <a:pPr algn="l"/>
            <a:r>
              <a:rPr sz="900" b="1" i="0">
                <a:solidFill>
                  <a:srgbClr val="404040"/>
                </a:solidFill>
              </a:rPr>
              <a:t>Weighted: DCF 35%, SOTP 35%</a:t>
            </a:r>
          </a:p>
        </p:txBody>
      </p:sp>
      <p:sp>
        <p:nvSpPr>
          <p:cNvPr id="61" name="TextBox 60"/>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62" name="TextBox 61"/>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COMPANY OVERVIEW</a:t>
            </a:r>
          </a:p>
        </p:txBody>
      </p:sp>
      <p:sp>
        <p:nvSpPr>
          <p:cNvPr id="4" name="TextBox 3"/>
          <p:cNvSpPr txBox="1"/>
          <p:nvPr/>
        </p:nvSpPr>
        <p:spPr>
          <a:xfrm>
            <a:off x="274320" y="594360"/>
            <a:ext cx="4114800" cy="320040"/>
          </a:xfrm>
          <a:prstGeom prst="rect">
            <a:avLst/>
          </a:prstGeom>
          <a:noFill/>
        </p:spPr>
        <p:txBody>
          <a:bodyPr wrap="square">
            <a:spAutoFit/>
          </a:bodyPr>
          <a:lstStyle/>
          <a:p>
            <a:pPr algn="l"/>
            <a:r>
              <a:rPr sz="1400" b="1" i="0">
                <a:solidFill>
                  <a:srgbClr val="1F3864"/>
                </a:solidFill>
              </a:rPr>
              <a:t>MBC Group at a Glance</a:t>
            </a:r>
          </a:p>
        </p:txBody>
      </p:sp>
      <p:sp>
        <p:nvSpPr>
          <p:cNvPr id="5" name="TextBox 4"/>
          <p:cNvSpPr txBox="1"/>
          <p:nvPr/>
        </p:nvSpPr>
        <p:spPr>
          <a:xfrm>
            <a:off x="320040" y="1005840"/>
            <a:ext cx="1188720" cy="256032"/>
          </a:xfrm>
          <a:prstGeom prst="rect">
            <a:avLst/>
          </a:prstGeom>
          <a:noFill/>
        </p:spPr>
        <p:txBody>
          <a:bodyPr wrap="square">
            <a:spAutoFit/>
          </a:bodyPr>
          <a:lstStyle/>
          <a:p>
            <a:pPr algn="l"/>
            <a:r>
              <a:rPr sz="900" b="1" i="0">
                <a:solidFill>
                  <a:srgbClr val="2E75B6"/>
                </a:solidFill>
              </a:rPr>
              <a:t>Ticker:</a:t>
            </a:r>
          </a:p>
        </p:txBody>
      </p:sp>
      <p:sp>
        <p:nvSpPr>
          <p:cNvPr id="6" name="TextBox 5"/>
          <p:cNvSpPr txBox="1"/>
          <p:nvPr/>
        </p:nvSpPr>
        <p:spPr>
          <a:xfrm>
            <a:off x="1554480" y="1005840"/>
            <a:ext cx="2743200" cy="256032"/>
          </a:xfrm>
          <a:prstGeom prst="rect">
            <a:avLst/>
          </a:prstGeom>
          <a:noFill/>
        </p:spPr>
        <p:txBody>
          <a:bodyPr wrap="square">
            <a:spAutoFit/>
          </a:bodyPr>
          <a:lstStyle/>
          <a:p>
            <a:pPr algn="l"/>
            <a:r>
              <a:rPr sz="900" b="0" i="0">
                <a:solidFill>
                  <a:srgbClr val="404040"/>
                </a:solidFill>
              </a:rPr>
              <a:t>4072.SR — Tadawul (TASI)</a:t>
            </a:r>
          </a:p>
        </p:txBody>
      </p:sp>
      <p:sp>
        <p:nvSpPr>
          <p:cNvPr id="7" name="TextBox 6"/>
          <p:cNvSpPr txBox="1"/>
          <p:nvPr/>
        </p:nvSpPr>
        <p:spPr>
          <a:xfrm>
            <a:off x="320040" y="1289304"/>
            <a:ext cx="1188720" cy="256032"/>
          </a:xfrm>
          <a:prstGeom prst="rect">
            <a:avLst/>
          </a:prstGeom>
          <a:noFill/>
        </p:spPr>
        <p:txBody>
          <a:bodyPr wrap="square">
            <a:spAutoFit/>
          </a:bodyPr>
          <a:lstStyle/>
          <a:p>
            <a:pPr algn="l"/>
            <a:r>
              <a:rPr sz="900" b="1" i="0">
                <a:solidFill>
                  <a:srgbClr val="2E75B6"/>
                </a:solidFill>
              </a:rPr>
              <a:t>Listed:</a:t>
            </a:r>
          </a:p>
        </p:txBody>
      </p:sp>
      <p:sp>
        <p:nvSpPr>
          <p:cNvPr id="8" name="TextBox 7"/>
          <p:cNvSpPr txBox="1"/>
          <p:nvPr/>
        </p:nvSpPr>
        <p:spPr>
          <a:xfrm>
            <a:off x="1554480" y="1289304"/>
            <a:ext cx="2743200" cy="256032"/>
          </a:xfrm>
          <a:prstGeom prst="rect">
            <a:avLst/>
          </a:prstGeom>
          <a:noFill/>
        </p:spPr>
        <p:txBody>
          <a:bodyPr wrap="square">
            <a:spAutoFit/>
          </a:bodyPr>
          <a:lstStyle/>
          <a:p>
            <a:pPr algn="l"/>
            <a:r>
              <a:rPr sz="900" b="0" i="0">
                <a:solidFill>
                  <a:srgbClr val="404040"/>
                </a:solidFill>
              </a:rPr>
              <a:t>January 8, 2024</a:t>
            </a:r>
          </a:p>
        </p:txBody>
      </p:sp>
      <p:sp>
        <p:nvSpPr>
          <p:cNvPr id="9" name="TextBox 8"/>
          <p:cNvSpPr txBox="1"/>
          <p:nvPr/>
        </p:nvSpPr>
        <p:spPr>
          <a:xfrm>
            <a:off x="320040" y="1572768"/>
            <a:ext cx="1188720" cy="256032"/>
          </a:xfrm>
          <a:prstGeom prst="rect">
            <a:avLst/>
          </a:prstGeom>
          <a:noFill/>
        </p:spPr>
        <p:txBody>
          <a:bodyPr wrap="square">
            <a:spAutoFit/>
          </a:bodyPr>
          <a:lstStyle/>
          <a:p>
            <a:pPr algn="l"/>
            <a:r>
              <a:rPr sz="900" b="1" i="0">
                <a:solidFill>
                  <a:srgbClr val="2E75B6"/>
                </a:solidFill>
              </a:rPr>
              <a:t>Ownership:</a:t>
            </a:r>
          </a:p>
        </p:txBody>
      </p:sp>
      <p:sp>
        <p:nvSpPr>
          <p:cNvPr id="10" name="TextBox 9"/>
          <p:cNvSpPr txBox="1"/>
          <p:nvPr/>
        </p:nvSpPr>
        <p:spPr>
          <a:xfrm>
            <a:off x="1554480" y="1572768"/>
            <a:ext cx="2743200" cy="256032"/>
          </a:xfrm>
          <a:prstGeom prst="rect">
            <a:avLst/>
          </a:prstGeom>
          <a:noFill/>
        </p:spPr>
        <p:txBody>
          <a:bodyPr wrap="square">
            <a:spAutoFit/>
          </a:bodyPr>
          <a:lstStyle/>
          <a:p>
            <a:pPr algn="l"/>
            <a:r>
              <a:rPr sz="900" b="0" i="0">
                <a:solidFill>
                  <a:srgbClr val="404040"/>
                </a:solidFill>
              </a:rPr>
              <a:t>PIF majority; founder Waleed bin Ibrahim as chairman</a:t>
            </a:r>
          </a:p>
        </p:txBody>
      </p:sp>
      <p:sp>
        <p:nvSpPr>
          <p:cNvPr id="11" name="TextBox 10"/>
          <p:cNvSpPr txBox="1"/>
          <p:nvPr/>
        </p:nvSpPr>
        <p:spPr>
          <a:xfrm>
            <a:off x="320040" y="1856232"/>
            <a:ext cx="1188720" cy="256032"/>
          </a:xfrm>
          <a:prstGeom prst="rect">
            <a:avLst/>
          </a:prstGeom>
          <a:noFill/>
        </p:spPr>
        <p:txBody>
          <a:bodyPr wrap="square">
            <a:spAutoFit/>
          </a:bodyPr>
          <a:lstStyle/>
          <a:p>
            <a:pPr algn="l"/>
            <a:r>
              <a:rPr sz="900" b="1" i="0">
                <a:solidFill>
                  <a:srgbClr val="2E75B6"/>
                </a:solidFill>
              </a:rPr>
              <a:t>Stock price:</a:t>
            </a:r>
          </a:p>
        </p:txBody>
      </p:sp>
      <p:sp>
        <p:nvSpPr>
          <p:cNvPr id="12" name="TextBox 11"/>
          <p:cNvSpPr txBox="1"/>
          <p:nvPr/>
        </p:nvSpPr>
        <p:spPr>
          <a:xfrm>
            <a:off x="1554480" y="1856232"/>
            <a:ext cx="2743200" cy="256032"/>
          </a:xfrm>
          <a:prstGeom prst="rect">
            <a:avLst/>
          </a:prstGeom>
          <a:noFill/>
        </p:spPr>
        <p:txBody>
          <a:bodyPr wrap="square">
            <a:spAutoFit/>
          </a:bodyPr>
          <a:lstStyle/>
          <a:p>
            <a:pPr algn="l"/>
            <a:r>
              <a:rPr sz="900" b="0" i="0">
                <a:solidFill>
                  <a:srgbClr val="404040"/>
                </a:solidFill>
              </a:rPr>
              <a:t>SAR 26.26 (April 21, 2026)</a:t>
            </a:r>
          </a:p>
        </p:txBody>
      </p:sp>
      <p:sp>
        <p:nvSpPr>
          <p:cNvPr id="13" name="TextBox 12"/>
          <p:cNvSpPr txBox="1"/>
          <p:nvPr/>
        </p:nvSpPr>
        <p:spPr>
          <a:xfrm>
            <a:off x="320040" y="2139696"/>
            <a:ext cx="1188720" cy="256032"/>
          </a:xfrm>
          <a:prstGeom prst="rect">
            <a:avLst/>
          </a:prstGeom>
          <a:noFill/>
        </p:spPr>
        <p:txBody>
          <a:bodyPr wrap="square">
            <a:spAutoFit/>
          </a:bodyPr>
          <a:lstStyle/>
          <a:p>
            <a:pPr algn="l"/>
            <a:r>
              <a:rPr sz="900" b="1" i="0">
                <a:solidFill>
                  <a:srgbClr val="2E75B6"/>
                </a:solidFill>
              </a:rPr>
              <a:t>Market cap:</a:t>
            </a:r>
          </a:p>
        </p:txBody>
      </p:sp>
      <p:sp>
        <p:nvSpPr>
          <p:cNvPr id="14" name="TextBox 13"/>
          <p:cNvSpPr txBox="1"/>
          <p:nvPr/>
        </p:nvSpPr>
        <p:spPr>
          <a:xfrm>
            <a:off x="1554480" y="2139696"/>
            <a:ext cx="2743200" cy="256032"/>
          </a:xfrm>
          <a:prstGeom prst="rect">
            <a:avLst/>
          </a:prstGeom>
          <a:noFill/>
        </p:spPr>
        <p:txBody>
          <a:bodyPr wrap="square">
            <a:spAutoFit/>
          </a:bodyPr>
          <a:lstStyle/>
          <a:p>
            <a:pPr algn="l"/>
            <a:r>
              <a:rPr sz="900" b="0" i="0">
                <a:solidFill>
                  <a:srgbClr val="404040"/>
                </a:solidFill>
              </a:rPr>
              <a:t>SAR 8,844M  (~$2.36B)</a:t>
            </a:r>
          </a:p>
        </p:txBody>
      </p:sp>
      <p:sp>
        <p:nvSpPr>
          <p:cNvPr id="15" name="TextBox 14"/>
          <p:cNvSpPr txBox="1"/>
          <p:nvPr/>
        </p:nvSpPr>
        <p:spPr>
          <a:xfrm>
            <a:off x="320040" y="2423160"/>
            <a:ext cx="1188720" cy="256032"/>
          </a:xfrm>
          <a:prstGeom prst="rect">
            <a:avLst/>
          </a:prstGeom>
          <a:noFill/>
        </p:spPr>
        <p:txBody>
          <a:bodyPr wrap="square">
            <a:spAutoFit/>
          </a:bodyPr>
          <a:lstStyle/>
          <a:p>
            <a:pPr algn="l"/>
            <a:r>
              <a:rPr sz="900" b="1" i="0">
                <a:solidFill>
                  <a:srgbClr val="2E75B6"/>
                </a:solidFill>
              </a:rPr>
              <a:t>TEV:</a:t>
            </a:r>
          </a:p>
        </p:txBody>
      </p:sp>
      <p:sp>
        <p:nvSpPr>
          <p:cNvPr id="16" name="TextBox 15"/>
          <p:cNvSpPr txBox="1"/>
          <p:nvPr/>
        </p:nvSpPr>
        <p:spPr>
          <a:xfrm>
            <a:off x="1554480" y="2423160"/>
            <a:ext cx="2743200" cy="256032"/>
          </a:xfrm>
          <a:prstGeom prst="rect">
            <a:avLst/>
          </a:prstGeom>
          <a:noFill/>
        </p:spPr>
        <p:txBody>
          <a:bodyPr wrap="square">
            <a:spAutoFit/>
          </a:bodyPr>
          <a:lstStyle/>
          <a:p>
            <a:pPr algn="l"/>
            <a:r>
              <a:rPr sz="900" b="0" i="0">
                <a:solidFill>
                  <a:srgbClr val="404040"/>
                </a:solidFill>
              </a:rPr>
              <a:t>SAR 7,683M</a:t>
            </a:r>
          </a:p>
        </p:txBody>
      </p:sp>
      <p:sp>
        <p:nvSpPr>
          <p:cNvPr id="17" name="TextBox 16"/>
          <p:cNvSpPr txBox="1"/>
          <p:nvPr/>
        </p:nvSpPr>
        <p:spPr>
          <a:xfrm>
            <a:off x="320040" y="2706624"/>
            <a:ext cx="1188720" cy="256032"/>
          </a:xfrm>
          <a:prstGeom prst="rect">
            <a:avLst/>
          </a:prstGeom>
          <a:noFill/>
        </p:spPr>
        <p:txBody>
          <a:bodyPr wrap="square">
            <a:spAutoFit/>
          </a:bodyPr>
          <a:lstStyle/>
          <a:p>
            <a:pPr algn="l"/>
            <a:r>
              <a:rPr sz="900" b="1" i="0">
                <a:solidFill>
                  <a:srgbClr val="2E75B6"/>
                </a:solidFill>
              </a:rPr>
              <a:t>Net cash:</a:t>
            </a:r>
          </a:p>
        </p:txBody>
      </p:sp>
      <p:sp>
        <p:nvSpPr>
          <p:cNvPr id="18" name="TextBox 17"/>
          <p:cNvSpPr txBox="1"/>
          <p:nvPr/>
        </p:nvSpPr>
        <p:spPr>
          <a:xfrm>
            <a:off x="1554480" y="2706624"/>
            <a:ext cx="2743200" cy="256032"/>
          </a:xfrm>
          <a:prstGeom prst="rect">
            <a:avLst/>
          </a:prstGeom>
          <a:noFill/>
        </p:spPr>
        <p:txBody>
          <a:bodyPr wrap="square">
            <a:spAutoFit/>
          </a:bodyPr>
          <a:lstStyle/>
          <a:p>
            <a:pPr algn="l"/>
            <a:r>
              <a:rPr sz="900" b="0" i="0">
                <a:solidFill>
                  <a:srgbClr val="404040"/>
                </a:solidFill>
              </a:rPr>
              <a:t>SAR ~1,231M  (cash &gt; debt)</a:t>
            </a:r>
          </a:p>
        </p:txBody>
      </p:sp>
      <p:sp>
        <p:nvSpPr>
          <p:cNvPr id="19" name="TextBox 18"/>
          <p:cNvSpPr txBox="1"/>
          <p:nvPr/>
        </p:nvSpPr>
        <p:spPr>
          <a:xfrm>
            <a:off x="320040" y="2990088"/>
            <a:ext cx="1188720" cy="256032"/>
          </a:xfrm>
          <a:prstGeom prst="rect">
            <a:avLst/>
          </a:prstGeom>
          <a:noFill/>
        </p:spPr>
        <p:txBody>
          <a:bodyPr wrap="square">
            <a:spAutoFit/>
          </a:bodyPr>
          <a:lstStyle/>
          <a:p>
            <a:pPr algn="l"/>
            <a:r>
              <a:rPr sz="900" b="1" i="0">
                <a:solidFill>
                  <a:srgbClr val="2E75B6"/>
                </a:solidFill>
              </a:rPr>
              <a:t>Shares out:</a:t>
            </a:r>
          </a:p>
        </p:txBody>
      </p:sp>
      <p:sp>
        <p:nvSpPr>
          <p:cNvPr id="20" name="TextBox 19"/>
          <p:cNvSpPr txBox="1"/>
          <p:nvPr/>
        </p:nvSpPr>
        <p:spPr>
          <a:xfrm>
            <a:off x="1554480" y="2990088"/>
            <a:ext cx="2743200" cy="256032"/>
          </a:xfrm>
          <a:prstGeom prst="rect">
            <a:avLst/>
          </a:prstGeom>
          <a:noFill/>
        </p:spPr>
        <p:txBody>
          <a:bodyPr wrap="square">
            <a:spAutoFit/>
          </a:bodyPr>
          <a:lstStyle/>
          <a:p>
            <a:pPr algn="l"/>
            <a:r>
              <a:rPr sz="900" b="0" i="0">
                <a:solidFill>
                  <a:srgbClr val="404040"/>
                </a:solidFill>
              </a:rPr>
              <a:t>332.5M</a:t>
            </a:r>
          </a:p>
        </p:txBody>
      </p:sp>
      <p:sp>
        <p:nvSpPr>
          <p:cNvPr id="21" name="TextBox 20"/>
          <p:cNvSpPr txBox="1"/>
          <p:nvPr/>
        </p:nvSpPr>
        <p:spPr>
          <a:xfrm>
            <a:off x="4846320" y="594360"/>
            <a:ext cx="4114800" cy="320040"/>
          </a:xfrm>
          <a:prstGeom prst="rect">
            <a:avLst/>
          </a:prstGeom>
          <a:noFill/>
        </p:spPr>
        <p:txBody>
          <a:bodyPr wrap="square">
            <a:spAutoFit/>
          </a:bodyPr>
          <a:lstStyle/>
          <a:p>
            <a:pPr algn="l"/>
            <a:r>
              <a:rPr sz="1400" b="1" i="0">
                <a:solidFill>
                  <a:srgbClr val="1F3864"/>
                </a:solidFill>
              </a:rPr>
              <a:t>Revenue Mix (FY2025)</a:t>
            </a:r>
          </a:p>
        </p:txBody>
      </p:sp>
      <p:sp>
        <p:nvSpPr>
          <p:cNvPr id="22" name="Rectangle 21"/>
          <p:cNvSpPr/>
          <p:nvPr/>
        </p:nvSpPr>
        <p:spPr>
          <a:xfrm>
            <a:off x="4846320" y="1005840"/>
            <a:ext cx="1097280" cy="16459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1188720"/>
            <a:ext cx="1097280" cy="457200"/>
          </a:xfrm>
          <a:prstGeom prst="rect">
            <a:avLst/>
          </a:prstGeom>
          <a:noFill/>
        </p:spPr>
        <p:txBody>
          <a:bodyPr wrap="square">
            <a:spAutoFit/>
          </a:bodyPr>
          <a:lstStyle/>
          <a:p>
            <a:pPr algn="ctr"/>
            <a:r>
              <a:rPr sz="2000" b="1" i="0">
                <a:solidFill>
                  <a:srgbClr val="FFFFFF"/>
                </a:solidFill>
              </a:rPr>
              <a:t>54%</a:t>
            </a:r>
          </a:p>
        </p:txBody>
      </p:sp>
      <p:sp>
        <p:nvSpPr>
          <p:cNvPr id="24" name="TextBox 23"/>
          <p:cNvSpPr txBox="1"/>
          <p:nvPr/>
        </p:nvSpPr>
        <p:spPr>
          <a:xfrm>
            <a:off x="4846320" y="1691640"/>
            <a:ext cx="1097280" cy="274320"/>
          </a:xfrm>
          <a:prstGeom prst="rect">
            <a:avLst/>
          </a:prstGeom>
          <a:noFill/>
        </p:spPr>
        <p:txBody>
          <a:bodyPr wrap="square">
            <a:spAutoFit/>
          </a:bodyPr>
          <a:lstStyle/>
          <a:p>
            <a:pPr algn="ctr"/>
            <a:r>
              <a:rPr sz="1000" b="1" i="0">
                <a:solidFill>
                  <a:srgbClr val="FFFFFF"/>
                </a:solidFill>
              </a:rPr>
              <a:t>BOCA</a:t>
            </a:r>
          </a:p>
        </p:txBody>
      </p:sp>
      <p:sp>
        <p:nvSpPr>
          <p:cNvPr id="25" name="TextBox 24"/>
          <p:cNvSpPr txBox="1"/>
          <p:nvPr/>
        </p:nvSpPr>
        <p:spPr>
          <a:xfrm>
            <a:off x="4846320" y="1965960"/>
            <a:ext cx="1097280" cy="365760"/>
          </a:xfrm>
          <a:prstGeom prst="rect">
            <a:avLst/>
          </a:prstGeom>
          <a:noFill/>
        </p:spPr>
        <p:txBody>
          <a:bodyPr wrap="square">
            <a:spAutoFit/>
          </a:bodyPr>
          <a:lstStyle/>
          <a:p>
            <a:pPr algn="ctr"/>
            <a:r>
              <a:rPr sz="800" b="0" i="0">
                <a:solidFill>
                  <a:srgbClr val="FFFFFF"/>
                </a:solidFill>
              </a:rPr>
              <a:t>Pan-Arab free-to-air TV</a:t>
            </a:r>
          </a:p>
        </p:txBody>
      </p:sp>
      <p:sp>
        <p:nvSpPr>
          <p:cNvPr id="26" name="Rectangle 25"/>
          <p:cNvSpPr/>
          <p:nvPr/>
        </p:nvSpPr>
        <p:spPr>
          <a:xfrm>
            <a:off x="6217920" y="1005840"/>
            <a:ext cx="1097280" cy="1645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1188720"/>
            <a:ext cx="1097280" cy="457200"/>
          </a:xfrm>
          <a:prstGeom prst="rect">
            <a:avLst/>
          </a:prstGeom>
          <a:noFill/>
        </p:spPr>
        <p:txBody>
          <a:bodyPr wrap="square">
            <a:spAutoFit/>
          </a:bodyPr>
          <a:lstStyle/>
          <a:p>
            <a:pPr algn="ctr"/>
            <a:r>
              <a:rPr sz="2000" b="1" i="0">
                <a:solidFill>
                  <a:srgbClr val="FFFFFF"/>
                </a:solidFill>
              </a:rPr>
              <a:t>23%</a:t>
            </a:r>
          </a:p>
        </p:txBody>
      </p:sp>
      <p:sp>
        <p:nvSpPr>
          <p:cNvPr id="28" name="TextBox 27"/>
          <p:cNvSpPr txBox="1"/>
          <p:nvPr/>
        </p:nvSpPr>
        <p:spPr>
          <a:xfrm>
            <a:off x="6217920" y="1691640"/>
            <a:ext cx="1097280" cy="274320"/>
          </a:xfrm>
          <a:prstGeom prst="rect">
            <a:avLst/>
          </a:prstGeom>
          <a:noFill/>
        </p:spPr>
        <p:txBody>
          <a:bodyPr wrap="square">
            <a:spAutoFit/>
          </a:bodyPr>
          <a:lstStyle/>
          <a:p>
            <a:pPr algn="ctr"/>
            <a:r>
              <a:rPr sz="1000" b="1" i="0">
                <a:solidFill>
                  <a:srgbClr val="FFFFFF"/>
                </a:solidFill>
              </a:rPr>
              <a:t>Shahid</a:t>
            </a:r>
          </a:p>
        </p:txBody>
      </p:sp>
      <p:sp>
        <p:nvSpPr>
          <p:cNvPr id="29" name="TextBox 28"/>
          <p:cNvSpPr txBox="1"/>
          <p:nvPr/>
        </p:nvSpPr>
        <p:spPr>
          <a:xfrm>
            <a:off x="6217920" y="1965960"/>
            <a:ext cx="1097280" cy="365760"/>
          </a:xfrm>
          <a:prstGeom prst="rect">
            <a:avLst/>
          </a:prstGeom>
          <a:noFill/>
        </p:spPr>
        <p:txBody>
          <a:bodyPr wrap="square">
            <a:spAutoFit/>
          </a:bodyPr>
          <a:lstStyle/>
          <a:p>
            <a:pPr algn="ctr"/>
            <a:r>
              <a:rPr sz="800" b="0" i="0">
                <a:solidFill>
                  <a:srgbClr val="FFFFFF"/>
                </a:solidFill>
              </a:rPr>
              <a:t>OTT streaming</a:t>
            </a:r>
          </a:p>
        </p:txBody>
      </p:sp>
      <p:sp>
        <p:nvSpPr>
          <p:cNvPr id="30" name="Rectangle 29"/>
          <p:cNvSpPr/>
          <p:nvPr/>
        </p:nvSpPr>
        <p:spPr>
          <a:xfrm>
            <a:off x="7589520" y="1005840"/>
            <a:ext cx="1097280" cy="164592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0" y="1188720"/>
            <a:ext cx="1097280" cy="457200"/>
          </a:xfrm>
          <a:prstGeom prst="rect">
            <a:avLst/>
          </a:prstGeom>
          <a:noFill/>
        </p:spPr>
        <p:txBody>
          <a:bodyPr wrap="square">
            <a:spAutoFit/>
          </a:bodyPr>
          <a:lstStyle/>
          <a:p>
            <a:pPr algn="ctr"/>
            <a:r>
              <a:rPr sz="2000" b="1" i="0">
                <a:solidFill>
                  <a:srgbClr val="FFFFFF"/>
                </a:solidFill>
              </a:rPr>
              <a:t>23%</a:t>
            </a:r>
          </a:p>
        </p:txBody>
      </p:sp>
      <p:sp>
        <p:nvSpPr>
          <p:cNvPr id="32" name="TextBox 31"/>
          <p:cNvSpPr txBox="1"/>
          <p:nvPr/>
        </p:nvSpPr>
        <p:spPr>
          <a:xfrm>
            <a:off x="7589520" y="1691640"/>
            <a:ext cx="1097280" cy="274320"/>
          </a:xfrm>
          <a:prstGeom prst="rect">
            <a:avLst/>
          </a:prstGeom>
          <a:noFill/>
        </p:spPr>
        <p:txBody>
          <a:bodyPr wrap="square">
            <a:spAutoFit/>
          </a:bodyPr>
          <a:lstStyle/>
          <a:p>
            <a:pPr algn="ctr"/>
            <a:r>
              <a:rPr sz="1000" b="1" i="0">
                <a:solidFill>
                  <a:srgbClr val="FFFFFF"/>
                </a:solidFill>
              </a:rPr>
              <a:t>M&amp;E</a:t>
            </a:r>
          </a:p>
        </p:txBody>
      </p:sp>
      <p:sp>
        <p:nvSpPr>
          <p:cNvPr id="33" name="TextBox 32"/>
          <p:cNvSpPr txBox="1"/>
          <p:nvPr/>
        </p:nvSpPr>
        <p:spPr>
          <a:xfrm>
            <a:off x="7589520" y="1965960"/>
            <a:ext cx="1097280" cy="365760"/>
          </a:xfrm>
          <a:prstGeom prst="rect">
            <a:avLst/>
          </a:prstGeom>
          <a:noFill/>
        </p:spPr>
        <p:txBody>
          <a:bodyPr wrap="square">
            <a:spAutoFit/>
          </a:bodyPr>
          <a:lstStyle/>
          <a:p>
            <a:pPr algn="ctr"/>
            <a:r>
              <a:rPr sz="800" b="0" i="0">
                <a:solidFill>
                  <a:srgbClr val="FFFFFF"/>
                </a:solidFill>
              </a:rPr>
              <a:t>Production, events</a:t>
            </a:r>
          </a:p>
        </p:txBody>
      </p:sp>
      <p:sp>
        <p:nvSpPr>
          <p:cNvPr id="34" name="TextBox 33"/>
          <p:cNvSpPr txBox="1"/>
          <p:nvPr/>
        </p:nvSpPr>
        <p:spPr>
          <a:xfrm>
            <a:off x="274320" y="3383280"/>
            <a:ext cx="8595360" cy="320040"/>
          </a:xfrm>
          <a:prstGeom prst="rect">
            <a:avLst/>
          </a:prstGeom>
          <a:noFill/>
        </p:spPr>
        <p:txBody>
          <a:bodyPr wrap="square">
            <a:spAutoFit/>
          </a:bodyPr>
          <a:lstStyle/>
          <a:p>
            <a:pPr algn="l"/>
            <a:r>
              <a:rPr sz="1300" b="1" i="0">
                <a:solidFill>
                  <a:srgbClr val="404040"/>
                </a:solidFill>
              </a:rPr>
              <a:t>Historical Financials (SAR millions)</a:t>
            </a:r>
          </a:p>
        </p:txBody>
      </p:sp>
      <p:sp>
        <p:nvSpPr>
          <p:cNvPr id="35" name="Rectangle 34"/>
          <p:cNvSpPr/>
          <p:nvPr/>
        </p:nvSpPr>
        <p:spPr>
          <a:xfrm>
            <a:off x="274320" y="3749039"/>
            <a:ext cx="192024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3767328"/>
            <a:ext cx="1920240" cy="219456"/>
          </a:xfrm>
          <a:prstGeom prst="rect">
            <a:avLst/>
          </a:prstGeom>
          <a:noFill/>
        </p:spPr>
        <p:txBody>
          <a:bodyPr wrap="square">
            <a:spAutoFit/>
          </a:bodyPr>
          <a:lstStyle/>
          <a:p>
            <a:pPr algn="ctr"/>
            <a:r>
              <a:rPr sz="900" b="1" i="0">
                <a:solidFill>
                  <a:srgbClr val="FFFFFF"/>
                </a:solidFill>
              </a:rPr>
              <a:t/>
            </a:r>
          </a:p>
        </p:txBody>
      </p:sp>
      <p:sp>
        <p:nvSpPr>
          <p:cNvPr id="37" name="Rectangle 36"/>
          <p:cNvSpPr/>
          <p:nvPr/>
        </p:nvSpPr>
        <p:spPr>
          <a:xfrm>
            <a:off x="2286000" y="3749039"/>
            <a:ext cx="109728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31720" y="3767328"/>
            <a:ext cx="1097280" cy="219456"/>
          </a:xfrm>
          <a:prstGeom prst="rect">
            <a:avLst/>
          </a:prstGeom>
          <a:noFill/>
        </p:spPr>
        <p:txBody>
          <a:bodyPr wrap="square">
            <a:spAutoFit/>
          </a:bodyPr>
          <a:lstStyle/>
          <a:p>
            <a:pPr algn="ctr"/>
            <a:r>
              <a:rPr sz="900" b="1" i="0">
                <a:solidFill>
                  <a:srgbClr val="FFFFFF"/>
                </a:solidFill>
              </a:rPr>
              <a:t>FY2023</a:t>
            </a:r>
          </a:p>
        </p:txBody>
      </p:sp>
      <p:sp>
        <p:nvSpPr>
          <p:cNvPr id="39" name="Rectangle 38"/>
          <p:cNvSpPr/>
          <p:nvPr/>
        </p:nvSpPr>
        <p:spPr>
          <a:xfrm>
            <a:off x="3474720" y="3749039"/>
            <a:ext cx="109728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20440" y="3767328"/>
            <a:ext cx="1097280" cy="219456"/>
          </a:xfrm>
          <a:prstGeom prst="rect">
            <a:avLst/>
          </a:prstGeom>
          <a:noFill/>
        </p:spPr>
        <p:txBody>
          <a:bodyPr wrap="square">
            <a:spAutoFit/>
          </a:bodyPr>
          <a:lstStyle/>
          <a:p>
            <a:pPr algn="ctr"/>
            <a:r>
              <a:rPr sz="900" b="1" i="0">
                <a:solidFill>
                  <a:srgbClr val="FFFFFF"/>
                </a:solidFill>
              </a:rPr>
              <a:t>FY2024</a:t>
            </a:r>
          </a:p>
        </p:txBody>
      </p:sp>
      <p:sp>
        <p:nvSpPr>
          <p:cNvPr id="41" name="Rectangle 40"/>
          <p:cNvSpPr/>
          <p:nvPr/>
        </p:nvSpPr>
        <p:spPr>
          <a:xfrm>
            <a:off x="4663440" y="3749039"/>
            <a:ext cx="109728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9160" y="3767328"/>
            <a:ext cx="1097280" cy="219456"/>
          </a:xfrm>
          <a:prstGeom prst="rect">
            <a:avLst/>
          </a:prstGeom>
          <a:noFill/>
        </p:spPr>
        <p:txBody>
          <a:bodyPr wrap="square">
            <a:spAutoFit/>
          </a:bodyPr>
          <a:lstStyle/>
          <a:p>
            <a:pPr algn="ctr"/>
            <a:r>
              <a:rPr sz="900" b="1" i="0">
                <a:solidFill>
                  <a:srgbClr val="FFFFFF"/>
                </a:solidFill>
              </a:rPr>
              <a:t>FY2025</a:t>
            </a:r>
          </a:p>
        </p:txBody>
      </p:sp>
      <p:sp>
        <p:nvSpPr>
          <p:cNvPr id="43" name="Rectangle 42"/>
          <p:cNvSpPr/>
          <p:nvPr/>
        </p:nvSpPr>
        <p:spPr>
          <a:xfrm>
            <a:off x="5852160" y="3749039"/>
            <a:ext cx="109728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97880" y="3767328"/>
            <a:ext cx="1097280" cy="219456"/>
          </a:xfrm>
          <a:prstGeom prst="rect">
            <a:avLst/>
          </a:prstGeom>
          <a:noFill/>
        </p:spPr>
        <p:txBody>
          <a:bodyPr wrap="square">
            <a:spAutoFit/>
          </a:bodyPr>
          <a:lstStyle/>
          <a:p>
            <a:pPr algn="ctr"/>
            <a:r>
              <a:rPr sz="900" b="1" i="0">
                <a:solidFill>
                  <a:srgbClr val="FFFFFF"/>
                </a:solidFill>
              </a:rPr>
              <a:t>FY2026E</a:t>
            </a:r>
          </a:p>
        </p:txBody>
      </p:sp>
      <p:sp>
        <p:nvSpPr>
          <p:cNvPr id="45" name="Rectangle 44"/>
          <p:cNvSpPr/>
          <p:nvPr/>
        </p:nvSpPr>
        <p:spPr>
          <a:xfrm>
            <a:off x="7040880" y="3749039"/>
            <a:ext cx="109728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86600" y="3767328"/>
            <a:ext cx="1097280" cy="219456"/>
          </a:xfrm>
          <a:prstGeom prst="rect">
            <a:avLst/>
          </a:prstGeom>
          <a:noFill/>
        </p:spPr>
        <p:txBody>
          <a:bodyPr wrap="square">
            <a:spAutoFit/>
          </a:bodyPr>
          <a:lstStyle/>
          <a:p>
            <a:pPr algn="ctr"/>
            <a:r>
              <a:rPr sz="900" b="1" i="0">
                <a:solidFill>
                  <a:srgbClr val="FFFFFF"/>
                </a:solidFill>
              </a:rPr>
              <a:t>FY2027E</a:t>
            </a:r>
          </a:p>
        </p:txBody>
      </p:sp>
      <p:sp>
        <p:nvSpPr>
          <p:cNvPr id="47" name="Rectangle 46"/>
          <p:cNvSpPr/>
          <p:nvPr/>
        </p:nvSpPr>
        <p:spPr>
          <a:xfrm>
            <a:off x="274320" y="4023360"/>
            <a:ext cx="19202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4041648"/>
            <a:ext cx="1920240" cy="219456"/>
          </a:xfrm>
          <a:prstGeom prst="rect">
            <a:avLst/>
          </a:prstGeom>
          <a:noFill/>
        </p:spPr>
        <p:txBody>
          <a:bodyPr wrap="square">
            <a:spAutoFit/>
          </a:bodyPr>
          <a:lstStyle/>
          <a:p>
            <a:pPr algn="l"/>
            <a:r>
              <a:rPr sz="900" b="1" i="0">
                <a:solidFill>
                  <a:srgbClr val="404040"/>
                </a:solidFill>
              </a:rPr>
              <a:t>Revenue</a:t>
            </a:r>
          </a:p>
        </p:txBody>
      </p:sp>
      <p:sp>
        <p:nvSpPr>
          <p:cNvPr id="49" name="Rectangle 48"/>
          <p:cNvSpPr/>
          <p:nvPr/>
        </p:nvSpPr>
        <p:spPr>
          <a:xfrm>
            <a:off x="2286000" y="402336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331720" y="4041648"/>
            <a:ext cx="1097280" cy="219456"/>
          </a:xfrm>
          <a:prstGeom prst="rect">
            <a:avLst/>
          </a:prstGeom>
          <a:noFill/>
        </p:spPr>
        <p:txBody>
          <a:bodyPr wrap="square">
            <a:spAutoFit/>
          </a:bodyPr>
          <a:lstStyle/>
          <a:p>
            <a:pPr algn="r"/>
            <a:r>
              <a:rPr sz="900" b="0" i="0">
                <a:solidFill>
                  <a:srgbClr val="404040"/>
                </a:solidFill>
              </a:rPr>
              <a:t>2,559</a:t>
            </a:r>
          </a:p>
        </p:txBody>
      </p:sp>
      <p:sp>
        <p:nvSpPr>
          <p:cNvPr id="51" name="Rectangle 50"/>
          <p:cNvSpPr/>
          <p:nvPr/>
        </p:nvSpPr>
        <p:spPr>
          <a:xfrm>
            <a:off x="3474720" y="402336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20440" y="4041648"/>
            <a:ext cx="1097280" cy="219456"/>
          </a:xfrm>
          <a:prstGeom prst="rect">
            <a:avLst/>
          </a:prstGeom>
          <a:noFill/>
        </p:spPr>
        <p:txBody>
          <a:bodyPr wrap="square">
            <a:spAutoFit/>
          </a:bodyPr>
          <a:lstStyle/>
          <a:p>
            <a:pPr algn="r"/>
            <a:r>
              <a:rPr sz="900" b="0" i="0">
                <a:solidFill>
                  <a:srgbClr val="404040"/>
                </a:solidFill>
              </a:rPr>
              <a:t>4,185</a:t>
            </a:r>
          </a:p>
        </p:txBody>
      </p:sp>
      <p:sp>
        <p:nvSpPr>
          <p:cNvPr id="53" name="Rectangle 52"/>
          <p:cNvSpPr/>
          <p:nvPr/>
        </p:nvSpPr>
        <p:spPr>
          <a:xfrm>
            <a:off x="4663440" y="402336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09160" y="4041648"/>
            <a:ext cx="1097280" cy="219456"/>
          </a:xfrm>
          <a:prstGeom prst="rect">
            <a:avLst/>
          </a:prstGeom>
          <a:noFill/>
        </p:spPr>
        <p:txBody>
          <a:bodyPr wrap="square">
            <a:spAutoFit/>
          </a:bodyPr>
          <a:lstStyle/>
          <a:p>
            <a:pPr algn="r"/>
            <a:r>
              <a:rPr sz="900" b="0" i="0">
                <a:solidFill>
                  <a:srgbClr val="404040"/>
                </a:solidFill>
              </a:rPr>
              <a:t>5,379</a:t>
            </a:r>
          </a:p>
        </p:txBody>
      </p:sp>
      <p:sp>
        <p:nvSpPr>
          <p:cNvPr id="55" name="Rectangle 54"/>
          <p:cNvSpPr/>
          <p:nvPr/>
        </p:nvSpPr>
        <p:spPr>
          <a:xfrm>
            <a:off x="5852160" y="402336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897880" y="4041648"/>
            <a:ext cx="1097280" cy="219456"/>
          </a:xfrm>
          <a:prstGeom prst="rect">
            <a:avLst/>
          </a:prstGeom>
          <a:noFill/>
        </p:spPr>
        <p:txBody>
          <a:bodyPr wrap="square">
            <a:spAutoFit/>
          </a:bodyPr>
          <a:lstStyle/>
          <a:p>
            <a:pPr algn="r"/>
            <a:r>
              <a:rPr sz="900" b="0" i="0">
                <a:solidFill>
                  <a:srgbClr val="404040"/>
                </a:solidFill>
              </a:rPr>
              <a:t>5,516</a:t>
            </a:r>
          </a:p>
        </p:txBody>
      </p:sp>
      <p:sp>
        <p:nvSpPr>
          <p:cNvPr id="57" name="Rectangle 56"/>
          <p:cNvSpPr/>
          <p:nvPr/>
        </p:nvSpPr>
        <p:spPr>
          <a:xfrm>
            <a:off x="7040880" y="402336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86600" y="4041648"/>
            <a:ext cx="1097280" cy="219456"/>
          </a:xfrm>
          <a:prstGeom prst="rect">
            <a:avLst/>
          </a:prstGeom>
          <a:noFill/>
        </p:spPr>
        <p:txBody>
          <a:bodyPr wrap="square">
            <a:spAutoFit/>
          </a:bodyPr>
          <a:lstStyle/>
          <a:p>
            <a:pPr algn="r"/>
            <a:r>
              <a:rPr sz="900" b="0" i="0">
                <a:solidFill>
                  <a:srgbClr val="404040"/>
                </a:solidFill>
              </a:rPr>
              <a:t>6,088</a:t>
            </a:r>
          </a:p>
        </p:txBody>
      </p:sp>
      <p:sp>
        <p:nvSpPr>
          <p:cNvPr id="59" name="Rectangle 58"/>
          <p:cNvSpPr/>
          <p:nvPr/>
        </p:nvSpPr>
        <p:spPr>
          <a:xfrm>
            <a:off x="274320" y="4297680"/>
            <a:ext cx="1920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0040" y="4315968"/>
            <a:ext cx="1920240" cy="219456"/>
          </a:xfrm>
          <a:prstGeom prst="rect">
            <a:avLst/>
          </a:prstGeom>
          <a:noFill/>
        </p:spPr>
        <p:txBody>
          <a:bodyPr wrap="square">
            <a:spAutoFit/>
          </a:bodyPr>
          <a:lstStyle/>
          <a:p>
            <a:pPr algn="l"/>
            <a:r>
              <a:rPr sz="900" b="1" i="0">
                <a:solidFill>
                  <a:srgbClr val="404040"/>
                </a:solidFill>
              </a:rPr>
              <a:t>Revenue growth</a:t>
            </a:r>
          </a:p>
        </p:txBody>
      </p:sp>
      <p:sp>
        <p:nvSpPr>
          <p:cNvPr id="61" name="Rectangle 60"/>
          <p:cNvSpPr/>
          <p:nvPr/>
        </p:nvSpPr>
        <p:spPr>
          <a:xfrm>
            <a:off x="2286000" y="429768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31720" y="4315968"/>
            <a:ext cx="1097280" cy="219456"/>
          </a:xfrm>
          <a:prstGeom prst="rect">
            <a:avLst/>
          </a:prstGeom>
          <a:noFill/>
        </p:spPr>
        <p:txBody>
          <a:bodyPr wrap="square">
            <a:spAutoFit/>
          </a:bodyPr>
          <a:lstStyle/>
          <a:p>
            <a:pPr algn="r"/>
            <a:r>
              <a:rPr sz="900" b="0" i="0">
                <a:solidFill>
                  <a:srgbClr val="404040"/>
                </a:solidFill>
              </a:rPr>
              <a:t>—</a:t>
            </a:r>
          </a:p>
        </p:txBody>
      </p:sp>
      <p:sp>
        <p:nvSpPr>
          <p:cNvPr id="63" name="Rectangle 62"/>
          <p:cNvSpPr/>
          <p:nvPr/>
        </p:nvSpPr>
        <p:spPr>
          <a:xfrm>
            <a:off x="3474720" y="429768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520440" y="4315968"/>
            <a:ext cx="1097280" cy="219456"/>
          </a:xfrm>
          <a:prstGeom prst="rect">
            <a:avLst/>
          </a:prstGeom>
          <a:noFill/>
        </p:spPr>
        <p:txBody>
          <a:bodyPr wrap="square">
            <a:spAutoFit/>
          </a:bodyPr>
          <a:lstStyle/>
          <a:p>
            <a:pPr algn="r"/>
            <a:r>
              <a:rPr sz="900" b="0" i="0">
                <a:solidFill>
                  <a:srgbClr val="404040"/>
                </a:solidFill>
              </a:rPr>
              <a:t>+63.5%</a:t>
            </a:r>
          </a:p>
        </p:txBody>
      </p:sp>
      <p:sp>
        <p:nvSpPr>
          <p:cNvPr id="65" name="Rectangle 64"/>
          <p:cNvSpPr/>
          <p:nvPr/>
        </p:nvSpPr>
        <p:spPr>
          <a:xfrm>
            <a:off x="4663440" y="429768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709160" y="4315968"/>
            <a:ext cx="1097280" cy="219456"/>
          </a:xfrm>
          <a:prstGeom prst="rect">
            <a:avLst/>
          </a:prstGeom>
          <a:noFill/>
        </p:spPr>
        <p:txBody>
          <a:bodyPr wrap="square">
            <a:spAutoFit/>
          </a:bodyPr>
          <a:lstStyle/>
          <a:p>
            <a:pPr algn="r"/>
            <a:r>
              <a:rPr sz="900" b="0" i="0">
                <a:solidFill>
                  <a:srgbClr val="404040"/>
                </a:solidFill>
              </a:rPr>
              <a:t>+28.5%</a:t>
            </a:r>
          </a:p>
        </p:txBody>
      </p:sp>
      <p:sp>
        <p:nvSpPr>
          <p:cNvPr id="67" name="Rectangle 66"/>
          <p:cNvSpPr/>
          <p:nvPr/>
        </p:nvSpPr>
        <p:spPr>
          <a:xfrm>
            <a:off x="5852160" y="429768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897880" y="4315968"/>
            <a:ext cx="1097280" cy="219456"/>
          </a:xfrm>
          <a:prstGeom prst="rect">
            <a:avLst/>
          </a:prstGeom>
          <a:noFill/>
        </p:spPr>
        <p:txBody>
          <a:bodyPr wrap="square">
            <a:spAutoFit/>
          </a:bodyPr>
          <a:lstStyle/>
          <a:p>
            <a:pPr algn="r"/>
            <a:r>
              <a:rPr sz="900" b="0" i="0">
                <a:solidFill>
                  <a:srgbClr val="404040"/>
                </a:solidFill>
              </a:rPr>
              <a:t>+2.3%</a:t>
            </a:r>
          </a:p>
        </p:txBody>
      </p:sp>
      <p:sp>
        <p:nvSpPr>
          <p:cNvPr id="69" name="Rectangle 68"/>
          <p:cNvSpPr/>
          <p:nvPr/>
        </p:nvSpPr>
        <p:spPr>
          <a:xfrm>
            <a:off x="7040880" y="429768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086600" y="4315968"/>
            <a:ext cx="1097280" cy="219456"/>
          </a:xfrm>
          <a:prstGeom prst="rect">
            <a:avLst/>
          </a:prstGeom>
          <a:noFill/>
        </p:spPr>
        <p:txBody>
          <a:bodyPr wrap="square">
            <a:spAutoFit/>
          </a:bodyPr>
          <a:lstStyle/>
          <a:p>
            <a:pPr algn="r"/>
            <a:r>
              <a:rPr sz="900" b="0" i="0">
                <a:solidFill>
                  <a:srgbClr val="404040"/>
                </a:solidFill>
              </a:rPr>
              <a:t>+10.4%</a:t>
            </a:r>
          </a:p>
        </p:txBody>
      </p:sp>
      <p:sp>
        <p:nvSpPr>
          <p:cNvPr id="71" name="Rectangle 70"/>
          <p:cNvSpPr/>
          <p:nvPr/>
        </p:nvSpPr>
        <p:spPr>
          <a:xfrm>
            <a:off x="274320" y="4572000"/>
            <a:ext cx="19202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0040" y="4590288"/>
            <a:ext cx="1920240" cy="219456"/>
          </a:xfrm>
          <a:prstGeom prst="rect">
            <a:avLst/>
          </a:prstGeom>
          <a:noFill/>
        </p:spPr>
        <p:txBody>
          <a:bodyPr wrap="square">
            <a:spAutoFit/>
          </a:bodyPr>
          <a:lstStyle/>
          <a:p>
            <a:pPr algn="l"/>
            <a:r>
              <a:rPr sz="900" b="1" i="0">
                <a:solidFill>
                  <a:srgbClr val="404040"/>
                </a:solidFill>
              </a:rPr>
              <a:t>EBITDA</a:t>
            </a:r>
          </a:p>
        </p:txBody>
      </p:sp>
      <p:sp>
        <p:nvSpPr>
          <p:cNvPr id="73" name="Rectangle 72"/>
          <p:cNvSpPr/>
          <p:nvPr/>
        </p:nvSpPr>
        <p:spPr>
          <a:xfrm>
            <a:off x="2286000" y="457200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331720" y="4590288"/>
            <a:ext cx="1097280" cy="219456"/>
          </a:xfrm>
          <a:prstGeom prst="rect">
            <a:avLst/>
          </a:prstGeom>
          <a:noFill/>
        </p:spPr>
        <p:txBody>
          <a:bodyPr wrap="square">
            <a:spAutoFit/>
          </a:bodyPr>
          <a:lstStyle/>
          <a:p>
            <a:pPr algn="r"/>
            <a:r>
              <a:rPr sz="900" b="0" i="0">
                <a:solidFill>
                  <a:srgbClr val="404040"/>
                </a:solidFill>
              </a:rPr>
              <a:t>(105)</a:t>
            </a:r>
          </a:p>
        </p:txBody>
      </p:sp>
      <p:sp>
        <p:nvSpPr>
          <p:cNvPr id="75" name="Rectangle 74"/>
          <p:cNvSpPr/>
          <p:nvPr/>
        </p:nvSpPr>
        <p:spPr>
          <a:xfrm>
            <a:off x="3474720" y="457200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520440" y="4590288"/>
            <a:ext cx="1097280" cy="219456"/>
          </a:xfrm>
          <a:prstGeom prst="rect">
            <a:avLst/>
          </a:prstGeom>
          <a:noFill/>
        </p:spPr>
        <p:txBody>
          <a:bodyPr wrap="square">
            <a:spAutoFit/>
          </a:bodyPr>
          <a:lstStyle/>
          <a:p>
            <a:pPr algn="r"/>
            <a:r>
              <a:rPr sz="900" b="0" i="0">
                <a:solidFill>
                  <a:srgbClr val="404040"/>
                </a:solidFill>
              </a:rPr>
              <a:t>217</a:t>
            </a:r>
          </a:p>
        </p:txBody>
      </p:sp>
      <p:sp>
        <p:nvSpPr>
          <p:cNvPr id="77" name="Rectangle 76"/>
          <p:cNvSpPr/>
          <p:nvPr/>
        </p:nvSpPr>
        <p:spPr>
          <a:xfrm>
            <a:off x="4663440" y="457200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709160" y="4590288"/>
            <a:ext cx="1097280" cy="219456"/>
          </a:xfrm>
          <a:prstGeom prst="rect">
            <a:avLst/>
          </a:prstGeom>
          <a:noFill/>
        </p:spPr>
        <p:txBody>
          <a:bodyPr wrap="square">
            <a:spAutoFit/>
          </a:bodyPr>
          <a:lstStyle/>
          <a:p>
            <a:pPr algn="r"/>
            <a:r>
              <a:rPr sz="900" b="0" i="0">
                <a:solidFill>
                  <a:srgbClr val="404040"/>
                </a:solidFill>
              </a:rPr>
              <a:t>267</a:t>
            </a:r>
          </a:p>
        </p:txBody>
      </p:sp>
      <p:sp>
        <p:nvSpPr>
          <p:cNvPr id="79" name="Rectangle 78"/>
          <p:cNvSpPr/>
          <p:nvPr/>
        </p:nvSpPr>
        <p:spPr>
          <a:xfrm>
            <a:off x="5852160" y="457200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897880" y="4590288"/>
            <a:ext cx="1097280" cy="219456"/>
          </a:xfrm>
          <a:prstGeom prst="rect">
            <a:avLst/>
          </a:prstGeom>
          <a:noFill/>
        </p:spPr>
        <p:txBody>
          <a:bodyPr wrap="square">
            <a:spAutoFit/>
          </a:bodyPr>
          <a:lstStyle/>
          <a:p>
            <a:pPr algn="r"/>
            <a:r>
              <a:rPr sz="900" b="0" i="0">
                <a:solidFill>
                  <a:srgbClr val="404040"/>
                </a:solidFill>
              </a:rPr>
              <a:t>693</a:t>
            </a:r>
          </a:p>
        </p:txBody>
      </p:sp>
      <p:sp>
        <p:nvSpPr>
          <p:cNvPr id="81" name="Rectangle 80"/>
          <p:cNvSpPr/>
          <p:nvPr/>
        </p:nvSpPr>
        <p:spPr>
          <a:xfrm>
            <a:off x="7040880" y="457200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086600" y="4590288"/>
            <a:ext cx="1097280" cy="219456"/>
          </a:xfrm>
          <a:prstGeom prst="rect">
            <a:avLst/>
          </a:prstGeom>
          <a:noFill/>
        </p:spPr>
        <p:txBody>
          <a:bodyPr wrap="square">
            <a:spAutoFit/>
          </a:bodyPr>
          <a:lstStyle/>
          <a:p>
            <a:pPr algn="r"/>
            <a:r>
              <a:rPr sz="900" b="0" i="0">
                <a:solidFill>
                  <a:srgbClr val="404040"/>
                </a:solidFill>
              </a:rPr>
              <a:t>934</a:t>
            </a:r>
          </a:p>
        </p:txBody>
      </p:sp>
      <p:sp>
        <p:nvSpPr>
          <p:cNvPr id="83" name="Rectangle 82"/>
          <p:cNvSpPr/>
          <p:nvPr/>
        </p:nvSpPr>
        <p:spPr>
          <a:xfrm>
            <a:off x="274320" y="4846320"/>
            <a:ext cx="1920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0040" y="4864608"/>
            <a:ext cx="1920240" cy="219456"/>
          </a:xfrm>
          <a:prstGeom prst="rect">
            <a:avLst/>
          </a:prstGeom>
          <a:noFill/>
        </p:spPr>
        <p:txBody>
          <a:bodyPr wrap="square">
            <a:spAutoFit/>
          </a:bodyPr>
          <a:lstStyle/>
          <a:p>
            <a:pPr algn="l"/>
            <a:r>
              <a:rPr sz="900" b="1" i="0">
                <a:solidFill>
                  <a:srgbClr val="404040"/>
                </a:solidFill>
              </a:rPr>
              <a:t>EBITDA margin</a:t>
            </a:r>
          </a:p>
        </p:txBody>
      </p:sp>
      <p:sp>
        <p:nvSpPr>
          <p:cNvPr id="85" name="Rectangle 84"/>
          <p:cNvSpPr/>
          <p:nvPr/>
        </p:nvSpPr>
        <p:spPr>
          <a:xfrm>
            <a:off x="2286000" y="484632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331720" y="4864608"/>
            <a:ext cx="1097280" cy="219456"/>
          </a:xfrm>
          <a:prstGeom prst="rect">
            <a:avLst/>
          </a:prstGeom>
          <a:noFill/>
        </p:spPr>
        <p:txBody>
          <a:bodyPr wrap="square">
            <a:spAutoFit/>
          </a:bodyPr>
          <a:lstStyle/>
          <a:p>
            <a:pPr algn="r"/>
            <a:r>
              <a:rPr sz="900" b="0" i="0">
                <a:solidFill>
                  <a:srgbClr val="404040"/>
                </a:solidFill>
              </a:rPr>
              <a:t>(4.1%)</a:t>
            </a:r>
          </a:p>
        </p:txBody>
      </p:sp>
      <p:sp>
        <p:nvSpPr>
          <p:cNvPr id="87" name="Rectangle 86"/>
          <p:cNvSpPr/>
          <p:nvPr/>
        </p:nvSpPr>
        <p:spPr>
          <a:xfrm>
            <a:off x="3474720" y="484632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520440" y="4864608"/>
            <a:ext cx="1097280" cy="219456"/>
          </a:xfrm>
          <a:prstGeom prst="rect">
            <a:avLst/>
          </a:prstGeom>
          <a:noFill/>
        </p:spPr>
        <p:txBody>
          <a:bodyPr wrap="square">
            <a:spAutoFit/>
          </a:bodyPr>
          <a:lstStyle/>
          <a:p>
            <a:pPr algn="r"/>
            <a:r>
              <a:rPr sz="900" b="0" i="0">
                <a:solidFill>
                  <a:srgbClr val="404040"/>
                </a:solidFill>
              </a:rPr>
              <a:t>5.2%</a:t>
            </a:r>
          </a:p>
        </p:txBody>
      </p:sp>
      <p:sp>
        <p:nvSpPr>
          <p:cNvPr id="89" name="Rectangle 88"/>
          <p:cNvSpPr/>
          <p:nvPr/>
        </p:nvSpPr>
        <p:spPr>
          <a:xfrm>
            <a:off x="4663440" y="484632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709160" y="4864608"/>
            <a:ext cx="1097280" cy="219456"/>
          </a:xfrm>
          <a:prstGeom prst="rect">
            <a:avLst/>
          </a:prstGeom>
          <a:noFill/>
        </p:spPr>
        <p:txBody>
          <a:bodyPr wrap="square">
            <a:spAutoFit/>
          </a:bodyPr>
          <a:lstStyle/>
          <a:p>
            <a:pPr algn="r"/>
            <a:r>
              <a:rPr sz="900" b="0" i="0">
                <a:solidFill>
                  <a:srgbClr val="404040"/>
                </a:solidFill>
              </a:rPr>
              <a:t>5.0%</a:t>
            </a:r>
          </a:p>
        </p:txBody>
      </p:sp>
      <p:sp>
        <p:nvSpPr>
          <p:cNvPr id="91" name="Rectangle 90"/>
          <p:cNvSpPr/>
          <p:nvPr/>
        </p:nvSpPr>
        <p:spPr>
          <a:xfrm>
            <a:off x="5852160" y="484632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97880" y="4864608"/>
            <a:ext cx="1097280" cy="219456"/>
          </a:xfrm>
          <a:prstGeom prst="rect">
            <a:avLst/>
          </a:prstGeom>
          <a:noFill/>
        </p:spPr>
        <p:txBody>
          <a:bodyPr wrap="square">
            <a:spAutoFit/>
          </a:bodyPr>
          <a:lstStyle/>
          <a:p>
            <a:pPr algn="r"/>
            <a:r>
              <a:rPr sz="900" b="0" i="0">
                <a:solidFill>
                  <a:srgbClr val="404040"/>
                </a:solidFill>
              </a:rPr>
              <a:t>12.6%</a:t>
            </a:r>
          </a:p>
        </p:txBody>
      </p:sp>
      <p:sp>
        <p:nvSpPr>
          <p:cNvPr id="93" name="Rectangle 92"/>
          <p:cNvSpPr/>
          <p:nvPr/>
        </p:nvSpPr>
        <p:spPr>
          <a:xfrm>
            <a:off x="7040880" y="4846320"/>
            <a:ext cx="109728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086600" y="4864608"/>
            <a:ext cx="1097280" cy="219456"/>
          </a:xfrm>
          <a:prstGeom prst="rect">
            <a:avLst/>
          </a:prstGeom>
          <a:noFill/>
        </p:spPr>
        <p:txBody>
          <a:bodyPr wrap="square">
            <a:spAutoFit/>
          </a:bodyPr>
          <a:lstStyle/>
          <a:p>
            <a:pPr algn="r"/>
            <a:r>
              <a:rPr sz="900" b="0" i="0">
                <a:solidFill>
                  <a:srgbClr val="404040"/>
                </a:solidFill>
              </a:rPr>
              <a:t>15.3%</a:t>
            </a:r>
          </a:p>
        </p:txBody>
      </p:sp>
      <p:sp>
        <p:nvSpPr>
          <p:cNvPr id="95" name="Rectangle 94"/>
          <p:cNvSpPr/>
          <p:nvPr/>
        </p:nvSpPr>
        <p:spPr>
          <a:xfrm>
            <a:off x="274320" y="5120640"/>
            <a:ext cx="192024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20040" y="5138928"/>
            <a:ext cx="1920240" cy="219456"/>
          </a:xfrm>
          <a:prstGeom prst="rect">
            <a:avLst/>
          </a:prstGeom>
          <a:noFill/>
        </p:spPr>
        <p:txBody>
          <a:bodyPr wrap="square">
            <a:spAutoFit/>
          </a:bodyPr>
          <a:lstStyle/>
          <a:p>
            <a:pPr algn="l"/>
            <a:r>
              <a:rPr sz="900" b="1" i="0">
                <a:solidFill>
                  <a:srgbClr val="404040"/>
                </a:solidFill>
              </a:rPr>
              <a:t>CapEx</a:t>
            </a:r>
          </a:p>
        </p:txBody>
      </p:sp>
      <p:sp>
        <p:nvSpPr>
          <p:cNvPr id="97" name="Rectangle 96"/>
          <p:cNvSpPr/>
          <p:nvPr/>
        </p:nvSpPr>
        <p:spPr>
          <a:xfrm>
            <a:off x="2286000" y="512064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331720" y="5138928"/>
            <a:ext cx="1097280" cy="219456"/>
          </a:xfrm>
          <a:prstGeom prst="rect">
            <a:avLst/>
          </a:prstGeom>
          <a:noFill/>
        </p:spPr>
        <p:txBody>
          <a:bodyPr wrap="square">
            <a:spAutoFit/>
          </a:bodyPr>
          <a:lstStyle/>
          <a:p>
            <a:pPr algn="r"/>
            <a:r>
              <a:rPr sz="900" b="0" i="0">
                <a:solidFill>
                  <a:srgbClr val="404040"/>
                </a:solidFill>
              </a:rPr>
              <a:t>60</a:t>
            </a:r>
          </a:p>
        </p:txBody>
      </p:sp>
      <p:sp>
        <p:nvSpPr>
          <p:cNvPr id="99" name="Rectangle 98"/>
          <p:cNvSpPr/>
          <p:nvPr/>
        </p:nvSpPr>
        <p:spPr>
          <a:xfrm>
            <a:off x="3474720" y="512064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520440" y="5138928"/>
            <a:ext cx="1097280" cy="219456"/>
          </a:xfrm>
          <a:prstGeom prst="rect">
            <a:avLst/>
          </a:prstGeom>
          <a:noFill/>
        </p:spPr>
        <p:txBody>
          <a:bodyPr wrap="square">
            <a:spAutoFit/>
          </a:bodyPr>
          <a:lstStyle/>
          <a:p>
            <a:pPr algn="r"/>
            <a:r>
              <a:rPr sz="900" b="0" i="0">
                <a:solidFill>
                  <a:srgbClr val="404040"/>
                </a:solidFill>
              </a:rPr>
              <a:t>198</a:t>
            </a:r>
          </a:p>
        </p:txBody>
      </p:sp>
      <p:sp>
        <p:nvSpPr>
          <p:cNvPr id="101" name="Rectangle 100"/>
          <p:cNvSpPr/>
          <p:nvPr/>
        </p:nvSpPr>
        <p:spPr>
          <a:xfrm>
            <a:off x="4663440" y="512064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709160" y="5138928"/>
            <a:ext cx="1097280" cy="219456"/>
          </a:xfrm>
          <a:prstGeom prst="rect">
            <a:avLst/>
          </a:prstGeom>
          <a:noFill/>
        </p:spPr>
        <p:txBody>
          <a:bodyPr wrap="square">
            <a:spAutoFit/>
          </a:bodyPr>
          <a:lstStyle/>
          <a:p>
            <a:pPr algn="r"/>
            <a:r>
              <a:rPr sz="900" b="0" i="0">
                <a:solidFill>
                  <a:srgbClr val="404040"/>
                </a:solidFill>
              </a:rPr>
              <a:t>221</a:t>
            </a:r>
          </a:p>
        </p:txBody>
      </p:sp>
      <p:sp>
        <p:nvSpPr>
          <p:cNvPr id="103" name="Rectangle 102"/>
          <p:cNvSpPr/>
          <p:nvPr/>
        </p:nvSpPr>
        <p:spPr>
          <a:xfrm>
            <a:off x="5852160" y="512064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897880" y="5138928"/>
            <a:ext cx="1097280" cy="219456"/>
          </a:xfrm>
          <a:prstGeom prst="rect">
            <a:avLst/>
          </a:prstGeom>
          <a:noFill/>
        </p:spPr>
        <p:txBody>
          <a:bodyPr wrap="square">
            <a:spAutoFit/>
          </a:bodyPr>
          <a:lstStyle/>
          <a:p>
            <a:pPr algn="r"/>
            <a:r>
              <a:rPr sz="900" b="0" i="0">
                <a:solidFill>
                  <a:srgbClr val="404040"/>
                </a:solidFill>
              </a:rPr>
              <a:t>226</a:t>
            </a:r>
          </a:p>
        </p:txBody>
      </p:sp>
      <p:sp>
        <p:nvSpPr>
          <p:cNvPr id="105" name="Rectangle 104"/>
          <p:cNvSpPr/>
          <p:nvPr/>
        </p:nvSpPr>
        <p:spPr>
          <a:xfrm>
            <a:off x="7040880" y="5120640"/>
            <a:ext cx="1097280" cy="25603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7086600" y="5138928"/>
            <a:ext cx="1097280" cy="219456"/>
          </a:xfrm>
          <a:prstGeom prst="rect">
            <a:avLst/>
          </a:prstGeom>
          <a:noFill/>
        </p:spPr>
        <p:txBody>
          <a:bodyPr wrap="square">
            <a:spAutoFit/>
          </a:bodyPr>
          <a:lstStyle/>
          <a:p>
            <a:pPr algn="r"/>
            <a:r>
              <a:rPr sz="900" b="0" i="0">
                <a:solidFill>
                  <a:srgbClr val="404040"/>
                </a:solidFill>
              </a:rPr>
              <a:t>250</a:t>
            </a:r>
          </a:p>
        </p:txBody>
      </p:sp>
      <p:sp>
        <p:nvSpPr>
          <p:cNvPr id="107" name="TextBox 106"/>
          <p:cNvSpPr txBox="1"/>
          <p:nvPr/>
        </p:nvSpPr>
        <p:spPr>
          <a:xfrm>
            <a:off x="274320" y="5577840"/>
            <a:ext cx="8595360" cy="274320"/>
          </a:xfrm>
          <a:prstGeom prst="rect">
            <a:avLst/>
          </a:prstGeom>
          <a:noFill/>
        </p:spPr>
        <p:txBody>
          <a:bodyPr wrap="square">
            <a:spAutoFit/>
          </a:bodyPr>
          <a:lstStyle/>
          <a:p>
            <a:pPr algn="l"/>
            <a:r>
              <a:rPr sz="1300" b="1" i="0">
                <a:solidFill>
                  <a:srgbClr val="404040"/>
                </a:solidFill>
              </a:rPr>
              <a:t>Key Ratios</a:t>
            </a:r>
          </a:p>
        </p:txBody>
      </p:sp>
      <p:sp>
        <p:nvSpPr>
          <p:cNvPr id="108" name="TextBox 107"/>
          <p:cNvSpPr txBox="1"/>
          <p:nvPr/>
        </p:nvSpPr>
        <p:spPr>
          <a:xfrm>
            <a:off x="274320" y="5897880"/>
            <a:ext cx="914400" cy="228600"/>
          </a:xfrm>
          <a:prstGeom prst="rect">
            <a:avLst/>
          </a:prstGeom>
          <a:noFill/>
        </p:spPr>
        <p:txBody>
          <a:bodyPr wrap="square">
            <a:spAutoFit/>
          </a:bodyPr>
          <a:lstStyle/>
          <a:p>
            <a:pPr algn="l"/>
            <a:r>
              <a:rPr sz="800" b="1" i="0">
                <a:solidFill>
                  <a:srgbClr val="2E75B6"/>
                </a:solidFill>
              </a:rPr>
              <a:t>ROE:</a:t>
            </a:r>
          </a:p>
        </p:txBody>
      </p:sp>
      <p:sp>
        <p:nvSpPr>
          <p:cNvPr id="109" name="TextBox 108"/>
          <p:cNvSpPr txBox="1"/>
          <p:nvPr/>
        </p:nvSpPr>
        <p:spPr>
          <a:xfrm>
            <a:off x="1234440" y="5897880"/>
            <a:ext cx="1645920" cy="228600"/>
          </a:xfrm>
          <a:prstGeom prst="rect">
            <a:avLst/>
          </a:prstGeom>
          <a:noFill/>
        </p:spPr>
        <p:txBody>
          <a:bodyPr wrap="square">
            <a:spAutoFit/>
          </a:bodyPr>
          <a:lstStyle/>
          <a:p>
            <a:pPr algn="l"/>
            <a:r>
              <a:rPr sz="800" b="0" i="0">
                <a:solidFill>
                  <a:srgbClr val="404040"/>
                </a:solidFill>
              </a:rPr>
              <a:t>8.8%</a:t>
            </a:r>
          </a:p>
        </p:txBody>
      </p:sp>
      <p:sp>
        <p:nvSpPr>
          <p:cNvPr id="110" name="TextBox 109"/>
          <p:cNvSpPr txBox="1"/>
          <p:nvPr/>
        </p:nvSpPr>
        <p:spPr>
          <a:xfrm>
            <a:off x="3154679" y="5897880"/>
            <a:ext cx="914400" cy="228600"/>
          </a:xfrm>
          <a:prstGeom prst="rect">
            <a:avLst/>
          </a:prstGeom>
          <a:noFill/>
        </p:spPr>
        <p:txBody>
          <a:bodyPr wrap="square">
            <a:spAutoFit/>
          </a:bodyPr>
          <a:lstStyle/>
          <a:p>
            <a:pPr algn="l"/>
            <a:r>
              <a:rPr sz="800" b="1" i="0">
                <a:solidFill>
                  <a:srgbClr val="2E75B6"/>
                </a:solidFill>
              </a:rPr>
              <a:t>Gross margin:</a:t>
            </a:r>
          </a:p>
        </p:txBody>
      </p:sp>
      <p:sp>
        <p:nvSpPr>
          <p:cNvPr id="111" name="TextBox 110"/>
          <p:cNvSpPr txBox="1"/>
          <p:nvPr/>
        </p:nvSpPr>
        <p:spPr>
          <a:xfrm>
            <a:off x="4114799" y="5897880"/>
            <a:ext cx="1645920" cy="228600"/>
          </a:xfrm>
          <a:prstGeom prst="rect">
            <a:avLst/>
          </a:prstGeom>
          <a:noFill/>
        </p:spPr>
        <p:txBody>
          <a:bodyPr wrap="square">
            <a:spAutoFit/>
          </a:bodyPr>
          <a:lstStyle/>
          <a:p>
            <a:pPr algn="l"/>
            <a:r>
              <a:rPr sz="800" b="0" i="0">
                <a:solidFill>
                  <a:srgbClr val="404040"/>
                </a:solidFill>
              </a:rPr>
              <a:t>26.5%</a:t>
            </a:r>
          </a:p>
        </p:txBody>
      </p:sp>
      <p:sp>
        <p:nvSpPr>
          <p:cNvPr id="112" name="TextBox 111"/>
          <p:cNvSpPr txBox="1"/>
          <p:nvPr/>
        </p:nvSpPr>
        <p:spPr>
          <a:xfrm>
            <a:off x="6035040" y="5897880"/>
            <a:ext cx="914400" cy="228600"/>
          </a:xfrm>
          <a:prstGeom prst="rect">
            <a:avLst/>
          </a:prstGeom>
          <a:noFill/>
        </p:spPr>
        <p:txBody>
          <a:bodyPr wrap="square">
            <a:spAutoFit/>
          </a:bodyPr>
          <a:lstStyle/>
          <a:p>
            <a:pPr algn="l"/>
            <a:r>
              <a:rPr sz="800" b="1" i="0">
                <a:solidFill>
                  <a:srgbClr val="2E75B6"/>
                </a:solidFill>
              </a:rPr>
              <a:t>Debt/Equity:</a:t>
            </a:r>
          </a:p>
        </p:txBody>
      </p:sp>
      <p:sp>
        <p:nvSpPr>
          <p:cNvPr id="113" name="TextBox 112"/>
          <p:cNvSpPr txBox="1"/>
          <p:nvPr/>
        </p:nvSpPr>
        <p:spPr>
          <a:xfrm>
            <a:off x="6995160" y="5897880"/>
            <a:ext cx="1645920" cy="228600"/>
          </a:xfrm>
          <a:prstGeom prst="rect">
            <a:avLst/>
          </a:prstGeom>
          <a:noFill/>
        </p:spPr>
        <p:txBody>
          <a:bodyPr wrap="square">
            <a:spAutoFit/>
          </a:bodyPr>
          <a:lstStyle/>
          <a:p>
            <a:pPr algn="l"/>
            <a:r>
              <a:rPr sz="800" b="0" i="0">
                <a:solidFill>
                  <a:srgbClr val="404040"/>
                </a:solidFill>
              </a:rPr>
              <a:t>3%</a:t>
            </a:r>
          </a:p>
        </p:txBody>
      </p:sp>
      <p:sp>
        <p:nvSpPr>
          <p:cNvPr id="114" name="TextBox 113"/>
          <p:cNvSpPr txBox="1"/>
          <p:nvPr/>
        </p:nvSpPr>
        <p:spPr>
          <a:xfrm>
            <a:off x="274320" y="6153912"/>
            <a:ext cx="914400" cy="228600"/>
          </a:xfrm>
          <a:prstGeom prst="rect">
            <a:avLst/>
          </a:prstGeom>
          <a:noFill/>
        </p:spPr>
        <p:txBody>
          <a:bodyPr wrap="square">
            <a:spAutoFit/>
          </a:bodyPr>
          <a:lstStyle/>
          <a:p>
            <a:pPr algn="l"/>
            <a:r>
              <a:rPr sz="800" b="1" i="0">
                <a:solidFill>
                  <a:srgbClr val="2E75B6"/>
                </a:solidFill>
              </a:rPr>
              <a:t>EV/EBITDA:</a:t>
            </a:r>
          </a:p>
        </p:txBody>
      </p:sp>
      <p:sp>
        <p:nvSpPr>
          <p:cNvPr id="115" name="TextBox 114"/>
          <p:cNvSpPr txBox="1"/>
          <p:nvPr/>
        </p:nvSpPr>
        <p:spPr>
          <a:xfrm>
            <a:off x="1234440" y="6153912"/>
            <a:ext cx="1645920" cy="228600"/>
          </a:xfrm>
          <a:prstGeom prst="rect">
            <a:avLst/>
          </a:prstGeom>
          <a:noFill/>
        </p:spPr>
        <p:txBody>
          <a:bodyPr wrap="square">
            <a:spAutoFit/>
          </a:bodyPr>
          <a:lstStyle/>
          <a:p>
            <a:pPr algn="l"/>
            <a:r>
              <a:rPr sz="800" b="0" i="0">
                <a:solidFill>
                  <a:srgbClr val="404040"/>
                </a:solidFill>
              </a:rPr>
              <a:t>26.9x</a:t>
            </a:r>
          </a:p>
        </p:txBody>
      </p:sp>
      <p:sp>
        <p:nvSpPr>
          <p:cNvPr id="116" name="TextBox 115"/>
          <p:cNvSpPr txBox="1"/>
          <p:nvPr/>
        </p:nvSpPr>
        <p:spPr>
          <a:xfrm>
            <a:off x="3154679" y="6153912"/>
            <a:ext cx="914400" cy="228600"/>
          </a:xfrm>
          <a:prstGeom prst="rect">
            <a:avLst/>
          </a:prstGeom>
          <a:noFill/>
        </p:spPr>
        <p:txBody>
          <a:bodyPr wrap="square">
            <a:spAutoFit/>
          </a:bodyPr>
          <a:lstStyle/>
          <a:p>
            <a:pPr algn="l"/>
            <a:r>
              <a:rPr sz="800" b="1" i="0">
                <a:solidFill>
                  <a:srgbClr val="2E75B6"/>
                </a:solidFill>
              </a:rPr>
              <a:t>EBITDA margin:</a:t>
            </a:r>
          </a:p>
        </p:txBody>
      </p:sp>
      <p:sp>
        <p:nvSpPr>
          <p:cNvPr id="117" name="TextBox 116"/>
          <p:cNvSpPr txBox="1"/>
          <p:nvPr/>
        </p:nvSpPr>
        <p:spPr>
          <a:xfrm>
            <a:off x="4114799" y="6153912"/>
            <a:ext cx="1645920" cy="228600"/>
          </a:xfrm>
          <a:prstGeom prst="rect">
            <a:avLst/>
          </a:prstGeom>
          <a:noFill/>
        </p:spPr>
        <p:txBody>
          <a:bodyPr wrap="square">
            <a:spAutoFit/>
          </a:bodyPr>
          <a:lstStyle/>
          <a:p>
            <a:pPr algn="l"/>
            <a:r>
              <a:rPr sz="800" b="0" i="0">
                <a:solidFill>
                  <a:srgbClr val="404040"/>
                </a:solidFill>
              </a:rPr>
              <a:t>5.0%</a:t>
            </a:r>
          </a:p>
        </p:txBody>
      </p:sp>
      <p:sp>
        <p:nvSpPr>
          <p:cNvPr id="118" name="TextBox 117"/>
          <p:cNvSpPr txBox="1"/>
          <p:nvPr/>
        </p:nvSpPr>
        <p:spPr>
          <a:xfrm>
            <a:off x="6035040" y="6153912"/>
            <a:ext cx="914400" cy="228600"/>
          </a:xfrm>
          <a:prstGeom prst="rect">
            <a:avLst/>
          </a:prstGeom>
          <a:noFill/>
        </p:spPr>
        <p:txBody>
          <a:bodyPr wrap="square">
            <a:spAutoFit/>
          </a:bodyPr>
          <a:lstStyle/>
          <a:p>
            <a:pPr algn="l"/>
            <a:r>
              <a:rPr sz="800" b="1" i="0">
                <a:solidFill>
                  <a:srgbClr val="2E75B6"/>
                </a:solidFill>
              </a:rPr>
              <a:t>P/B:</a:t>
            </a:r>
          </a:p>
        </p:txBody>
      </p:sp>
      <p:sp>
        <p:nvSpPr>
          <p:cNvPr id="119" name="TextBox 118"/>
          <p:cNvSpPr txBox="1"/>
          <p:nvPr/>
        </p:nvSpPr>
        <p:spPr>
          <a:xfrm>
            <a:off x="6995160" y="6153912"/>
            <a:ext cx="1645920" cy="228600"/>
          </a:xfrm>
          <a:prstGeom prst="rect">
            <a:avLst/>
          </a:prstGeom>
          <a:noFill/>
        </p:spPr>
        <p:txBody>
          <a:bodyPr wrap="square">
            <a:spAutoFit/>
          </a:bodyPr>
          <a:lstStyle/>
          <a:p>
            <a:pPr algn="l"/>
            <a:r>
              <a:rPr sz="800" b="0" i="0">
                <a:solidFill>
                  <a:srgbClr val="404040"/>
                </a:solidFill>
              </a:rPr>
              <a:t>1.9x</a:t>
            </a:r>
          </a:p>
        </p:txBody>
      </p:sp>
      <p:sp>
        <p:nvSpPr>
          <p:cNvPr id="120" name="TextBox 119"/>
          <p:cNvSpPr txBox="1"/>
          <p:nvPr/>
        </p:nvSpPr>
        <p:spPr>
          <a:xfrm>
            <a:off x="274320" y="6409944"/>
            <a:ext cx="914400" cy="228600"/>
          </a:xfrm>
          <a:prstGeom prst="rect">
            <a:avLst/>
          </a:prstGeom>
          <a:noFill/>
        </p:spPr>
        <p:txBody>
          <a:bodyPr wrap="square">
            <a:spAutoFit/>
          </a:bodyPr>
          <a:lstStyle/>
          <a:p>
            <a:pPr algn="l"/>
            <a:r>
              <a:rPr sz="800" b="1" i="0">
                <a:solidFill>
                  <a:srgbClr val="2E75B6"/>
                </a:solidFill>
              </a:rPr>
              <a:t>P/E (TTM):</a:t>
            </a:r>
          </a:p>
        </p:txBody>
      </p:sp>
      <p:sp>
        <p:nvSpPr>
          <p:cNvPr id="121" name="TextBox 120"/>
          <p:cNvSpPr txBox="1"/>
          <p:nvPr/>
        </p:nvSpPr>
        <p:spPr>
          <a:xfrm>
            <a:off x="1234440" y="6409944"/>
            <a:ext cx="1645920" cy="228600"/>
          </a:xfrm>
          <a:prstGeom prst="rect">
            <a:avLst/>
          </a:prstGeom>
          <a:noFill/>
        </p:spPr>
        <p:txBody>
          <a:bodyPr wrap="square">
            <a:spAutoFit/>
          </a:bodyPr>
          <a:lstStyle/>
          <a:p>
            <a:pPr algn="l"/>
            <a:r>
              <a:rPr sz="800" b="0" i="0">
                <a:solidFill>
                  <a:srgbClr val="404040"/>
                </a:solidFill>
              </a:rPr>
              <a:t>22.8x</a:t>
            </a:r>
          </a:p>
        </p:txBody>
      </p:sp>
      <p:sp>
        <p:nvSpPr>
          <p:cNvPr id="122" name="TextBox 121"/>
          <p:cNvSpPr txBox="1"/>
          <p:nvPr/>
        </p:nvSpPr>
        <p:spPr>
          <a:xfrm>
            <a:off x="3154679" y="6409944"/>
            <a:ext cx="914400" cy="228600"/>
          </a:xfrm>
          <a:prstGeom prst="rect">
            <a:avLst/>
          </a:prstGeom>
          <a:noFill/>
        </p:spPr>
        <p:txBody>
          <a:bodyPr wrap="square">
            <a:spAutoFit/>
          </a:bodyPr>
          <a:lstStyle/>
          <a:p>
            <a:pPr algn="l"/>
            <a:r>
              <a:rPr sz="800" b="1" i="0">
                <a:solidFill>
                  <a:srgbClr val="2E75B6"/>
                </a:solidFill>
              </a:rPr>
              <a:t>Current ratio:</a:t>
            </a:r>
          </a:p>
        </p:txBody>
      </p:sp>
      <p:sp>
        <p:nvSpPr>
          <p:cNvPr id="123" name="TextBox 122"/>
          <p:cNvSpPr txBox="1"/>
          <p:nvPr/>
        </p:nvSpPr>
        <p:spPr>
          <a:xfrm>
            <a:off x="4114799" y="6409944"/>
            <a:ext cx="1645920" cy="228600"/>
          </a:xfrm>
          <a:prstGeom prst="rect">
            <a:avLst/>
          </a:prstGeom>
          <a:noFill/>
        </p:spPr>
        <p:txBody>
          <a:bodyPr wrap="square">
            <a:spAutoFit/>
          </a:bodyPr>
          <a:lstStyle/>
          <a:p>
            <a:pPr algn="l"/>
            <a:r>
              <a:rPr sz="800" b="0" i="0">
                <a:solidFill>
                  <a:srgbClr val="404040"/>
                </a:solidFill>
              </a:rPr>
              <a:t>1.76x</a:t>
            </a:r>
          </a:p>
        </p:txBody>
      </p:sp>
      <p:sp>
        <p:nvSpPr>
          <p:cNvPr id="124" name="TextBox 123"/>
          <p:cNvSpPr txBox="1"/>
          <p:nvPr/>
        </p:nvSpPr>
        <p:spPr>
          <a:xfrm>
            <a:off x="6035040" y="6409944"/>
            <a:ext cx="914400" cy="228600"/>
          </a:xfrm>
          <a:prstGeom prst="rect">
            <a:avLst/>
          </a:prstGeom>
          <a:noFill/>
        </p:spPr>
        <p:txBody>
          <a:bodyPr wrap="square">
            <a:spAutoFit/>
          </a:bodyPr>
          <a:lstStyle/>
          <a:p>
            <a:pPr algn="l"/>
            <a:r>
              <a:rPr sz="800" b="1" i="0">
                <a:solidFill>
                  <a:srgbClr val="2E75B6"/>
                </a:solidFill>
              </a:rPr>
              <a:t>Revenue CAGR '20–'25:</a:t>
            </a:r>
          </a:p>
        </p:txBody>
      </p:sp>
      <p:sp>
        <p:nvSpPr>
          <p:cNvPr id="125" name="TextBox 124"/>
          <p:cNvSpPr txBox="1"/>
          <p:nvPr/>
        </p:nvSpPr>
        <p:spPr>
          <a:xfrm>
            <a:off x="6995160" y="6409944"/>
            <a:ext cx="1645920" cy="228600"/>
          </a:xfrm>
          <a:prstGeom prst="rect">
            <a:avLst/>
          </a:prstGeom>
          <a:noFill/>
        </p:spPr>
        <p:txBody>
          <a:bodyPr wrap="square">
            <a:spAutoFit/>
          </a:bodyPr>
          <a:lstStyle/>
          <a:p>
            <a:pPr algn="l"/>
            <a:r>
              <a:rPr sz="800" b="0" i="0">
                <a:solidFill>
                  <a:srgbClr val="404040"/>
                </a:solidFill>
              </a:rPr>
              <a:t>~18%</a:t>
            </a:r>
          </a:p>
        </p:txBody>
      </p:sp>
      <p:sp>
        <p:nvSpPr>
          <p:cNvPr id="126" name="TextBox 125"/>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127" name="TextBox 126"/>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DCF VALUATION — KEY ASSUMPTIONS</a:t>
            </a:r>
          </a:p>
        </p:txBody>
      </p:sp>
      <p:sp>
        <p:nvSpPr>
          <p:cNvPr id="4" name="TextBox 3"/>
          <p:cNvSpPr txBox="1"/>
          <p:nvPr/>
        </p:nvSpPr>
        <p:spPr>
          <a:xfrm>
            <a:off x="274320" y="594360"/>
            <a:ext cx="5029200" cy="320040"/>
          </a:xfrm>
          <a:prstGeom prst="rect">
            <a:avLst/>
          </a:prstGeom>
          <a:noFill/>
        </p:spPr>
        <p:txBody>
          <a:bodyPr wrap="square">
            <a:spAutoFit/>
          </a:bodyPr>
          <a:lstStyle/>
          <a:p>
            <a:pPr algn="l"/>
            <a:r>
              <a:rPr sz="1400" b="1" i="0">
                <a:solidFill>
                  <a:srgbClr val="1F3864"/>
                </a:solidFill>
              </a:rPr>
              <a:t>Revenue Build: FY2025–2030</a:t>
            </a:r>
          </a:p>
        </p:txBody>
      </p:sp>
      <p:graphicFrame>
        <p:nvGraphicFramePr>
          <p:cNvPr id="5" name="Chart 4"/>
          <p:cNvGraphicFramePr>
            <a:graphicFrameLocks noGrp="1"/>
          </p:cNvGraphicFramePr>
          <p:nvPr/>
        </p:nvGraphicFramePr>
        <p:xfrm>
          <a:off x="274320" y="960120"/>
          <a:ext cx="5029200" cy="2377440"/>
        </p:xfrm>
        <a:graphic>
          <a:graphicData uri="http://schemas.openxmlformats.org/drawingml/2006/chart">
            <c:chart xmlns:c="http://schemas.openxmlformats.org/drawingml/2006/chart" r:id="rId2"/>
          </a:graphicData>
        </a:graphic>
      </p:graphicFrame>
      <p:sp>
        <p:nvSpPr>
          <p:cNvPr id="6" name="TextBox 5"/>
          <p:cNvSpPr txBox="1"/>
          <p:nvPr/>
        </p:nvSpPr>
        <p:spPr>
          <a:xfrm>
            <a:off x="5486400" y="594360"/>
            <a:ext cx="3474720" cy="320040"/>
          </a:xfrm>
          <a:prstGeom prst="rect">
            <a:avLst/>
          </a:prstGeom>
          <a:noFill/>
        </p:spPr>
        <p:txBody>
          <a:bodyPr wrap="square">
            <a:spAutoFit/>
          </a:bodyPr>
          <a:lstStyle/>
          <a:p>
            <a:pPr algn="l"/>
            <a:r>
              <a:rPr sz="1400" b="1" i="0">
                <a:solidFill>
                  <a:srgbClr val="1F3864"/>
                </a:solidFill>
              </a:rPr>
              <a:t>EBITDA Margin Expansion</a:t>
            </a:r>
          </a:p>
        </p:txBody>
      </p:sp>
      <p:sp>
        <p:nvSpPr>
          <p:cNvPr id="7" name="TextBox 6"/>
          <p:cNvSpPr txBox="1"/>
          <p:nvPr/>
        </p:nvSpPr>
        <p:spPr>
          <a:xfrm>
            <a:off x="5577840" y="1005840"/>
            <a:ext cx="1188720" cy="274320"/>
          </a:xfrm>
          <a:prstGeom prst="rect">
            <a:avLst/>
          </a:prstGeom>
          <a:noFill/>
        </p:spPr>
        <p:txBody>
          <a:bodyPr wrap="square">
            <a:spAutoFit/>
          </a:bodyPr>
          <a:lstStyle/>
          <a:p>
            <a:pPr algn="l"/>
            <a:r>
              <a:rPr sz="900" b="0" i="0">
                <a:solidFill>
                  <a:srgbClr val="404040"/>
                </a:solidFill>
              </a:rPr>
              <a:t>FY2025</a:t>
            </a:r>
          </a:p>
        </p:txBody>
      </p:sp>
      <p:sp>
        <p:nvSpPr>
          <p:cNvPr id="8" name="Rectangle 7"/>
          <p:cNvSpPr/>
          <p:nvPr/>
        </p:nvSpPr>
        <p:spPr>
          <a:xfrm>
            <a:off x="6858000" y="1042416"/>
            <a:ext cx="584200" cy="20116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87920" y="1024128"/>
            <a:ext cx="457200" cy="201168"/>
          </a:xfrm>
          <a:prstGeom prst="rect">
            <a:avLst/>
          </a:prstGeom>
          <a:noFill/>
        </p:spPr>
        <p:txBody>
          <a:bodyPr wrap="square">
            <a:spAutoFit/>
          </a:bodyPr>
          <a:lstStyle/>
          <a:p>
            <a:pPr algn="l"/>
            <a:r>
              <a:rPr sz="900" b="1" i="0">
                <a:solidFill>
                  <a:srgbClr val="404040"/>
                </a:solidFill>
              </a:rPr>
              <a:t>5.0%</a:t>
            </a:r>
          </a:p>
        </p:txBody>
      </p:sp>
      <p:sp>
        <p:nvSpPr>
          <p:cNvPr id="10" name="TextBox 9"/>
          <p:cNvSpPr txBox="1"/>
          <p:nvPr/>
        </p:nvSpPr>
        <p:spPr>
          <a:xfrm>
            <a:off x="5577840" y="1389888"/>
            <a:ext cx="1188720" cy="274320"/>
          </a:xfrm>
          <a:prstGeom prst="rect">
            <a:avLst/>
          </a:prstGeom>
          <a:noFill/>
        </p:spPr>
        <p:txBody>
          <a:bodyPr wrap="square">
            <a:spAutoFit/>
          </a:bodyPr>
          <a:lstStyle/>
          <a:p>
            <a:pPr algn="l"/>
            <a:r>
              <a:rPr sz="900" b="0" i="0">
                <a:solidFill>
                  <a:srgbClr val="404040"/>
                </a:solidFill>
              </a:rPr>
              <a:t>FY2026E</a:t>
            </a:r>
          </a:p>
        </p:txBody>
      </p:sp>
      <p:sp>
        <p:nvSpPr>
          <p:cNvPr id="11" name="Rectangle 10"/>
          <p:cNvSpPr/>
          <p:nvPr/>
        </p:nvSpPr>
        <p:spPr>
          <a:xfrm>
            <a:off x="6858000" y="1426464"/>
            <a:ext cx="1472184" cy="20116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408176"/>
            <a:ext cx="457200" cy="201168"/>
          </a:xfrm>
          <a:prstGeom prst="rect">
            <a:avLst/>
          </a:prstGeom>
          <a:noFill/>
        </p:spPr>
        <p:txBody>
          <a:bodyPr wrap="square">
            <a:spAutoFit/>
          </a:bodyPr>
          <a:lstStyle/>
          <a:p>
            <a:pPr algn="l"/>
            <a:r>
              <a:rPr sz="900" b="1" i="0">
                <a:solidFill>
                  <a:srgbClr val="404040"/>
                </a:solidFill>
              </a:rPr>
              <a:t>12.6%</a:t>
            </a:r>
          </a:p>
        </p:txBody>
      </p:sp>
      <p:sp>
        <p:nvSpPr>
          <p:cNvPr id="13" name="TextBox 12"/>
          <p:cNvSpPr txBox="1"/>
          <p:nvPr/>
        </p:nvSpPr>
        <p:spPr>
          <a:xfrm>
            <a:off x="5577840" y="1773936"/>
            <a:ext cx="1188720" cy="274320"/>
          </a:xfrm>
          <a:prstGeom prst="rect">
            <a:avLst/>
          </a:prstGeom>
          <a:noFill/>
        </p:spPr>
        <p:txBody>
          <a:bodyPr wrap="square">
            <a:spAutoFit/>
          </a:bodyPr>
          <a:lstStyle/>
          <a:p>
            <a:pPr algn="l"/>
            <a:r>
              <a:rPr sz="900" b="0" i="0">
                <a:solidFill>
                  <a:srgbClr val="404040"/>
                </a:solidFill>
              </a:rPr>
              <a:t>FY2027E</a:t>
            </a:r>
          </a:p>
        </p:txBody>
      </p:sp>
      <p:sp>
        <p:nvSpPr>
          <p:cNvPr id="14" name="Rectangle 13"/>
          <p:cNvSpPr/>
          <p:nvPr/>
        </p:nvSpPr>
        <p:spPr>
          <a:xfrm>
            <a:off x="6858000" y="1810512"/>
            <a:ext cx="1787652" cy="20116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91372" y="1792224"/>
            <a:ext cx="457200" cy="201168"/>
          </a:xfrm>
          <a:prstGeom prst="rect">
            <a:avLst/>
          </a:prstGeom>
          <a:noFill/>
        </p:spPr>
        <p:txBody>
          <a:bodyPr wrap="square">
            <a:spAutoFit/>
          </a:bodyPr>
          <a:lstStyle/>
          <a:p>
            <a:pPr algn="l"/>
            <a:r>
              <a:rPr sz="900" b="1" i="0">
                <a:solidFill>
                  <a:srgbClr val="404040"/>
                </a:solidFill>
              </a:rPr>
              <a:t>15.3%</a:t>
            </a:r>
          </a:p>
        </p:txBody>
      </p:sp>
      <p:sp>
        <p:nvSpPr>
          <p:cNvPr id="16" name="TextBox 15"/>
          <p:cNvSpPr txBox="1"/>
          <p:nvPr/>
        </p:nvSpPr>
        <p:spPr>
          <a:xfrm>
            <a:off x="5577840" y="2157984"/>
            <a:ext cx="1188720" cy="274320"/>
          </a:xfrm>
          <a:prstGeom prst="rect">
            <a:avLst/>
          </a:prstGeom>
          <a:noFill/>
        </p:spPr>
        <p:txBody>
          <a:bodyPr wrap="square">
            <a:spAutoFit/>
          </a:bodyPr>
          <a:lstStyle/>
          <a:p>
            <a:pPr algn="l"/>
            <a:r>
              <a:rPr sz="900" b="0" i="0">
                <a:solidFill>
                  <a:srgbClr val="404040"/>
                </a:solidFill>
              </a:rPr>
              <a:t>FY2028E</a:t>
            </a:r>
          </a:p>
        </p:txBody>
      </p:sp>
      <p:sp>
        <p:nvSpPr>
          <p:cNvPr id="17" name="Rectangle 16"/>
          <p:cNvSpPr/>
          <p:nvPr/>
        </p:nvSpPr>
        <p:spPr>
          <a:xfrm>
            <a:off x="6858000" y="2194560"/>
            <a:ext cx="1869440" cy="20116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3160" y="2176272"/>
            <a:ext cx="457200" cy="201168"/>
          </a:xfrm>
          <a:prstGeom prst="rect">
            <a:avLst/>
          </a:prstGeom>
          <a:noFill/>
        </p:spPr>
        <p:txBody>
          <a:bodyPr wrap="square">
            <a:spAutoFit/>
          </a:bodyPr>
          <a:lstStyle/>
          <a:p>
            <a:pPr algn="l"/>
            <a:r>
              <a:rPr sz="900" b="1" i="0">
                <a:solidFill>
                  <a:srgbClr val="404040"/>
                </a:solidFill>
              </a:rPr>
              <a:t>16.0%</a:t>
            </a:r>
          </a:p>
        </p:txBody>
      </p:sp>
      <p:sp>
        <p:nvSpPr>
          <p:cNvPr id="19" name="TextBox 18"/>
          <p:cNvSpPr txBox="1"/>
          <p:nvPr/>
        </p:nvSpPr>
        <p:spPr>
          <a:xfrm>
            <a:off x="5577840" y="2542032"/>
            <a:ext cx="1188720" cy="274320"/>
          </a:xfrm>
          <a:prstGeom prst="rect">
            <a:avLst/>
          </a:prstGeom>
          <a:noFill/>
        </p:spPr>
        <p:txBody>
          <a:bodyPr wrap="square">
            <a:spAutoFit/>
          </a:bodyPr>
          <a:lstStyle/>
          <a:p>
            <a:pPr algn="l"/>
            <a:r>
              <a:rPr sz="900" b="0" i="0">
                <a:solidFill>
                  <a:srgbClr val="404040"/>
                </a:solidFill>
              </a:rPr>
              <a:t>FY2029E</a:t>
            </a:r>
          </a:p>
        </p:txBody>
      </p:sp>
      <p:sp>
        <p:nvSpPr>
          <p:cNvPr id="20" name="Rectangle 19"/>
          <p:cNvSpPr/>
          <p:nvPr/>
        </p:nvSpPr>
        <p:spPr>
          <a:xfrm>
            <a:off x="6858000" y="2578608"/>
            <a:ext cx="1986280" cy="20116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90000" y="2560320"/>
            <a:ext cx="457200" cy="201168"/>
          </a:xfrm>
          <a:prstGeom prst="rect">
            <a:avLst/>
          </a:prstGeom>
          <a:noFill/>
        </p:spPr>
        <p:txBody>
          <a:bodyPr wrap="square">
            <a:spAutoFit/>
          </a:bodyPr>
          <a:lstStyle/>
          <a:p>
            <a:pPr algn="l"/>
            <a:r>
              <a:rPr sz="900" b="1" i="0">
                <a:solidFill>
                  <a:srgbClr val="404040"/>
                </a:solidFill>
              </a:rPr>
              <a:t>17.0%</a:t>
            </a:r>
          </a:p>
        </p:txBody>
      </p:sp>
      <p:sp>
        <p:nvSpPr>
          <p:cNvPr id="22" name="TextBox 21"/>
          <p:cNvSpPr txBox="1"/>
          <p:nvPr/>
        </p:nvSpPr>
        <p:spPr>
          <a:xfrm>
            <a:off x="5577840" y="2926080"/>
            <a:ext cx="1188720" cy="274320"/>
          </a:xfrm>
          <a:prstGeom prst="rect">
            <a:avLst/>
          </a:prstGeom>
          <a:noFill/>
        </p:spPr>
        <p:txBody>
          <a:bodyPr wrap="square">
            <a:spAutoFit/>
          </a:bodyPr>
          <a:lstStyle/>
          <a:p>
            <a:pPr algn="l"/>
            <a:r>
              <a:rPr sz="900" b="0" i="0">
                <a:solidFill>
                  <a:srgbClr val="404040"/>
                </a:solidFill>
              </a:rPr>
              <a:t>FY2030E</a:t>
            </a:r>
          </a:p>
        </p:txBody>
      </p:sp>
      <p:sp>
        <p:nvSpPr>
          <p:cNvPr id="23" name="Rectangle 22"/>
          <p:cNvSpPr/>
          <p:nvPr/>
        </p:nvSpPr>
        <p:spPr>
          <a:xfrm>
            <a:off x="6858000" y="2962656"/>
            <a:ext cx="2103120" cy="201168"/>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2944368"/>
            <a:ext cx="457200" cy="201168"/>
          </a:xfrm>
          <a:prstGeom prst="rect">
            <a:avLst/>
          </a:prstGeom>
          <a:noFill/>
        </p:spPr>
        <p:txBody>
          <a:bodyPr wrap="square">
            <a:spAutoFit/>
          </a:bodyPr>
          <a:lstStyle/>
          <a:p>
            <a:pPr algn="l"/>
            <a:r>
              <a:rPr sz="900" b="1" i="0">
                <a:solidFill>
                  <a:srgbClr val="404040"/>
                </a:solidFill>
              </a:rPr>
              <a:t>18.0%</a:t>
            </a:r>
          </a:p>
        </p:txBody>
      </p:sp>
      <p:sp>
        <p:nvSpPr>
          <p:cNvPr id="25" name="TextBox 24"/>
          <p:cNvSpPr txBox="1"/>
          <p:nvPr/>
        </p:nvSpPr>
        <p:spPr>
          <a:xfrm>
            <a:off x="274320" y="3474720"/>
            <a:ext cx="8595360" cy="320040"/>
          </a:xfrm>
          <a:prstGeom prst="rect">
            <a:avLst/>
          </a:prstGeom>
          <a:noFill/>
        </p:spPr>
        <p:txBody>
          <a:bodyPr wrap="square">
            <a:spAutoFit/>
          </a:bodyPr>
          <a:lstStyle/>
          <a:p>
            <a:pPr algn="l"/>
            <a:r>
              <a:rPr sz="1400" b="1" i="0">
                <a:solidFill>
                  <a:srgbClr val="1F3864"/>
                </a:solidFill>
              </a:rPr>
              <a:t>Discount Rate &amp; Terminal Value</a:t>
            </a:r>
          </a:p>
        </p:txBody>
      </p:sp>
      <p:sp>
        <p:nvSpPr>
          <p:cNvPr id="26" name="Rectangle 25"/>
          <p:cNvSpPr/>
          <p:nvPr/>
        </p:nvSpPr>
        <p:spPr>
          <a:xfrm>
            <a:off x="274320" y="3840480"/>
            <a:ext cx="2103120" cy="6858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 y="3858768"/>
            <a:ext cx="1920240" cy="256032"/>
          </a:xfrm>
          <a:prstGeom prst="rect">
            <a:avLst/>
          </a:prstGeom>
          <a:noFill/>
        </p:spPr>
        <p:txBody>
          <a:bodyPr wrap="square">
            <a:spAutoFit/>
          </a:bodyPr>
          <a:lstStyle/>
          <a:p>
            <a:pPr algn="l"/>
            <a:r>
              <a:rPr sz="1000" b="1" i="0">
                <a:solidFill>
                  <a:srgbClr val="FFFFFF"/>
                </a:solidFill>
              </a:rPr>
              <a:t>Bear</a:t>
            </a:r>
          </a:p>
        </p:txBody>
      </p:sp>
      <p:sp>
        <p:nvSpPr>
          <p:cNvPr id="28" name="TextBox 27"/>
          <p:cNvSpPr txBox="1"/>
          <p:nvPr/>
        </p:nvSpPr>
        <p:spPr>
          <a:xfrm>
            <a:off x="347472" y="4114800"/>
            <a:ext cx="1920240" cy="274320"/>
          </a:xfrm>
          <a:prstGeom prst="rect">
            <a:avLst/>
          </a:prstGeom>
          <a:noFill/>
        </p:spPr>
        <p:txBody>
          <a:bodyPr wrap="square">
            <a:spAutoFit/>
          </a:bodyPr>
          <a:lstStyle/>
          <a:p>
            <a:pPr algn="l"/>
            <a:r>
              <a:rPr sz="1400" b="1" i="0">
                <a:solidFill>
                  <a:srgbClr val="FFFFFF"/>
                </a:solidFill>
              </a:rPr>
              <a:t>12%</a:t>
            </a:r>
          </a:p>
        </p:txBody>
      </p:sp>
      <p:sp>
        <p:nvSpPr>
          <p:cNvPr id="29" name="TextBox 28"/>
          <p:cNvSpPr txBox="1"/>
          <p:nvPr/>
        </p:nvSpPr>
        <p:spPr>
          <a:xfrm>
            <a:off x="347472" y="4370832"/>
            <a:ext cx="1920240" cy="182880"/>
          </a:xfrm>
          <a:prstGeom prst="rect">
            <a:avLst/>
          </a:prstGeom>
          <a:noFill/>
        </p:spPr>
        <p:txBody>
          <a:bodyPr wrap="square">
            <a:spAutoFit/>
          </a:bodyPr>
          <a:lstStyle/>
          <a:p>
            <a:pPr algn="l"/>
            <a:r>
              <a:rPr sz="800" b="0" i="1">
                <a:solidFill>
                  <a:srgbClr val="FFFFFF"/>
                </a:solidFill>
              </a:rPr>
              <a:t>WACC 12%</a:t>
            </a:r>
          </a:p>
        </p:txBody>
      </p:sp>
      <p:sp>
        <p:nvSpPr>
          <p:cNvPr id="30" name="Rectangle 29"/>
          <p:cNvSpPr/>
          <p:nvPr/>
        </p:nvSpPr>
        <p:spPr>
          <a:xfrm>
            <a:off x="2560320" y="3840480"/>
            <a:ext cx="2103120" cy="68580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33472" y="3858768"/>
            <a:ext cx="1920240" cy="256032"/>
          </a:xfrm>
          <a:prstGeom prst="rect">
            <a:avLst/>
          </a:prstGeom>
          <a:noFill/>
        </p:spPr>
        <p:txBody>
          <a:bodyPr wrap="square">
            <a:spAutoFit/>
          </a:bodyPr>
          <a:lstStyle/>
          <a:p>
            <a:pPr algn="l"/>
            <a:r>
              <a:rPr sz="1000" b="1" i="0">
                <a:solidFill>
                  <a:srgbClr val="FFFFFF"/>
                </a:solidFill>
              </a:rPr>
              <a:t>Base</a:t>
            </a:r>
          </a:p>
        </p:txBody>
      </p:sp>
      <p:sp>
        <p:nvSpPr>
          <p:cNvPr id="32" name="TextBox 31"/>
          <p:cNvSpPr txBox="1"/>
          <p:nvPr/>
        </p:nvSpPr>
        <p:spPr>
          <a:xfrm>
            <a:off x="2633472" y="4114800"/>
            <a:ext cx="1920240" cy="274320"/>
          </a:xfrm>
          <a:prstGeom prst="rect">
            <a:avLst/>
          </a:prstGeom>
          <a:noFill/>
        </p:spPr>
        <p:txBody>
          <a:bodyPr wrap="square">
            <a:spAutoFit/>
          </a:bodyPr>
          <a:lstStyle/>
          <a:p>
            <a:pPr algn="l"/>
            <a:r>
              <a:rPr sz="1400" b="1" i="0">
                <a:solidFill>
                  <a:srgbClr val="FFFFFF"/>
                </a:solidFill>
              </a:rPr>
              <a:t>10%</a:t>
            </a:r>
          </a:p>
        </p:txBody>
      </p:sp>
      <p:sp>
        <p:nvSpPr>
          <p:cNvPr id="33" name="TextBox 32"/>
          <p:cNvSpPr txBox="1"/>
          <p:nvPr/>
        </p:nvSpPr>
        <p:spPr>
          <a:xfrm>
            <a:off x="2633472" y="4370832"/>
            <a:ext cx="1920240" cy="182880"/>
          </a:xfrm>
          <a:prstGeom prst="rect">
            <a:avLst/>
          </a:prstGeom>
          <a:noFill/>
        </p:spPr>
        <p:txBody>
          <a:bodyPr wrap="square">
            <a:spAutoFit/>
          </a:bodyPr>
          <a:lstStyle/>
          <a:p>
            <a:pPr algn="l"/>
            <a:r>
              <a:rPr sz="800" b="0" i="1">
                <a:solidFill>
                  <a:srgbClr val="FFFFFF"/>
                </a:solidFill>
              </a:rPr>
              <a:t>WACC 10%</a:t>
            </a:r>
          </a:p>
        </p:txBody>
      </p:sp>
      <p:sp>
        <p:nvSpPr>
          <p:cNvPr id="34" name="Rectangle 33"/>
          <p:cNvSpPr/>
          <p:nvPr/>
        </p:nvSpPr>
        <p:spPr>
          <a:xfrm>
            <a:off x="4846320" y="3840480"/>
            <a:ext cx="2103120" cy="6858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9472" y="3858768"/>
            <a:ext cx="1920240" cy="256032"/>
          </a:xfrm>
          <a:prstGeom prst="rect">
            <a:avLst/>
          </a:prstGeom>
          <a:noFill/>
        </p:spPr>
        <p:txBody>
          <a:bodyPr wrap="square">
            <a:spAutoFit/>
          </a:bodyPr>
          <a:lstStyle/>
          <a:p>
            <a:pPr algn="l"/>
            <a:r>
              <a:rPr sz="1000" b="1" i="0">
                <a:solidFill>
                  <a:srgbClr val="FFFFFF"/>
                </a:solidFill>
              </a:rPr>
              <a:t>Bull</a:t>
            </a:r>
          </a:p>
        </p:txBody>
      </p:sp>
      <p:sp>
        <p:nvSpPr>
          <p:cNvPr id="36" name="TextBox 35"/>
          <p:cNvSpPr txBox="1"/>
          <p:nvPr/>
        </p:nvSpPr>
        <p:spPr>
          <a:xfrm>
            <a:off x="4919472" y="4114800"/>
            <a:ext cx="1920240" cy="274320"/>
          </a:xfrm>
          <a:prstGeom prst="rect">
            <a:avLst/>
          </a:prstGeom>
          <a:noFill/>
        </p:spPr>
        <p:txBody>
          <a:bodyPr wrap="square">
            <a:spAutoFit/>
          </a:bodyPr>
          <a:lstStyle/>
          <a:p>
            <a:pPr algn="l"/>
            <a:r>
              <a:rPr sz="1400" b="1" i="0">
                <a:solidFill>
                  <a:srgbClr val="FFFFFF"/>
                </a:solidFill>
              </a:rPr>
              <a:t>8%</a:t>
            </a:r>
          </a:p>
        </p:txBody>
      </p:sp>
      <p:sp>
        <p:nvSpPr>
          <p:cNvPr id="37" name="TextBox 36"/>
          <p:cNvSpPr txBox="1"/>
          <p:nvPr/>
        </p:nvSpPr>
        <p:spPr>
          <a:xfrm>
            <a:off x="4919472" y="4370832"/>
            <a:ext cx="1920240" cy="182880"/>
          </a:xfrm>
          <a:prstGeom prst="rect">
            <a:avLst/>
          </a:prstGeom>
          <a:noFill/>
        </p:spPr>
        <p:txBody>
          <a:bodyPr wrap="square">
            <a:spAutoFit/>
          </a:bodyPr>
          <a:lstStyle/>
          <a:p>
            <a:pPr algn="l"/>
            <a:r>
              <a:rPr sz="800" b="0" i="1">
                <a:solidFill>
                  <a:srgbClr val="FFFFFF"/>
                </a:solidFill>
              </a:rPr>
              <a:t>WACC 8%</a:t>
            </a:r>
          </a:p>
        </p:txBody>
      </p:sp>
      <p:sp>
        <p:nvSpPr>
          <p:cNvPr id="38" name="TextBox 37"/>
          <p:cNvSpPr txBox="1"/>
          <p:nvPr/>
        </p:nvSpPr>
        <p:spPr>
          <a:xfrm>
            <a:off x="274320" y="4709160"/>
            <a:ext cx="2286000" cy="256032"/>
          </a:xfrm>
          <a:prstGeom prst="rect">
            <a:avLst/>
          </a:prstGeom>
          <a:noFill/>
        </p:spPr>
        <p:txBody>
          <a:bodyPr wrap="square">
            <a:spAutoFit/>
          </a:bodyPr>
          <a:lstStyle/>
          <a:p>
            <a:pPr algn="l"/>
            <a:r>
              <a:rPr sz="900" b="1" i="0">
                <a:solidFill>
                  <a:srgbClr val="2E75B6"/>
                </a:solidFill>
              </a:rPr>
              <a:t>Terminal growth rate:</a:t>
            </a:r>
          </a:p>
        </p:txBody>
      </p:sp>
      <p:sp>
        <p:nvSpPr>
          <p:cNvPr id="39" name="TextBox 38"/>
          <p:cNvSpPr txBox="1"/>
          <p:nvPr/>
        </p:nvSpPr>
        <p:spPr>
          <a:xfrm>
            <a:off x="2651760" y="4709160"/>
            <a:ext cx="3200400" cy="256032"/>
          </a:xfrm>
          <a:prstGeom prst="rect">
            <a:avLst/>
          </a:prstGeom>
          <a:noFill/>
        </p:spPr>
        <p:txBody>
          <a:bodyPr wrap="square">
            <a:spAutoFit/>
          </a:bodyPr>
          <a:lstStyle/>
          <a:p>
            <a:pPr algn="l"/>
            <a:r>
              <a:rPr sz="900" b="0" i="0">
                <a:solidFill>
                  <a:srgbClr val="404040"/>
                </a:solidFill>
              </a:rPr>
              <a:t>4.5%  (long-run Saudi nominal GDP)</a:t>
            </a:r>
          </a:p>
        </p:txBody>
      </p:sp>
      <p:sp>
        <p:nvSpPr>
          <p:cNvPr id="40" name="TextBox 39"/>
          <p:cNvSpPr txBox="1"/>
          <p:nvPr/>
        </p:nvSpPr>
        <p:spPr>
          <a:xfrm>
            <a:off x="274320" y="5001768"/>
            <a:ext cx="2286000" cy="256032"/>
          </a:xfrm>
          <a:prstGeom prst="rect">
            <a:avLst/>
          </a:prstGeom>
          <a:noFill/>
        </p:spPr>
        <p:txBody>
          <a:bodyPr wrap="square">
            <a:spAutoFit/>
          </a:bodyPr>
          <a:lstStyle/>
          <a:p>
            <a:pPr algn="l"/>
            <a:r>
              <a:rPr sz="900" b="1" i="0">
                <a:solidFill>
                  <a:srgbClr val="2E75B6"/>
                </a:solidFill>
              </a:rPr>
              <a:t>Risk-free rate:</a:t>
            </a:r>
          </a:p>
        </p:txBody>
      </p:sp>
      <p:sp>
        <p:nvSpPr>
          <p:cNvPr id="41" name="TextBox 40"/>
          <p:cNvSpPr txBox="1"/>
          <p:nvPr/>
        </p:nvSpPr>
        <p:spPr>
          <a:xfrm>
            <a:off x="2651760" y="5001768"/>
            <a:ext cx="3200400" cy="256032"/>
          </a:xfrm>
          <a:prstGeom prst="rect">
            <a:avLst/>
          </a:prstGeom>
          <a:noFill/>
        </p:spPr>
        <p:txBody>
          <a:bodyPr wrap="square">
            <a:spAutoFit/>
          </a:bodyPr>
          <a:lstStyle/>
          <a:p>
            <a:pPr algn="l"/>
            <a:r>
              <a:rPr sz="900" b="0" i="0">
                <a:solidFill>
                  <a:srgbClr val="404040"/>
                </a:solidFill>
              </a:rPr>
              <a:t>4.75%  (Saudi 5Y sovereign yield)</a:t>
            </a:r>
          </a:p>
        </p:txBody>
      </p:sp>
      <p:sp>
        <p:nvSpPr>
          <p:cNvPr id="42" name="TextBox 41"/>
          <p:cNvSpPr txBox="1"/>
          <p:nvPr/>
        </p:nvSpPr>
        <p:spPr>
          <a:xfrm>
            <a:off x="274320" y="5294376"/>
            <a:ext cx="2286000" cy="256032"/>
          </a:xfrm>
          <a:prstGeom prst="rect">
            <a:avLst/>
          </a:prstGeom>
          <a:noFill/>
        </p:spPr>
        <p:txBody>
          <a:bodyPr wrap="square">
            <a:spAutoFit/>
          </a:bodyPr>
          <a:lstStyle/>
          <a:p>
            <a:pPr algn="l"/>
            <a:r>
              <a:rPr sz="900" b="1" i="0">
                <a:solidFill>
                  <a:srgbClr val="2E75B6"/>
                </a:solidFill>
              </a:rPr>
              <a:t>Equity risk premium:</a:t>
            </a:r>
          </a:p>
        </p:txBody>
      </p:sp>
      <p:sp>
        <p:nvSpPr>
          <p:cNvPr id="43" name="TextBox 42"/>
          <p:cNvSpPr txBox="1"/>
          <p:nvPr/>
        </p:nvSpPr>
        <p:spPr>
          <a:xfrm>
            <a:off x="2651760" y="5294376"/>
            <a:ext cx="3200400" cy="256032"/>
          </a:xfrm>
          <a:prstGeom prst="rect">
            <a:avLst/>
          </a:prstGeom>
          <a:noFill/>
        </p:spPr>
        <p:txBody>
          <a:bodyPr wrap="square">
            <a:spAutoFit/>
          </a:bodyPr>
          <a:lstStyle/>
          <a:p>
            <a:pPr algn="l"/>
            <a:r>
              <a:rPr sz="900" b="0" i="0">
                <a:solidFill>
                  <a:srgbClr val="404040"/>
                </a:solidFill>
              </a:rPr>
              <a:t>5.5%  (EM media sector)</a:t>
            </a:r>
          </a:p>
        </p:txBody>
      </p:sp>
      <p:sp>
        <p:nvSpPr>
          <p:cNvPr id="44" name="TextBox 43"/>
          <p:cNvSpPr txBox="1"/>
          <p:nvPr/>
        </p:nvSpPr>
        <p:spPr>
          <a:xfrm>
            <a:off x="274320" y="5586984"/>
            <a:ext cx="2286000" cy="256032"/>
          </a:xfrm>
          <a:prstGeom prst="rect">
            <a:avLst/>
          </a:prstGeom>
          <a:noFill/>
        </p:spPr>
        <p:txBody>
          <a:bodyPr wrap="square">
            <a:spAutoFit/>
          </a:bodyPr>
          <a:lstStyle/>
          <a:p>
            <a:pPr algn="l"/>
            <a:r>
              <a:rPr sz="900" b="1" i="0">
                <a:solidFill>
                  <a:srgbClr val="2E75B6"/>
                </a:solidFill>
              </a:rPr>
              <a:t>Terminal FCFF (FY2030):</a:t>
            </a:r>
          </a:p>
        </p:txBody>
      </p:sp>
      <p:sp>
        <p:nvSpPr>
          <p:cNvPr id="45" name="TextBox 44"/>
          <p:cNvSpPr txBox="1"/>
          <p:nvPr/>
        </p:nvSpPr>
        <p:spPr>
          <a:xfrm>
            <a:off x="2651760" y="5586984"/>
            <a:ext cx="3200400" cy="256032"/>
          </a:xfrm>
          <a:prstGeom prst="rect">
            <a:avLst/>
          </a:prstGeom>
          <a:noFill/>
        </p:spPr>
        <p:txBody>
          <a:bodyPr wrap="square">
            <a:spAutoFit/>
          </a:bodyPr>
          <a:lstStyle/>
          <a:p>
            <a:pPr algn="l"/>
            <a:r>
              <a:rPr sz="900" b="0" i="0">
                <a:solidFill>
                  <a:srgbClr val="404040"/>
                </a:solidFill>
              </a:rPr>
              <a:t>SAR 924.8M</a:t>
            </a:r>
          </a:p>
        </p:txBody>
      </p:sp>
      <p:sp>
        <p:nvSpPr>
          <p:cNvPr id="46" name="TextBox 45"/>
          <p:cNvSpPr txBox="1"/>
          <p:nvPr/>
        </p:nvSpPr>
        <p:spPr>
          <a:xfrm>
            <a:off x="5943600" y="4572000"/>
            <a:ext cx="3017520" cy="274320"/>
          </a:xfrm>
          <a:prstGeom prst="rect">
            <a:avLst/>
          </a:prstGeom>
          <a:noFill/>
        </p:spPr>
        <p:txBody>
          <a:bodyPr wrap="square">
            <a:spAutoFit/>
          </a:bodyPr>
          <a:lstStyle/>
          <a:p>
            <a:pPr algn="l"/>
            <a:r>
              <a:rPr sz="1100" b="1" i="0">
                <a:solidFill>
                  <a:srgbClr val="1F3864"/>
                </a:solidFill>
              </a:rPr>
              <a:t>Why no beta?</a:t>
            </a:r>
          </a:p>
        </p:txBody>
      </p:sp>
      <p:sp>
        <p:nvSpPr>
          <p:cNvPr id="47" name="TextBox 46"/>
          <p:cNvSpPr txBox="1"/>
          <p:nvPr/>
        </p:nvSpPr>
        <p:spPr>
          <a:xfrm>
            <a:off x="5943600" y="4846320"/>
            <a:ext cx="3017520" cy="1371600"/>
          </a:xfrm>
          <a:prstGeom prst="rect">
            <a:avLst/>
          </a:prstGeom>
          <a:noFill/>
        </p:spPr>
        <p:txBody>
          <a:bodyPr wrap="square">
            <a:spAutoFit/>
          </a:bodyPr>
          <a:lstStyle/>
          <a:p>
            <a:pPr algn="l"/>
            <a:r>
              <a:rPr sz="900" b="0" i="1">
                <a:solidFill>
                  <a:srgbClr val="404040"/>
                </a:solidFill>
              </a:rPr>
              <a:t>MBC listed January 2024. Only ~2 years of public trading history. Yahoo Finance and Capital IQ show no disclosed beta. WACC is estimated, not market-derived. Sensitivity analysis is the honest output.</a:t>
            </a:r>
          </a:p>
        </p:txBody>
      </p:sp>
      <p:sp>
        <p:nvSpPr>
          <p:cNvPr id="48" name="TextBox 47"/>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49" name="TextBox 48"/>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DCF VALUATION — OUTPUT</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Share Price Sensitivity: WACC vs. Terminal Growth</a:t>
            </a:r>
          </a:p>
        </p:txBody>
      </p:sp>
      <p:sp>
        <p:nvSpPr>
          <p:cNvPr id="5" name="Rectangle 4"/>
          <p:cNvSpPr/>
          <p:nvPr/>
        </p:nvSpPr>
        <p:spPr>
          <a:xfrm>
            <a:off x="457200" y="960120"/>
            <a:ext cx="146304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978408"/>
            <a:ext cx="1463040" cy="237744"/>
          </a:xfrm>
          <a:prstGeom prst="rect">
            <a:avLst/>
          </a:prstGeom>
          <a:noFill/>
        </p:spPr>
        <p:txBody>
          <a:bodyPr wrap="square">
            <a:spAutoFit/>
          </a:bodyPr>
          <a:lstStyle/>
          <a:p>
            <a:pPr algn="ctr"/>
            <a:r>
              <a:rPr sz="900" b="1" i="0">
                <a:solidFill>
                  <a:srgbClr val="FFFFFF"/>
                </a:solidFill>
              </a:rPr>
              <a:t>WACC \ g</a:t>
            </a:r>
          </a:p>
        </p:txBody>
      </p:sp>
      <p:sp>
        <p:nvSpPr>
          <p:cNvPr id="7" name="Rectangle 6"/>
          <p:cNvSpPr/>
          <p:nvPr/>
        </p:nvSpPr>
        <p:spPr>
          <a:xfrm>
            <a:off x="1920240" y="960120"/>
            <a:ext cx="146304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978408"/>
            <a:ext cx="1463040" cy="237744"/>
          </a:xfrm>
          <a:prstGeom prst="rect">
            <a:avLst/>
          </a:prstGeom>
          <a:noFill/>
        </p:spPr>
        <p:txBody>
          <a:bodyPr wrap="square">
            <a:spAutoFit/>
          </a:bodyPr>
          <a:lstStyle/>
          <a:p>
            <a:pPr algn="ctr"/>
            <a:r>
              <a:rPr sz="900" b="1" i="0">
                <a:solidFill>
                  <a:srgbClr val="FFFFFF"/>
                </a:solidFill>
              </a:rPr>
              <a:t>3.5%</a:t>
            </a:r>
          </a:p>
        </p:txBody>
      </p:sp>
      <p:sp>
        <p:nvSpPr>
          <p:cNvPr id="9" name="Rectangle 8"/>
          <p:cNvSpPr/>
          <p:nvPr/>
        </p:nvSpPr>
        <p:spPr>
          <a:xfrm>
            <a:off x="3383280" y="960120"/>
            <a:ext cx="146304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978408"/>
            <a:ext cx="1463040" cy="237744"/>
          </a:xfrm>
          <a:prstGeom prst="rect">
            <a:avLst/>
          </a:prstGeom>
          <a:noFill/>
        </p:spPr>
        <p:txBody>
          <a:bodyPr wrap="square">
            <a:spAutoFit/>
          </a:bodyPr>
          <a:lstStyle/>
          <a:p>
            <a:pPr algn="ctr"/>
            <a:r>
              <a:rPr sz="900" b="1" i="0">
                <a:solidFill>
                  <a:srgbClr val="FFFFFF"/>
                </a:solidFill>
              </a:rPr>
              <a:t>4.0%</a:t>
            </a:r>
          </a:p>
        </p:txBody>
      </p:sp>
      <p:sp>
        <p:nvSpPr>
          <p:cNvPr id="11" name="Rectangle 10"/>
          <p:cNvSpPr/>
          <p:nvPr/>
        </p:nvSpPr>
        <p:spPr>
          <a:xfrm>
            <a:off x="4846320" y="960120"/>
            <a:ext cx="146304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978408"/>
            <a:ext cx="1463040" cy="237744"/>
          </a:xfrm>
          <a:prstGeom prst="rect">
            <a:avLst/>
          </a:prstGeom>
          <a:noFill/>
        </p:spPr>
        <p:txBody>
          <a:bodyPr wrap="square">
            <a:spAutoFit/>
          </a:bodyPr>
          <a:lstStyle/>
          <a:p>
            <a:pPr algn="ctr"/>
            <a:r>
              <a:rPr sz="900" b="1" i="0">
                <a:solidFill>
                  <a:srgbClr val="FFFFFF"/>
                </a:solidFill>
              </a:rPr>
              <a:t>4.5%</a:t>
            </a:r>
          </a:p>
        </p:txBody>
      </p:sp>
      <p:sp>
        <p:nvSpPr>
          <p:cNvPr id="13" name="Rectangle 12"/>
          <p:cNvSpPr/>
          <p:nvPr/>
        </p:nvSpPr>
        <p:spPr>
          <a:xfrm>
            <a:off x="6309360" y="960120"/>
            <a:ext cx="146304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978408"/>
            <a:ext cx="1463040" cy="237744"/>
          </a:xfrm>
          <a:prstGeom prst="rect">
            <a:avLst/>
          </a:prstGeom>
          <a:noFill/>
        </p:spPr>
        <p:txBody>
          <a:bodyPr wrap="square">
            <a:spAutoFit/>
          </a:bodyPr>
          <a:lstStyle/>
          <a:p>
            <a:pPr algn="ctr"/>
            <a:r>
              <a:rPr sz="900" b="1" i="0">
                <a:solidFill>
                  <a:srgbClr val="FFFFFF"/>
                </a:solidFill>
              </a:rPr>
              <a:t>5.0%</a:t>
            </a:r>
          </a:p>
        </p:txBody>
      </p:sp>
      <p:sp>
        <p:nvSpPr>
          <p:cNvPr id="15" name="Rectangle 14"/>
          <p:cNvSpPr/>
          <p:nvPr/>
        </p:nvSpPr>
        <p:spPr>
          <a:xfrm>
            <a:off x="457200" y="1261872"/>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289304"/>
            <a:ext cx="1463040" cy="246888"/>
          </a:xfrm>
          <a:prstGeom prst="rect">
            <a:avLst/>
          </a:prstGeom>
          <a:noFill/>
        </p:spPr>
        <p:txBody>
          <a:bodyPr wrap="square">
            <a:spAutoFit/>
          </a:bodyPr>
          <a:lstStyle/>
          <a:p>
            <a:pPr algn="l"/>
            <a:r>
              <a:rPr sz="900" b="0" i="0">
                <a:solidFill>
                  <a:srgbClr val="404040"/>
                </a:solidFill>
              </a:rPr>
              <a:t>WACC 8%</a:t>
            </a:r>
          </a:p>
        </p:txBody>
      </p:sp>
      <p:sp>
        <p:nvSpPr>
          <p:cNvPr id="17" name="Rectangle 16"/>
          <p:cNvSpPr/>
          <p:nvPr/>
        </p:nvSpPr>
        <p:spPr>
          <a:xfrm>
            <a:off x="1920240" y="1261872"/>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65960" y="1289304"/>
            <a:ext cx="1463040" cy="246888"/>
          </a:xfrm>
          <a:prstGeom prst="rect">
            <a:avLst/>
          </a:prstGeom>
          <a:noFill/>
        </p:spPr>
        <p:txBody>
          <a:bodyPr wrap="square">
            <a:spAutoFit/>
          </a:bodyPr>
          <a:lstStyle/>
          <a:p>
            <a:pPr algn="ctr"/>
            <a:r>
              <a:rPr sz="900" b="0" i="0">
                <a:solidFill>
                  <a:srgbClr val="404040"/>
                </a:solidFill>
              </a:rPr>
              <a:t>SAR 85.3</a:t>
            </a:r>
          </a:p>
        </p:txBody>
      </p:sp>
      <p:sp>
        <p:nvSpPr>
          <p:cNvPr id="19" name="Rectangle 18"/>
          <p:cNvSpPr/>
          <p:nvPr/>
        </p:nvSpPr>
        <p:spPr>
          <a:xfrm>
            <a:off x="3383280" y="1261872"/>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29000" y="1289304"/>
            <a:ext cx="1463040" cy="246888"/>
          </a:xfrm>
          <a:prstGeom prst="rect">
            <a:avLst/>
          </a:prstGeom>
          <a:noFill/>
        </p:spPr>
        <p:txBody>
          <a:bodyPr wrap="square">
            <a:spAutoFit/>
          </a:bodyPr>
          <a:lstStyle/>
          <a:p>
            <a:pPr algn="ctr"/>
            <a:r>
              <a:rPr sz="900" b="0" i="0">
                <a:solidFill>
                  <a:srgbClr val="404040"/>
                </a:solidFill>
              </a:rPr>
              <a:t>SAR 96.5</a:t>
            </a:r>
          </a:p>
        </p:txBody>
      </p:sp>
      <p:sp>
        <p:nvSpPr>
          <p:cNvPr id="21" name="Rectangle 20"/>
          <p:cNvSpPr/>
          <p:nvPr/>
        </p:nvSpPr>
        <p:spPr>
          <a:xfrm>
            <a:off x="4846320" y="1261872"/>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92040" y="1289304"/>
            <a:ext cx="1463040" cy="246888"/>
          </a:xfrm>
          <a:prstGeom prst="rect">
            <a:avLst/>
          </a:prstGeom>
          <a:noFill/>
        </p:spPr>
        <p:txBody>
          <a:bodyPr wrap="square">
            <a:spAutoFit/>
          </a:bodyPr>
          <a:lstStyle/>
          <a:p>
            <a:pPr algn="ctr"/>
            <a:r>
              <a:rPr sz="900" b="0" i="0">
                <a:solidFill>
                  <a:srgbClr val="404040"/>
                </a:solidFill>
              </a:rPr>
              <a:t>SAR 112.4</a:t>
            </a:r>
          </a:p>
        </p:txBody>
      </p:sp>
      <p:sp>
        <p:nvSpPr>
          <p:cNvPr id="23" name="Rectangle 22"/>
          <p:cNvSpPr/>
          <p:nvPr/>
        </p:nvSpPr>
        <p:spPr>
          <a:xfrm>
            <a:off x="6309360" y="1261872"/>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1289304"/>
            <a:ext cx="1463040" cy="246888"/>
          </a:xfrm>
          <a:prstGeom prst="rect">
            <a:avLst/>
          </a:prstGeom>
          <a:noFill/>
        </p:spPr>
        <p:txBody>
          <a:bodyPr wrap="square">
            <a:spAutoFit/>
          </a:bodyPr>
          <a:lstStyle/>
          <a:p>
            <a:pPr algn="ctr"/>
            <a:r>
              <a:rPr sz="900" b="0" i="0">
                <a:solidFill>
                  <a:srgbClr val="404040"/>
                </a:solidFill>
              </a:rPr>
              <a:t>SAR 136.7</a:t>
            </a:r>
          </a:p>
        </p:txBody>
      </p:sp>
      <p:sp>
        <p:nvSpPr>
          <p:cNvPr id="25" name="Rectangle 24"/>
          <p:cNvSpPr/>
          <p:nvPr/>
        </p:nvSpPr>
        <p:spPr>
          <a:xfrm>
            <a:off x="457200" y="1591055"/>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1618487"/>
            <a:ext cx="1463040" cy="246888"/>
          </a:xfrm>
          <a:prstGeom prst="rect">
            <a:avLst/>
          </a:prstGeom>
          <a:noFill/>
        </p:spPr>
        <p:txBody>
          <a:bodyPr wrap="square">
            <a:spAutoFit/>
          </a:bodyPr>
          <a:lstStyle/>
          <a:p>
            <a:pPr algn="l"/>
            <a:r>
              <a:rPr sz="900" b="0" i="0">
                <a:solidFill>
                  <a:srgbClr val="404040"/>
                </a:solidFill>
              </a:rPr>
              <a:t>WACC 9%</a:t>
            </a:r>
          </a:p>
        </p:txBody>
      </p:sp>
      <p:sp>
        <p:nvSpPr>
          <p:cNvPr id="27" name="Rectangle 26"/>
          <p:cNvSpPr/>
          <p:nvPr/>
        </p:nvSpPr>
        <p:spPr>
          <a:xfrm>
            <a:off x="1920240" y="1591055"/>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65960" y="1618487"/>
            <a:ext cx="1463040" cy="246888"/>
          </a:xfrm>
          <a:prstGeom prst="rect">
            <a:avLst/>
          </a:prstGeom>
          <a:noFill/>
        </p:spPr>
        <p:txBody>
          <a:bodyPr wrap="square">
            <a:spAutoFit/>
          </a:bodyPr>
          <a:lstStyle/>
          <a:p>
            <a:pPr algn="ctr"/>
            <a:r>
              <a:rPr sz="900" b="0" i="0">
                <a:solidFill>
                  <a:srgbClr val="404040"/>
                </a:solidFill>
              </a:rPr>
              <a:t>SAR 62.1</a:t>
            </a:r>
          </a:p>
        </p:txBody>
      </p:sp>
      <p:sp>
        <p:nvSpPr>
          <p:cNvPr id="29" name="Rectangle 28"/>
          <p:cNvSpPr/>
          <p:nvPr/>
        </p:nvSpPr>
        <p:spPr>
          <a:xfrm>
            <a:off x="3383280" y="1591055"/>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29000" y="1618487"/>
            <a:ext cx="1463040" cy="246888"/>
          </a:xfrm>
          <a:prstGeom prst="rect">
            <a:avLst/>
          </a:prstGeom>
          <a:noFill/>
        </p:spPr>
        <p:txBody>
          <a:bodyPr wrap="square">
            <a:spAutoFit/>
          </a:bodyPr>
          <a:lstStyle/>
          <a:p>
            <a:pPr algn="ctr"/>
            <a:r>
              <a:rPr sz="900" b="0" i="0">
                <a:solidFill>
                  <a:srgbClr val="404040"/>
                </a:solidFill>
              </a:rPr>
              <a:t>SAR 68.3</a:t>
            </a:r>
          </a:p>
        </p:txBody>
      </p:sp>
      <p:sp>
        <p:nvSpPr>
          <p:cNvPr id="31" name="Rectangle 30"/>
          <p:cNvSpPr/>
          <p:nvPr/>
        </p:nvSpPr>
        <p:spPr>
          <a:xfrm>
            <a:off x="4846320" y="1591055"/>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92040" y="1618487"/>
            <a:ext cx="1463040" cy="246888"/>
          </a:xfrm>
          <a:prstGeom prst="rect">
            <a:avLst/>
          </a:prstGeom>
          <a:noFill/>
        </p:spPr>
        <p:txBody>
          <a:bodyPr wrap="square">
            <a:spAutoFit/>
          </a:bodyPr>
          <a:lstStyle/>
          <a:p>
            <a:pPr algn="ctr"/>
            <a:r>
              <a:rPr sz="900" b="0" i="0">
                <a:solidFill>
                  <a:srgbClr val="404040"/>
                </a:solidFill>
              </a:rPr>
              <a:t>SAR 76.2</a:t>
            </a:r>
          </a:p>
        </p:txBody>
      </p:sp>
      <p:sp>
        <p:nvSpPr>
          <p:cNvPr id="33" name="Rectangle 32"/>
          <p:cNvSpPr/>
          <p:nvPr/>
        </p:nvSpPr>
        <p:spPr>
          <a:xfrm>
            <a:off x="6309360" y="1591055"/>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1618487"/>
            <a:ext cx="1463040" cy="246888"/>
          </a:xfrm>
          <a:prstGeom prst="rect">
            <a:avLst/>
          </a:prstGeom>
          <a:noFill/>
        </p:spPr>
        <p:txBody>
          <a:bodyPr wrap="square">
            <a:spAutoFit/>
          </a:bodyPr>
          <a:lstStyle/>
          <a:p>
            <a:pPr algn="ctr"/>
            <a:r>
              <a:rPr sz="900" b="0" i="0">
                <a:solidFill>
                  <a:srgbClr val="404040"/>
                </a:solidFill>
              </a:rPr>
              <a:t>SAR 86.5</a:t>
            </a:r>
          </a:p>
        </p:txBody>
      </p:sp>
      <p:sp>
        <p:nvSpPr>
          <p:cNvPr id="35" name="Rectangle 34"/>
          <p:cNvSpPr/>
          <p:nvPr/>
        </p:nvSpPr>
        <p:spPr>
          <a:xfrm>
            <a:off x="457200" y="1920239"/>
            <a:ext cx="1463040" cy="301752"/>
          </a:xfrm>
          <a:prstGeom prst="rect">
            <a:avLst/>
          </a:prstGeom>
          <a:solidFill>
            <a:srgbClr val="DEEA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1947671"/>
            <a:ext cx="1463040" cy="246888"/>
          </a:xfrm>
          <a:prstGeom prst="rect">
            <a:avLst/>
          </a:prstGeom>
          <a:noFill/>
        </p:spPr>
        <p:txBody>
          <a:bodyPr wrap="square">
            <a:spAutoFit/>
          </a:bodyPr>
          <a:lstStyle/>
          <a:p>
            <a:pPr algn="l"/>
            <a:r>
              <a:rPr sz="900" b="1" i="0">
                <a:solidFill>
                  <a:srgbClr val="1F3864"/>
                </a:solidFill>
              </a:rPr>
              <a:t>WACC 10%</a:t>
            </a:r>
          </a:p>
        </p:txBody>
      </p:sp>
      <p:sp>
        <p:nvSpPr>
          <p:cNvPr id="37" name="Rectangle 36"/>
          <p:cNvSpPr/>
          <p:nvPr/>
        </p:nvSpPr>
        <p:spPr>
          <a:xfrm>
            <a:off x="1920240" y="1920239"/>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65960" y="1947671"/>
            <a:ext cx="1463040" cy="246888"/>
          </a:xfrm>
          <a:prstGeom prst="rect">
            <a:avLst/>
          </a:prstGeom>
          <a:noFill/>
        </p:spPr>
        <p:txBody>
          <a:bodyPr wrap="square">
            <a:spAutoFit/>
          </a:bodyPr>
          <a:lstStyle/>
          <a:p>
            <a:pPr algn="ctr"/>
            <a:r>
              <a:rPr sz="900" b="0" i="0">
                <a:solidFill>
                  <a:srgbClr val="404040"/>
                </a:solidFill>
              </a:rPr>
              <a:t>SAR 48.8</a:t>
            </a:r>
          </a:p>
        </p:txBody>
      </p:sp>
      <p:sp>
        <p:nvSpPr>
          <p:cNvPr id="39" name="Rectangle 38"/>
          <p:cNvSpPr/>
          <p:nvPr/>
        </p:nvSpPr>
        <p:spPr>
          <a:xfrm>
            <a:off x="3383280" y="1920239"/>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29000" y="1947671"/>
            <a:ext cx="1463040" cy="246888"/>
          </a:xfrm>
          <a:prstGeom prst="rect">
            <a:avLst/>
          </a:prstGeom>
          <a:noFill/>
        </p:spPr>
        <p:txBody>
          <a:bodyPr wrap="square">
            <a:spAutoFit/>
          </a:bodyPr>
          <a:lstStyle/>
          <a:p>
            <a:pPr algn="ctr"/>
            <a:r>
              <a:rPr sz="900" b="0" i="0">
                <a:solidFill>
                  <a:srgbClr val="404040"/>
                </a:solidFill>
              </a:rPr>
              <a:t>SAR 52.6</a:t>
            </a:r>
          </a:p>
        </p:txBody>
      </p:sp>
      <p:sp>
        <p:nvSpPr>
          <p:cNvPr id="41" name="Rectangle 40"/>
          <p:cNvSpPr/>
          <p:nvPr/>
        </p:nvSpPr>
        <p:spPr>
          <a:xfrm>
            <a:off x="4846320" y="1920239"/>
            <a:ext cx="1463040" cy="301752"/>
          </a:xfrm>
          <a:prstGeom prst="rect">
            <a:avLst/>
          </a:prstGeom>
          <a:solidFill>
            <a:srgbClr val="CCF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2040" y="1947671"/>
            <a:ext cx="1463040" cy="246888"/>
          </a:xfrm>
          <a:prstGeom prst="rect">
            <a:avLst/>
          </a:prstGeom>
          <a:noFill/>
        </p:spPr>
        <p:txBody>
          <a:bodyPr wrap="square">
            <a:spAutoFit/>
          </a:bodyPr>
          <a:lstStyle/>
          <a:p>
            <a:pPr algn="ctr"/>
            <a:r>
              <a:rPr sz="900" b="1" i="0">
                <a:solidFill>
                  <a:srgbClr val="007030"/>
                </a:solidFill>
              </a:rPr>
              <a:t>SAR 57.3</a:t>
            </a:r>
          </a:p>
        </p:txBody>
      </p:sp>
      <p:sp>
        <p:nvSpPr>
          <p:cNvPr id="43" name="Rectangle 42"/>
          <p:cNvSpPr/>
          <p:nvPr/>
        </p:nvSpPr>
        <p:spPr>
          <a:xfrm>
            <a:off x="6309360" y="1920239"/>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1947671"/>
            <a:ext cx="1463040" cy="246888"/>
          </a:xfrm>
          <a:prstGeom prst="rect">
            <a:avLst/>
          </a:prstGeom>
          <a:noFill/>
        </p:spPr>
        <p:txBody>
          <a:bodyPr wrap="square">
            <a:spAutoFit/>
          </a:bodyPr>
          <a:lstStyle/>
          <a:p>
            <a:pPr algn="ctr"/>
            <a:r>
              <a:rPr sz="900" b="0" i="0">
                <a:solidFill>
                  <a:srgbClr val="404040"/>
                </a:solidFill>
              </a:rPr>
              <a:t>SAR 63.6</a:t>
            </a:r>
          </a:p>
        </p:txBody>
      </p:sp>
      <p:sp>
        <p:nvSpPr>
          <p:cNvPr id="45" name="Rectangle 44"/>
          <p:cNvSpPr/>
          <p:nvPr/>
        </p:nvSpPr>
        <p:spPr>
          <a:xfrm>
            <a:off x="457200" y="2249424"/>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2276856"/>
            <a:ext cx="1463040" cy="246888"/>
          </a:xfrm>
          <a:prstGeom prst="rect">
            <a:avLst/>
          </a:prstGeom>
          <a:noFill/>
        </p:spPr>
        <p:txBody>
          <a:bodyPr wrap="square">
            <a:spAutoFit/>
          </a:bodyPr>
          <a:lstStyle/>
          <a:p>
            <a:pPr algn="l"/>
            <a:r>
              <a:rPr sz="900" b="0" i="0">
                <a:solidFill>
                  <a:srgbClr val="404040"/>
                </a:solidFill>
              </a:rPr>
              <a:t>WACC 11%</a:t>
            </a:r>
          </a:p>
        </p:txBody>
      </p:sp>
      <p:sp>
        <p:nvSpPr>
          <p:cNvPr id="47" name="Rectangle 46"/>
          <p:cNvSpPr/>
          <p:nvPr/>
        </p:nvSpPr>
        <p:spPr>
          <a:xfrm>
            <a:off x="1920240" y="2249424"/>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65960" y="2276856"/>
            <a:ext cx="1463040" cy="246888"/>
          </a:xfrm>
          <a:prstGeom prst="rect">
            <a:avLst/>
          </a:prstGeom>
          <a:noFill/>
        </p:spPr>
        <p:txBody>
          <a:bodyPr wrap="square">
            <a:spAutoFit/>
          </a:bodyPr>
          <a:lstStyle/>
          <a:p>
            <a:pPr algn="ctr"/>
            <a:r>
              <a:rPr sz="900" b="0" i="0">
                <a:solidFill>
                  <a:srgbClr val="404040"/>
                </a:solidFill>
              </a:rPr>
              <a:t>SAR 40.0</a:t>
            </a:r>
          </a:p>
        </p:txBody>
      </p:sp>
      <p:sp>
        <p:nvSpPr>
          <p:cNvPr id="49" name="Rectangle 48"/>
          <p:cNvSpPr/>
          <p:nvPr/>
        </p:nvSpPr>
        <p:spPr>
          <a:xfrm>
            <a:off x="3383280" y="2249424"/>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29000" y="2276856"/>
            <a:ext cx="1463040" cy="246888"/>
          </a:xfrm>
          <a:prstGeom prst="rect">
            <a:avLst/>
          </a:prstGeom>
          <a:noFill/>
        </p:spPr>
        <p:txBody>
          <a:bodyPr wrap="square">
            <a:spAutoFit/>
          </a:bodyPr>
          <a:lstStyle/>
          <a:p>
            <a:pPr algn="ctr"/>
            <a:r>
              <a:rPr sz="900" b="0" i="0">
                <a:solidFill>
                  <a:srgbClr val="404040"/>
                </a:solidFill>
              </a:rPr>
              <a:t>SAR 42.6</a:t>
            </a:r>
          </a:p>
        </p:txBody>
      </p:sp>
      <p:sp>
        <p:nvSpPr>
          <p:cNvPr id="51" name="Rectangle 50"/>
          <p:cNvSpPr/>
          <p:nvPr/>
        </p:nvSpPr>
        <p:spPr>
          <a:xfrm>
            <a:off x="4846320" y="2249424"/>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92040" y="2276856"/>
            <a:ext cx="1463040" cy="246888"/>
          </a:xfrm>
          <a:prstGeom prst="rect">
            <a:avLst/>
          </a:prstGeom>
          <a:noFill/>
        </p:spPr>
        <p:txBody>
          <a:bodyPr wrap="square">
            <a:spAutoFit/>
          </a:bodyPr>
          <a:lstStyle/>
          <a:p>
            <a:pPr algn="ctr"/>
            <a:r>
              <a:rPr sz="900" b="0" i="0">
                <a:solidFill>
                  <a:srgbClr val="404040"/>
                </a:solidFill>
              </a:rPr>
              <a:t>SAR 45.7</a:t>
            </a:r>
          </a:p>
        </p:txBody>
      </p:sp>
      <p:sp>
        <p:nvSpPr>
          <p:cNvPr id="53" name="Rectangle 52"/>
          <p:cNvSpPr/>
          <p:nvPr/>
        </p:nvSpPr>
        <p:spPr>
          <a:xfrm>
            <a:off x="6309360" y="2249424"/>
            <a:ext cx="14630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55080" y="2276856"/>
            <a:ext cx="1463040" cy="246888"/>
          </a:xfrm>
          <a:prstGeom prst="rect">
            <a:avLst/>
          </a:prstGeom>
          <a:noFill/>
        </p:spPr>
        <p:txBody>
          <a:bodyPr wrap="square">
            <a:spAutoFit/>
          </a:bodyPr>
          <a:lstStyle/>
          <a:p>
            <a:pPr algn="ctr"/>
            <a:r>
              <a:rPr sz="900" b="0" i="0">
                <a:solidFill>
                  <a:srgbClr val="404040"/>
                </a:solidFill>
              </a:rPr>
              <a:t>SAR 49.4</a:t>
            </a:r>
          </a:p>
        </p:txBody>
      </p:sp>
      <p:sp>
        <p:nvSpPr>
          <p:cNvPr id="55" name="Rectangle 54"/>
          <p:cNvSpPr/>
          <p:nvPr/>
        </p:nvSpPr>
        <p:spPr>
          <a:xfrm>
            <a:off x="457200" y="2578608"/>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2920" y="2606040"/>
            <a:ext cx="1463040" cy="246888"/>
          </a:xfrm>
          <a:prstGeom prst="rect">
            <a:avLst/>
          </a:prstGeom>
          <a:noFill/>
        </p:spPr>
        <p:txBody>
          <a:bodyPr wrap="square">
            <a:spAutoFit/>
          </a:bodyPr>
          <a:lstStyle/>
          <a:p>
            <a:pPr algn="l"/>
            <a:r>
              <a:rPr sz="900" b="0" i="0">
                <a:solidFill>
                  <a:srgbClr val="404040"/>
                </a:solidFill>
              </a:rPr>
              <a:t>WACC 12%</a:t>
            </a:r>
          </a:p>
        </p:txBody>
      </p:sp>
      <p:sp>
        <p:nvSpPr>
          <p:cNvPr id="57" name="Rectangle 56"/>
          <p:cNvSpPr/>
          <p:nvPr/>
        </p:nvSpPr>
        <p:spPr>
          <a:xfrm>
            <a:off x="1920240" y="2578608"/>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965960" y="2606040"/>
            <a:ext cx="1463040" cy="246888"/>
          </a:xfrm>
          <a:prstGeom prst="rect">
            <a:avLst/>
          </a:prstGeom>
          <a:noFill/>
        </p:spPr>
        <p:txBody>
          <a:bodyPr wrap="square">
            <a:spAutoFit/>
          </a:bodyPr>
          <a:lstStyle/>
          <a:p>
            <a:pPr algn="ctr"/>
            <a:r>
              <a:rPr sz="900" b="0" i="0">
                <a:solidFill>
                  <a:srgbClr val="404040"/>
                </a:solidFill>
              </a:rPr>
              <a:t>SAR 33.8</a:t>
            </a:r>
          </a:p>
        </p:txBody>
      </p:sp>
      <p:sp>
        <p:nvSpPr>
          <p:cNvPr id="59" name="Rectangle 58"/>
          <p:cNvSpPr/>
          <p:nvPr/>
        </p:nvSpPr>
        <p:spPr>
          <a:xfrm>
            <a:off x="3383280" y="2578608"/>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29000" y="2606040"/>
            <a:ext cx="1463040" cy="246888"/>
          </a:xfrm>
          <a:prstGeom prst="rect">
            <a:avLst/>
          </a:prstGeom>
          <a:noFill/>
        </p:spPr>
        <p:txBody>
          <a:bodyPr wrap="square">
            <a:spAutoFit/>
          </a:bodyPr>
          <a:lstStyle/>
          <a:p>
            <a:pPr algn="ctr"/>
            <a:r>
              <a:rPr sz="900" b="0" i="0">
                <a:solidFill>
                  <a:srgbClr val="404040"/>
                </a:solidFill>
              </a:rPr>
              <a:t>SAR 35.6</a:t>
            </a:r>
          </a:p>
        </p:txBody>
      </p:sp>
      <p:sp>
        <p:nvSpPr>
          <p:cNvPr id="61" name="Rectangle 60"/>
          <p:cNvSpPr/>
          <p:nvPr/>
        </p:nvSpPr>
        <p:spPr>
          <a:xfrm>
            <a:off x="4846320" y="2578608"/>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92040" y="2606040"/>
            <a:ext cx="1463040" cy="246888"/>
          </a:xfrm>
          <a:prstGeom prst="rect">
            <a:avLst/>
          </a:prstGeom>
          <a:noFill/>
        </p:spPr>
        <p:txBody>
          <a:bodyPr wrap="square">
            <a:spAutoFit/>
          </a:bodyPr>
          <a:lstStyle/>
          <a:p>
            <a:pPr algn="ctr"/>
            <a:r>
              <a:rPr sz="900" b="0" i="0">
                <a:solidFill>
                  <a:srgbClr val="404040"/>
                </a:solidFill>
              </a:rPr>
              <a:t>SAR 37.7</a:t>
            </a:r>
          </a:p>
        </p:txBody>
      </p:sp>
      <p:sp>
        <p:nvSpPr>
          <p:cNvPr id="63" name="Rectangle 62"/>
          <p:cNvSpPr/>
          <p:nvPr/>
        </p:nvSpPr>
        <p:spPr>
          <a:xfrm>
            <a:off x="6309360" y="2578608"/>
            <a:ext cx="146304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55080" y="2606040"/>
            <a:ext cx="1463040" cy="246888"/>
          </a:xfrm>
          <a:prstGeom prst="rect">
            <a:avLst/>
          </a:prstGeom>
          <a:noFill/>
        </p:spPr>
        <p:txBody>
          <a:bodyPr wrap="square">
            <a:spAutoFit/>
          </a:bodyPr>
          <a:lstStyle/>
          <a:p>
            <a:pPr algn="ctr"/>
            <a:r>
              <a:rPr sz="900" b="0" i="0">
                <a:solidFill>
                  <a:srgbClr val="404040"/>
                </a:solidFill>
              </a:rPr>
              <a:t>SAR 40.2</a:t>
            </a:r>
          </a:p>
        </p:txBody>
      </p:sp>
      <p:sp>
        <p:nvSpPr>
          <p:cNvPr id="65" name="TextBox 64"/>
          <p:cNvSpPr txBox="1"/>
          <p:nvPr/>
        </p:nvSpPr>
        <p:spPr>
          <a:xfrm>
            <a:off x="274320" y="3200400"/>
            <a:ext cx="8595360" cy="320040"/>
          </a:xfrm>
          <a:prstGeom prst="rect">
            <a:avLst/>
          </a:prstGeom>
          <a:noFill/>
        </p:spPr>
        <p:txBody>
          <a:bodyPr wrap="square">
            <a:spAutoFit/>
          </a:bodyPr>
          <a:lstStyle/>
          <a:p>
            <a:pPr algn="l"/>
            <a:r>
              <a:rPr sz="1400" b="1" i="0">
                <a:solidFill>
                  <a:srgbClr val="1F3864"/>
                </a:solidFill>
              </a:rPr>
              <a:t>Equity Bridge (Base Case: WACC 10%, g 4.5%)</a:t>
            </a:r>
          </a:p>
        </p:txBody>
      </p:sp>
      <p:sp>
        <p:nvSpPr>
          <p:cNvPr id="66" name="TextBox 65"/>
          <p:cNvSpPr txBox="1"/>
          <p:nvPr/>
        </p:nvSpPr>
        <p:spPr>
          <a:xfrm>
            <a:off x="457200" y="3611880"/>
            <a:ext cx="2743200" cy="256032"/>
          </a:xfrm>
          <a:prstGeom prst="rect">
            <a:avLst/>
          </a:prstGeom>
          <a:noFill/>
        </p:spPr>
        <p:txBody>
          <a:bodyPr wrap="square">
            <a:spAutoFit/>
          </a:bodyPr>
          <a:lstStyle/>
          <a:p>
            <a:pPr algn="l"/>
            <a:r>
              <a:rPr sz="900" b="0" i="0">
                <a:solidFill>
                  <a:srgbClr val="404040"/>
                </a:solidFill>
              </a:rPr>
              <a:t>PV of FCFF (FY2026–30)</a:t>
            </a:r>
          </a:p>
        </p:txBody>
      </p:sp>
      <p:sp>
        <p:nvSpPr>
          <p:cNvPr id="67" name="TextBox 66"/>
          <p:cNvSpPr txBox="1"/>
          <p:nvPr/>
        </p:nvSpPr>
        <p:spPr>
          <a:xfrm>
            <a:off x="3291840" y="3611880"/>
            <a:ext cx="1645920" cy="256032"/>
          </a:xfrm>
          <a:prstGeom prst="rect">
            <a:avLst/>
          </a:prstGeom>
          <a:noFill/>
        </p:spPr>
        <p:txBody>
          <a:bodyPr wrap="square">
            <a:spAutoFit/>
          </a:bodyPr>
          <a:lstStyle/>
          <a:p>
            <a:pPr algn="r"/>
            <a:r>
              <a:rPr sz="900" b="0" i="0">
                <a:solidFill>
                  <a:srgbClr val="404040"/>
                </a:solidFill>
              </a:rPr>
              <a:t>SAR 2,559M</a:t>
            </a:r>
          </a:p>
        </p:txBody>
      </p:sp>
      <p:sp>
        <p:nvSpPr>
          <p:cNvPr id="68" name="TextBox 67"/>
          <p:cNvSpPr txBox="1"/>
          <p:nvPr/>
        </p:nvSpPr>
        <p:spPr>
          <a:xfrm>
            <a:off x="5029200" y="3611880"/>
            <a:ext cx="3657600" cy="256032"/>
          </a:xfrm>
          <a:prstGeom prst="rect">
            <a:avLst/>
          </a:prstGeom>
          <a:noFill/>
        </p:spPr>
        <p:txBody>
          <a:bodyPr wrap="square">
            <a:spAutoFit/>
          </a:bodyPr>
          <a:lstStyle/>
          <a:p>
            <a:pPr algn="l"/>
            <a:r>
              <a:rPr sz="800" b="0" i="1">
                <a:solidFill>
                  <a:srgbClr val="808080"/>
                </a:solidFill>
              </a:rPr>
              <a:t>Sum of discounted cash flows</a:t>
            </a:r>
          </a:p>
        </p:txBody>
      </p:sp>
      <p:sp>
        <p:nvSpPr>
          <p:cNvPr id="69" name="TextBox 68"/>
          <p:cNvSpPr txBox="1"/>
          <p:nvPr/>
        </p:nvSpPr>
        <p:spPr>
          <a:xfrm>
            <a:off x="457200" y="3895344"/>
            <a:ext cx="2743200" cy="256032"/>
          </a:xfrm>
          <a:prstGeom prst="rect">
            <a:avLst/>
          </a:prstGeom>
          <a:noFill/>
        </p:spPr>
        <p:txBody>
          <a:bodyPr wrap="square">
            <a:spAutoFit/>
          </a:bodyPr>
          <a:lstStyle/>
          <a:p>
            <a:pPr algn="l"/>
            <a:r>
              <a:rPr sz="900" b="0" i="0">
                <a:solidFill>
                  <a:srgbClr val="404040"/>
                </a:solidFill>
              </a:rPr>
              <a:t>PV of Terminal Value</a:t>
            </a:r>
          </a:p>
        </p:txBody>
      </p:sp>
      <p:sp>
        <p:nvSpPr>
          <p:cNvPr id="70" name="TextBox 69"/>
          <p:cNvSpPr txBox="1"/>
          <p:nvPr/>
        </p:nvSpPr>
        <p:spPr>
          <a:xfrm>
            <a:off x="3291840" y="3895344"/>
            <a:ext cx="1645920" cy="256032"/>
          </a:xfrm>
          <a:prstGeom prst="rect">
            <a:avLst/>
          </a:prstGeom>
          <a:noFill/>
        </p:spPr>
        <p:txBody>
          <a:bodyPr wrap="square">
            <a:spAutoFit/>
          </a:bodyPr>
          <a:lstStyle/>
          <a:p>
            <a:pPr algn="r"/>
            <a:r>
              <a:rPr sz="900" b="0" i="0">
                <a:solidFill>
                  <a:srgbClr val="404040"/>
                </a:solidFill>
              </a:rPr>
              <a:t>SAR 12,511M</a:t>
            </a:r>
          </a:p>
        </p:txBody>
      </p:sp>
      <p:sp>
        <p:nvSpPr>
          <p:cNvPr id="71" name="TextBox 70"/>
          <p:cNvSpPr txBox="1"/>
          <p:nvPr/>
        </p:nvSpPr>
        <p:spPr>
          <a:xfrm>
            <a:off x="5029200" y="3895344"/>
            <a:ext cx="3657600" cy="256032"/>
          </a:xfrm>
          <a:prstGeom prst="rect">
            <a:avLst/>
          </a:prstGeom>
          <a:noFill/>
        </p:spPr>
        <p:txBody>
          <a:bodyPr wrap="square">
            <a:spAutoFit/>
          </a:bodyPr>
          <a:lstStyle/>
          <a:p>
            <a:pPr algn="l"/>
            <a:r>
              <a:rPr sz="800" b="0" i="1">
                <a:solidFill>
                  <a:srgbClr val="808080"/>
                </a:solidFill>
              </a:rPr>
              <a:t>TV / (1+WACC)^5</a:t>
            </a:r>
          </a:p>
        </p:txBody>
      </p:sp>
      <p:sp>
        <p:nvSpPr>
          <p:cNvPr id="72" name="TextBox 71"/>
          <p:cNvSpPr txBox="1"/>
          <p:nvPr/>
        </p:nvSpPr>
        <p:spPr>
          <a:xfrm>
            <a:off x="457200" y="4178808"/>
            <a:ext cx="2743200" cy="256032"/>
          </a:xfrm>
          <a:prstGeom prst="rect">
            <a:avLst/>
          </a:prstGeom>
          <a:noFill/>
        </p:spPr>
        <p:txBody>
          <a:bodyPr wrap="square">
            <a:spAutoFit/>
          </a:bodyPr>
          <a:lstStyle/>
          <a:p>
            <a:pPr algn="l"/>
            <a:r>
              <a:rPr sz="900" b="1" i="0">
                <a:solidFill>
                  <a:srgbClr val="404040"/>
                </a:solidFill>
              </a:rPr>
              <a:t>Enterprise Value</a:t>
            </a:r>
          </a:p>
        </p:txBody>
      </p:sp>
      <p:sp>
        <p:nvSpPr>
          <p:cNvPr id="73" name="TextBox 72"/>
          <p:cNvSpPr txBox="1"/>
          <p:nvPr/>
        </p:nvSpPr>
        <p:spPr>
          <a:xfrm>
            <a:off x="3291840" y="4178808"/>
            <a:ext cx="1645920" cy="256032"/>
          </a:xfrm>
          <a:prstGeom prst="rect">
            <a:avLst/>
          </a:prstGeom>
          <a:noFill/>
        </p:spPr>
        <p:txBody>
          <a:bodyPr wrap="square">
            <a:spAutoFit/>
          </a:bodyPr>
          <a:lstStyle/>
          <a:p>
            <a:pPr algn="r"/>
            <a:r>
              <a:rPr sz="900" b="1" i="0">
                <a:solidFill>
                  <a:srgbClr val="404040"/>
                </a:solidFill>
              </a:rPr>
              <a:t>SAR 15,070M</a:t>
            </a:r>
          </a:p>
        </p:txBody>
      </p:sp>
      <p:sp>
        <p:nvSpPr>
          <p:cNvPr id="74" name="TextBox 73"/>
          <p:cNvSpPr txBox="1"/>
          <p:nvPr/>
        </p:nvSpPr>
        <p:spPr>
          <a:xfrm>
            <a:off x="5029200" y="4178808"/>
            <a:ext cx="3657600" cy="256032"/>
          </a:xfrm>
          <a:prstGeom prst="rect">
            <a:avLst/>
          </a:prstGeom>
          <a:noFill/>
        </p:spPr>
        <p:txBody>
          <a:bodyPr wrap="square">
            <a:spAutoFit/>
          </a:bodyPr>
          <a:lstStyle/>
          <a:p>
            <a:pPr algn="l"/>
            <a:r>
              <a:rPr sz="800" b="0" i="1">
                <a:solidFill>
                  <a:srgbClr val="808080"/>
                </a:solidFill>
              </a:rPr>
              <a:t>PV FCF + PV TV</a:t>
            </a:r>
          </a:p>
        </p:txBody>
      </p:sp>
      <p:sp>
        <p:nvSpPr>
          <p:cNvPr id="75" name="TextBox 74"/>
          <p:cNvSpPr txBox="1"/>
          <p:nvPr/>
        </p:nvSpPr>
        <p:spPr>
          <a:xfrm>
            <a:off x="457200" y="4462272"/>
            <a:ext cx="2743200" cy="256032"/>
          </a:xfrm>
          <a:prstGeom prst="rect">
            <a:avLst/>
          </a:prstGeom>
          <a:noFill/>
        </p:spPr>
        <p:txBody>
          <a:bodyPr wrap="square">
            <a:spAutoFit/>
          </a:bodyPr>
          <a:lstStyle/>
          <a:p>
            <a:pPr algn="l"/>
            <a:r>
              <a:rPr sz="900" b="0" i="0">
                <a:solidFill>
                  <a:srgbClr val="404040"/>
                </a:solidFill>
              </a:rPr>
              <a:t>+ Cash &amp; ST investments</a:t>
            </a:r>
          </a:p>
        </p:txBody>
      </p:sp>
      <p:sp>
        <p:nvSpPr>
          <p:cNvPr id="76" name="TextBox 75"/>
          <p:cNvSpPr txBox="1"/>
          <p:nvPr/>
        </p:nvSpPr>
        <p:spPr>
          <a:xfrm>
            <a:off x="3291840" y="4462272"/>
            <a:ext cx="1645920" cy="256032"/>
          </a:xfrm>
          <a:prstGeom prst="rect">
            <a:avLst/>
          </a:prstGeom>
          <a:noFill/>
        </p:spPr>
        <p:txBody>
          <a:bodyPr wrap="square">
            <a:spAutoFit/>
          </a:bodyPr>
          <a:lstStyle/>
          <a:p>
            <a:pPr algn="r"/>
            <a:r>
              <a:rPr sz="900" b="0" i="0">
                <a:solidFill>
                  <a:srgbClr val="404040"/>
                </a:solidFill>
              </a:rPr>
              <a:t>SAR 1,352M</a:t>
            </a:r>
          </a:p>
        </p:txBody>
      </p:sp>
      <p:sp>
        <p:nvSpPr>
          <p:cNvPr id="77" name="TextBox 76"/>
          <p:cNvSpPr txBox="1"/>
          <p:nvPr/>
        </p:nvSpPr>
        <p:spPr>
          <a:xfrm>
            <a:off x="457200" y="4745736"/>
            <a:ext cx="2743200" cy="256032"/>
          </a:xfrm>
          <a:prstGeom prst="rect">
            <a:avLst/>
          </a:prstGeom>
          <a:noFill/>
        </p:spPr>
        <p:txBody>
          <a:bodyPr wrap="square">
            <a:spAutoFit/>
          </a:bodyPr>
          <a:lstStyle/>
          <a:p>
            <a:pPr algn="l"/>
            <a:r>
              <a:rPr sz="900" b="0" i="0">
                <a:solidFill>
                  <a:srgbClr val="404040"/>
                </a:solidFill>
              </a:rPr>
              <a:t>− Total debt</a:t>
            </a:r>
          </a:p>
        </p:txBody>
      </p:sp>
      <p:sp>
        <p:nvSpPr>
          <p:cNvPr id="78" name="TextBox 77"/>
          <p:cNvSpPr txBox="1"/>
          <p:nvPr/>
        </p:nvSpPr>
        <p:spPr>
          <a:xfrm>
            <a:off x="3291840" y="4745736"/>
            <a:ext cx="1645920" cy="256032"/>
          </a:xfrm>
          <a:prstGeom prst="rect">
            <a:avLst/>
          </a:prstGeom>
          <a:noFill/>
        </p:spPr>
        <p:txBody>
          <a:bodyPr wrap="square">
            <a:spAutoFit/>
          </a:bodyPr>
          <a:lstStyle/>
          <a:p>
            <a:pPr algn="r"/>
            <a:r>
              <a:rPr sz="900" b="0" i="0">
                <a:solidFill>
                  <a:srgbClr val="404040"/>
                </a:solidFill>
              </a:rPr>
              <a:t>SAR (121M)</a:t>
            </a:r>
          </a:p>
        </p:txBody>
      </p:sp>
      <p:sp>
        <p:nvSpPr>
          <p:cNvPr id="79" name="TextBox 78"/>
          <p:cNvSpPr txBox="1"/>
          <p:nvPr/>
        </p:nvSpPr>
        <p:spPr>
          <a:xfrm>
            <a:off x="457200" y="5029200"/>
            <a:ext cx="2743200" cy="256032"/>
          </a:xfrm>
          <a:prstGeom prst="rect">
            <a:avLst/>
          </a:prstGeom>
          <a:noFill/>
        </p:spPr>
        <p:txBody>
          <a:bodyPr wrap="square">
            <a:spAutoFit/>
          </a:bodyPr>
          <a:lstStyle/>
          <a:p>
            <a:pPr algn="l"/>
            <a:r>
              <a:rPr sz="900" b="0" i="0">
                <a:solidFill>
                  <a:srgbClr val="404040"/>
                </a:solidFill>
              </a:rPr>
              <a:t>− Minority interest</a:t>
            </a:r>
          </a:p>
        </p:txBody>
      </p:sp>
      <p:sp>
        <p:nvSpPr>
          <p:cNvPr id="80" name="TextBox 79"/>
          <p:cNvSpPr txBox="1"/>
          <p:nvPr/>
        </p:nvSpPr>
        <p:spPr>
          <a:xfrm>
            <a:off x="3291840" y="5029200"/>
            <a:ext cx="1645920" cy="256032"/>
          </a:xfrm>
          <a:prstGeom prst="rect">
            <a:avLst/>
          </a:prstGeom>
          <a:noFill/>
        </p:spPr>
        <p:txBody>
          <a:bodyPr wrap="square">
            <a:spAutoFit/>
          </a:bodyPr>
          <a:lstStyle/>
          <a:p>
            <a:pPr algn="r"/>
            <a:r>
              <a:rPr sz="900" b="0" i="0">
                <a:solidFill>
                  <a:srgbClr val="404040"/>
                </a:solidFill>
              </a:rPr>
              <a:t>SAR (70M)</a:t>
            </a:r>
          </a:p>
        </p:txBody>
      </p:sp>
      <p:sp>
        <p:nvSpPr>
          <p:cNvPr id="81" name="TextBox 80"/>
          <p:cNvSpPr txBox="1"/>
          <p:nvPr/>
        </p:nvSpPr>
        <p:spPr>
          <a:xfrm>
            <a:off x="457200" y="5312664"/>
            <a:ext cx="2743200" cy="256032"/>
          </a:xfrm>
          <a:prstGeom prst="rect">
            <a:avLst/>
          </a:prstGeom>
          <a:noFill/>
        </p:spPr>
        <p:txBody>
          <a:bodyPr wrap="square">
            <a:spAutoFit/>
          </a:bodyPr>
          <a:lstStyle/>
          <a:p>
            <a:pPr algn="l"/>
            <a:r>
              <a:rPr sz="900" b="1" i="0">
                <a:solidFill>
                  <a:srgbClr val="404040"/>
                </a:solidFill>
              </a:rPr>
              <a:t>Equity Value</a:t>
            </a:r>
          </a:p>
        </p:txBody>
      </p:sp>
      <p:sp>
        <p:nvSpPr>
          <p:cNvPr id="82" name="TextBox 81"/>
          <p:cNvSpPr txBox="1"/>
          <p:nvPr/>
        </p:nvSpPr>
        <p:spPr>
          <a:xfrm>
            <a:off x="3291840" y="5312664"/>
            <a:ext cx="1645920" cy="256032"/>
          </a:xfrm>
          <a:prstGeom prst="rect">
            <a:avLst/>
          </a:prstGeom>
          <a:noFill/>
        </p:spPr>
        <p:txBody>
          <a:bodyPr wrap="square">
            <a:spAutoFit/>
          </a:bodyPr>
          <a:lstStyle/>
          <a:p>
            <a:pPr algn="r"/>
            <a:r>
              <a:rPr sz="900" b="1" i="0">
                <a:solidFill>
                  <a:srgbClr val="404040"/>
                </a:solidFill>
              </a:rPr>
              <a:t>SAR 16,231M</a:t>
            </a:r>
          </a:p>
        </p:txBody>
      </p:sp>
      <p:sp>
        <p:nvSpPr>
          <p:cNvPr id="83" name="TextBox 82"/>
          <p:cNvSpPr txBox="1"/>
          <p:nvPr/>
        </p:nvSpPr>
        <p:spPr>
          <a:xfrm>
            <a:off x="5029200" y="5312664"/>
            <a:ext cx="3657600" cy="256032"/>
          </a:xfrm>
          <a:prstGeom prst="rect">
            <a:avLst/>
          </a:prstGeom>
          <a:noFill/>
        </p:spPr>
        <p:txBody>
          <a:bodyPr wrap="square">
            <a:spAutoFit/>
          </a:bodyPr>
          <a:lstStyle/>
          <a:p>
            <a:pPr algn="l"/>
            <a:r>
              <a:rPr sz="800" b="0" i="1">
                <a:solidFill>
                  <a:srgbClr val="808080"/>
                </a:solidFill>
              </a:rPr>
              <a:t>Base case intrinsic value</a:t>
            </a:r>
          </a:p>
        </p:txBody>
      </p:sp>
      <p:sp>
        <p:nvSpPr>
          <p:cNvPr id="84" name="TextBox 83"/>
          <p:cNvSpPr txBox="1"/>
          <p:nvPr/>
        </p:nvSpPr>
        <p:spPr>
          <a:xfrm>
            <a:off x="457200" y="5596128"/>
            <a:ext cx="2743200" cy="256032"/>
          </a:xfrm>
          <a:prstGeom prst="rect">
            <a:avLst/>
          </a:prstGeom>
          <a:noFill/>
        </p:spPr>
        <p:txBody>
          <a:bodyPr wrap="square">
            <a:spAutoFit/>
          </a:bodyPr>
          <a:lstStyle/>
          <a:p>
            <a:pPr algn="l"/>
            <a:r>
              <a:rPr sz="900" b="0" i="0">
                <a:solidFill>
                  <a:srgbClr val="404040"/>
                </a:solidFill>
              </a:rPr>
              <a:t>Shares outstanding</a:t>
            </a:r>
          </a:p>
        </p:txBody>
      </p:sp>
      <p:sp>
        <p:nvSpPr>
          <p:cNvPr id="85" name="TextBox 84"/>
          <p:cNvSpPr txBox="1"/>
          <p:nvPr/>
        </p:nvSpPr>
        <p:spPr>
          <a:xfrm>
            <a:off x="3291840" y="5596128"/>
            <a:ext cx="1645920" cy="256032"/>
          </a:xfrm>
          <a:prstGeom prst="rect">
            <a:avLst/>
          </a:prstGeom>
          <a:noFill/>
        </p:spPr>
        <p:txBody>
          <a:bodyPr wrap="square">
            <a:spAutoFit/>
          </a:bodyPr>
          <a:lstStyle/>
          <a:p>
            <a:pPr algn="r"/>
            <a:r>
              <a:rPr sz="900" b="0" i="0">
                <a:solidFill>
                  <a:srgbClr val="404040"/>
                </a:solidFill>
              </a:rPr>
              <a:t>332.5M</a:t>
            </a:r>
          </a:p>
        </p:txBody>
      </p:sp>
      <p:sp>
        <p:nvSpPr>
          <p:cNvPr id="86" name="TextBox 85"/>
          <p:cNvSpPr txBox="1"/>
          <p:nvPr/>
        </p:nvSpPr>
        <p:spPr>
          <a:xfrm>
            <a:off x="457200" y="5879592"/>
            <a:ext cx="2743200" cy="256032"/>
          </a:xfrm>
          <a:prstGeom prst="rect">
            <a:avLst/>
          </a:prstGeom>
          <a:noFill/>
        </p:spPr>
        <p:txBody>
          <a:bodyPr wrap="square">
            <a:spAutoFit/>
          </a:bodyPr>
          <a:lstStyle/>
          <a:p>
            <a:pPr algn="l"/>
            <a:r>
              <a:rPr sz="900" b="0" i="0">
                <a:solidFill>
                  <a:srgbClr val="404040"/>
                </a:solidFill>
              </a:rPr>
              <a:t>Implied share price</a:t>
            </a:r>
          </a:p>
        </p:txBody>
      </p:sp>
      <p:sp>
        <p:nvSpPr>
          <p:cNvPr id="87" name="TextBox 86"/>
          <p:cNvSpPr txBox="1"/>
          <p:nvPr/>
        </p:nvSpPr>
        <p:spPr>
          <a:xfrm>
            <a:off x="3291840" y="5879592"/>
            <a:ext cx="1645920" cy="256032"/>
          </a:xfrm>
          <a:prstGeom prst="rect">
            <a:avLst/>
          </a:prstGeom>
          <a:noFill/>
        </p:spPr>
        <p:txBody>
          <a:bodyPr wrap="square">
            <a:spAutoFit/>
          </a:bodyPr>
          <a:lstStyle/>
          <a:p>
            <a:pPr algn="r"/>
            <a:r>
              <a:rPr sz="900" b="1" i="0">
                <a:solidFill>
                  <a:srgbClr val="1F3864"/>
                </a:solidFill>
              </a:rPr>
              <a:t>SAR 48.8</a:t>
            </a:r>
          </a:p>
        </p:txBody>
      </p:sp>
      <p:sp>
        <p:nvSpPr>
          <p:cNvPr id="88" name="TextBox 87"/>
          <p:cNvSpPr txBox="1"/>
          <p:nvPr/>
        </p:nvSpPr>
        <p:spPr>
          <a:xfrm>
            <a:off x="5029200" y="5879592"/>
            <a:ext cx="3657600" cy="256032"/>
          </a:xfrm>
          <a:prstGeom prst="rect">
            <a:avLst/>
          </a:prstGeom>
          <a:noFill/>
        </p:spPr>
        <p:txBody>
          <a:bodyPr wrap="square">
            <a:spAutoFit/>
          </a:bodyPr>
          <a:lstStyle/>
          <a:p>
            <a:pPr algn="l"/>
            <a:r>
              <a:rPr sz="800" b="0" i="1">
                <a:solidFill>
                  <a:srgbClr val="808080"/>
                </a:solidFill>
              </a:rPr>
              <a:t>+86% to market</a:t>
            </a:r>
          </a:p>
        </p:txBody>
      </p:sp>
      <p:sp>
        <p:nvSpPr>
          <p:cNvPr id="89" name="TextBox 88"/>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90" name="TextBox 89"/>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COMPARABLE COMPANIES ANALYSIS</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Peer Group Multiples</a:t>
            </a:r>
          </a:p>
        </p:txBody>
      </p:sp>
      <p:sp>
        <p:nvSpPr>
          <p:cNvPr id="5" name="Rectangle 4"/>
          <p:cNvSpPr/>
          <p:nvPr/>
        </p:nvSpPr>
        <p:spPr>
          <a:xfrm>
            <a:off x="274320" y="960120"/>
            <a:ext cx="173736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978408"/>
            <a:ext cx="1737360" cy="219456"/>
          </a:xfrm>
          <a:prstGeom prst="rect">
            <a:avLst/>
          </a:prstGeom>
          <a:noFill/>
        </p:spPr>
        <p:txBody>
          <a:bodyPr wrap="square">
            <a:spAutoFit/>
          </a:bodyPr>
          <a:lstStyle/>
          <a:p>
            <a:pPr algn="ctr"/>
            <a:r>
              <a:rPr sz="900" b="1" i="0">
                <a:solidFill>
                  <a:srgbClr val="FFFFFF"/>
                </a:solidFill>
              </a:rPr>
              <a:t>Company</a:t>
            </a:r>
          </a:p>
        </p:txBody>
      </p:sp>
      <p:sp>
        <p:nvSpPr>
          <p:cNvPr id="7" name="Rectangle 6"/>
          <p:cNvSpPr/>
          <p:nvPr/>
        </p:nvSpPr>
        <p:spPr>
          <a:xfrm>
            <a:off x="2103120" y="960120"/>
            <a:ext cx="77724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40" y="978408"/>
            <a:ext cx="777240" cy="219456"/>
          </a:xfrm>
          <a:prstGeom prst="rect">
            <a:avLst/>
          </a:prstGeom>
          <a:noFill/>
        </p:spPr>
        <p:txBody>
          <a:bodyPr wrap="square">
            <a:spAutoFit/>
          </a:bodyPr>
          <a:lstStyle/>
          <a:p>
            <a:pPr algn="ctr"/>
            <a:r>
              <a:rPr sz="900" b="1" i="0">
                <a:solidFill>
                  <a:srgbClr val="FFFFFF"/>
                </a:solidFill>
              </a:rPr>
              <a:t>Ticker</a:t>
            </a:r>
          </a:p>
        </p:txBody>
      </p:sp>
      <p:sp>
        <p:nvSpPr>
          <p:cNvPr id="9" name="Rectangle 8"/>
          <p:cNvSpPr/>
          <p:nvPr/>
        </p:nvSpPr>
        <p:spPr>
          <a:xfrm>
            <a:off x="2926080" y="960120"/>
            <a:ext cx="77724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978408"/>
            <a:ext cx="777240" cy="219456"/>
          </a:xfrm>
          <a:prstGeom prst="rect">
            <a:avLst/>
          </a:prstGeom>
          <a:noFill/>
        </p:spPr>
        <p:txBody>
          <a:bodyPr wrap="square">
            <a:spAutoFit/>
          </a:bodyPr>
          <a:lstStyle/>
          <a:p>
            <a:pPr algn="ctr"/>
            <a:r>
              <a:rPr sz="900" b="1" i="0">
                <a:solidFill>
                  <a:srgbClr val="FFFFFF"/>
                </a:solidFill>
              </a:rPr>
              <a:t>Mkt Cap</a:t>
            </a:r>
          </a:p>
        </p:txBody>
      </p:sp>
      <p:sp>
        <p:nvSpPr>
          <p:cNvPr id="11" name="Rectangle 10"/>
          <p:cNvSpPr/>
          <p:nvPr/>
        </p:nvSpPr>
        <p:spPr>
          <a:xfrm>
            <a:off x="3840480" y="960120"/>
            <a:ext cx="82296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86200" y="978408"/>
            <a:ext cx="822960" cy="219456"/>
          </a:xfrm>
          <a:prstGeom prst="rect">
            <a:avLst/>
          </a:prstGeom>
          <a:noFill/>
        </p:spPr>
        <p:txBody>
          <a:bodyPr wrap="square">
            <a:spAutoFit/>
          </a:bodyPr>
          <a:lstStyle/>
          <a:p>
            <a:pPr algn="ctr"/>
            <a:r>
              <a:rPr sz="900" b="1" i="0">
                <a:solidFill>
                  <a:srgbClr val="FFFFFF"/>
                </a:solidFill>
              </a:rPr>
              <a:t>EV/EBITDA</a:t>
            </a:r>
          </a:p>
        </p:txBody>
      </p:sp>
      <p:sp>
        <p:nvSpPr>
          <p:cNvPr id="13" name="Rectangle 12"/>
          <p:cNvSpPr/>
          <p:nvPr/>
        </p:nvSpPr>
        <p:spPr>
          <a:xfrm>
            <a:off x="4754880" y="960120"/>
            <a:ext cx="82296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978408"/>
            <a:ext cx="822960" cy="219456"/>
          </a:xfrm>
          <a:prstGeom prst="rect">
            <a:avLst/>
          </a:prstGeom>
          <a:noFill/>
        </p:spPr>
        <p:txBody>
          <a:bodyPr wrap="square">
            <a:spAutoFit/>
          </a:bodyPr>
          <a:lstStyle/>
          <a:p>
            <a:pPr algn="ctr"/>
            <a:r>
              <a:rPr sz="900" b="1" i="0">
                <a:solidFill>
                  <a:srgbClr val="FFFFFF"/>
                </a:solidFill>
              </a:rPr>
              <a:t>EV/Rev</a:t>
            </a:r>
          </a:p>
        </p:txBody>
      </p:sp>
      <p:sp>
        <p:nvSpPr>
          <p:cNvPr id="15" name="Rectangle 14"/>
          <p:cNvSpPr/>
          <p:nvPr/>
        </p:nvSpPr>
        <p:spPr>
          <a:xfrm>
            <a:off x="5669280" y="960120"/>
            <a:ext cx="320040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5000" y="978408"/>
            <a:ext cx="3200400" cy="219456"/>
          </a:xfrm>
          <a:prstGeom prst="rect">
            <a:avLst/>
          </a:prstGeom>
          <a:noFill/>
        </p:spPr>
        <p:txBody>
          <a:bodyPr wrap="square">
            <a:spAutoFit/>
          </a:bodyPr>
          <a:lstStyle/>
          <a:p>
            <a:pPr algn="ctr"/>
            <a:r>
              <a:rPr sz="900" b="1" i="0">
                <a:solidFill>
                  <a:srgbClr val="FFFFFF"/>
                </a:solidFill>
              </a:rPr>
              <a:t>Notes</a:t>
            </a:r>
          </a:p>
        </p:txBody>
      </p:sp>
      <p:sp>
        <p:nvSpPr>
          <p:cNvPr id="17" name="Rectangle 16"/>
          <p:cNvSpPr/>
          <p:nvPr/>
        </p:nvSpPr>
        <p:spPr>
          <a:xfrm>
            <a:off x="274320" y="1243584"/>
            <a:ext cx="173736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1280160"/>
            <a:ext cx="1737360" cy="237744"/>
          </a:xfrm>
          <a:prstGeom prst="rect">
            <a:avLst/>
          </a:prstGeom>
          <a:noFill/>
        </p:spPr>
        <p:txBody>
          <a:bodyPr wrap="square">
            <a:spAutoFit/>
          </a:bodyPr>
          <a:lstStyle/>
          <a:p>
            <a:pPr algn="l"/>
            <a:r>
              <a:rPr sz="900" b="0" i="0">
                <a:solidFill>
                  <a:srgbClr val="404040"/>
                </a:solidFill>
              </a:rPr>
              <a:t>Netflix</a:t>
            </a:r>
          </a:p>
        </p:txBody>
      </p:sp>
      <p:sp>
        <p:nvSpPr>
          <p:cNvPr id="19" name="Rectangle 18"/>
          <p:cNvSpPr/>
          <p:nvPr/>
        </p:nvSpPr>
        <p:spPr>
          <a:xfrm>
            <a:off x="2103120" y="1243584"/>
            <a:ext cx="77724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48840" y="1280160"/>
            <a:ext cx="777240" cy="237744"/>
          </a:xfrm>
          <a:prstGeom prst="rect">
            <a:avLst/>
          </a:prstGeom>
          <a:noFill/>
        </p:spPr>
        <p:txBody>
          <a:bodyPr wrap="square">
            <a:spAutoFit/>
          </a:bodyPr>
          <a:lstStyle/>
          <a:p>
            <a:pPr algn="ctr"/>
            <a:r>
              <a:rPr sz="900" b="0" i="0">
                <a:solidFill>
                  <a:srgbClr val="404040"/>
                </a:solidFill>
              </a:rPr>
              <a:t>NFLX</a:t>
            </a:r>
          </a:p>
        </p:txBody>
      </p:sp>
      <p:sp>
        <p:nvSpPr>
          <p:cNvPr id="21" name="Rectangle 20"/>
          <p:cNvSpPr/>
          <p:nvPr/>
        </p:nvSpPr>
        <p:spPr>
          <a:xfrm>
            <a:off x="2926080" y="1243584"/>
            <a:ext cx="77724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1280160"/>
            <a:ext cx="777240" cy="237744"/>
          </a:xfrm>
          <a:prstGeom prst="rect">
            <a:avLst/>
          </a:prstGeom>
          <a:noFill/>
        </p:spPr>
        <p:txBody>
          <a:bodyPr wrap="square">
            <a:spAutoFit/>
          </a:bodyPr>
          <a:lstStyle/>
          <a:p>
            <a:pPr algn="ctr"/>
            <a:r>
              <a:rPr sz="900" b="0" i="0">
                <a:solidFill>
                  <a:srgbClr val="404040"/>
                </a:solidFill>
              </a:rPr>
              <a:t>$393B</a:t>
            </a:r>
          </a:p>
        </p:txBody>
      </p:sp>
      <p:sp>
        <p:nvSpPr>
          <p:cNvPr id="23" name="Rectangle 22"/>
          <p:cNvSpPr/>
          <p:nvPr/>
        </p:nvSpPr>
        <p:spPr>
          <a:xfrm>
            <a:off x="3840480" y="1243584"/>
            <a:ext cx="82296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86200" y="1280160"/>
            <a:ext cx="822960" cy="237744"/>
          </a:xfrm>
          <a:prstGeom prst="rect">
            <a:avLst/>
          </a:prstGeom>
          <a:noFill/>
        </p:spPr>
        <p:txBody>
          <a:bodyPr wrap="square">
            <a:spAutoFit/>
          </a:bodyPr>
          <a:lstStyle/>
          <a:p>
            <a:pPr algn="ctr"/>
            <a:r>
              <a:rPr sz="900" b="0" i="0">
                <a:solidFill>
                  <a:srgbClr val="404040"/>
                </a:solidFill>
              </a:rPr>
              <a:t>26.3x</a:t>
            </a:r>
          </a:p>
        </p:txBody>
      </p:sp>
      <p:sp>
        <p:nvSpPr>
          <p:cNvPr id="25" name="Rectangle 24"/>
          <p:cNvSpPr/>
          <p:nvPr/>
        </p:nvSpPr>
        <p:spPr>
          <a:xfrm>
            <a:off x="4754880" y="1243584"/>
            <a:ext cx="82296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1280160"/>
            <a:ext cx="822960" cy="237744"/>
          </a:xfrm>
          <a:prstGeom prst="rect">
            <a:avLst/>
          </a:prstGeom>
          <a:noFill/>
        </p:spPr>
        <p:txBody>
          <a:bodyPr wrap="square">
            <a:spAutoFit/>
          </a:bodyPr>
          <a:lstStyle/>
          <a:p>
            <a:pPr algn="ctr"/>
            <a:r>
              <a:rPr sz="900" b="0" i="0">
                <a:solidFill>
                  <a:srgbClr val="404040"/>
                </a:solidFill>
              </a:rPr>
              <a:t>8.4x</a:t>
            </a:r>
          </a:p>
        </p:txBody>
      </p:sp>
      <p:sp>
        <p:nvSpPr>
          <p:cNvPr id="27" name="Rectangle 26"/>
          <p:cNvSpPr/>
          <p:nvPr/>
        </p:nvSpPr>
        <p:spPr>
          <a:xfrm>
            <a:off x="5669280" y="1243584"/>
            <a:ext cx="32004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5000" y="1280160"/>
            <a:ext cx="3200400" cy="237744"/>
          </a:xfrm>
          <a:prstGeom prst="rect">
            <a:avLst/>
          </a:prstGeom>
          <a:noFill/>
        </p:spPr>
        <p:txBody>
          <a:bodyPr wrap="square">
            <a:spAutoFit/>
          </a:bodyPr>
          <a:lstStyle/>
          <a:p>
            <a:pPr algn="l"/>
            <a:r>
              <a:rPr sz="900" b="0" i="0">
                <a:solidFill>
                  <a:srgbClr val="404040"/>
                </a:solidFill>
              </a:rPr>
              <a:t>Hypergrowth streaming — global scale, FCF+</a:t>
            </a:r>
          </a:p>
        </p:txBody>
      </p:sp>
      <p:sp>
        <p:nvSpPr>
          <p:cNvPr id="29" name="Rectangle 28"/>
          <p:cNvSpPr/>
          <p:nvPr/>
        </p:nvSpPr>
        <p:spPr>
          <a:xfrm>
            <a:off x="274320" y="1563624"/>
            <a:ext cx="17373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1600200"/>
            <a:ext cx="1737360" cy="237744"/>
          </a:xfrm>
          <a:prstGeom prst="rect">
            <a:avLst/>
          </a:prstGeom>
          <a:noFill/>
        </p:spPr>
        <p:txBody>
          <a:bodyPr wrap="square">
            <a:spAutoFit/>
          </a:bodyPr>
          <a:lstStyle/>
          <a:p>
            <a:pPr algn="l"/>
            <a:r>
              <a:rPr sz="900" b="0" i="0">
                <a:solidFill>
                  <a:srgbClr val="404040"/>
                </a:solidFill>
              </a:rPr>
              <a:t>Disney</a:t>
            </a:r>
          </a:p>
        </p:txBody>
      </p:sp>
      <p:sp>
        <p:nvSpPr>
          <p:cNvPr id="31" name="Rectangle 30"/>
          <p:cNvSpPr/>
          <p:nvPr/>
        </p:nvSpPr>
        <p:spPr>
          <a:xfrm>
            <a:off x="2103120" y="1563624"/>
            <a:ext cx="77724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48840" y="1600200"/>
            <a:ext cx="777240" cy="237744"/>
          </a:xfrm>
          <a:prstGeom prst="rect">
            <a:avLst/>
          </a:prstGeom>
          <a:noFill/>
        </p:spPr>
        <p:txBody>
          <a:bodyPr wrap="square">
            <a:spAutoFit/>
          </a:bodyPr>
          <a:lstStyle/>
          <a:p>
            <a:pPr algn="ctr"/>
            <a:r>
              <a:rPr sz="900" b="0" i="0">
                <a:solidFill>
                  <a:srgbClr val="404040"/>
                </a:solidFill>
              </a:rPr>
              <a:t>DIS</a:t>
            </a:r>
          </a:p>
        </p:txBody>
      </p:sp>
      <p:sp>
        <p:nvSpPr>
          <p:cNvPr id="33" name="Rectangle 32"/>
          <p:cNvSpPr/>
          <p:nvPr/>
        </p:nvSpPr>
        <p:spPr>
          <a:xfrm>
            <a:off x="2926080" y="1563624"/>
            <a:ext cx="77724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71800" y="1600200"/>
            <a:ext cx="777240" cy="237744"/>
          </a:xfrm>
          <a:prstGeom prst="rect">
            <a:avLst/>
          </a:prstGeom>
          <a:noFill/>
        </p:spPr>
        <p:txBody>
          <a:bodyPr wrap="square">
            <a:spAutoFit/>
          </a:bodyPr>
          <a:lstStyle/>
          <a:p>
            <a:pPr algn="ctr"/>
            <a:r>
              <a:rPr sz="900" b="0" i="0">
                <a:solidFill>
                  <a:srgbClr val="404040"/>
                </a:solidFill>
              </a:rPr>
              <a:t>$220B</a:t>
            </a:r>
          </a:p>
        </p:txBody>
      </p:sp>
      <p:sp>
        <p:nvSpPr>
          <p:cNvPr id="35" name="Rectangle 34"/>
          <p:cNvSpPr/>
          <p:nvPr/>
        </p:nvSpPr>
        <p:spPr>
          <a:xfrm>
            <a:off x="3840480" y="1563624"/>
            <a:ext cx="8229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86200" y="1600200"/>
            <a:ext cx="822960" cy="237744"/>
          </a:xfrm>
          <a:prstGeom prst="rect">
            <a:avLst/>
          </a:prstGeom>
          <a:noFill/>
        </p:spPr>
        <p:txBody>
          <a:bodyPr wrap="square">
            <a:spAutoFit/>
          </a:bodyPr>
          <a:lstStyle/>
          <a:p>
            <a:pPr algn="ctr"/>
            <a:r>
              <a:rPr sz="900" b="0" i="0">
                <a:solidFill>
                  <a:srgbClr val="404040"/>
                </a:solidFill>
              </a:rPr>
              <a:t>20.0x</a:t>
            </a:r>
          </a:p>
        </p:txBody>
      </p:sp>
      <p:sp>
        <p:nvSpPr>
          <p:cNvPr id="37" name="Rectangle 36"/>
          <p:cNvSpPr/>
          <p:nvPr/>
        </p:nvSpPr>
        <p:spPr>
          <a:xfrm>
            <a:off x="4754880" y="1563624"/>
            <a:ext cx="8229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00600" y="1600200"/>
            <a:ext cx="822960" cy="237744"/>
          </a:xfrm>
          <a:prstGeom prst="rect">
            <a:avLst/>
          </a:prstGeom>
          <a:noFill/>
        </p:spPr>
        <p:txBody>
          <a:bodyPr wrap="square">
            <a:spAutoFit/>
          </a:bodyPr>
          <a:lstStyle/>
          <a:p>
            <a:pPr algn="ctr"/>
            <a:r>
              <a:rPr sz="900" b="0" i="0">
                <a:solidFill>
                  <a:srgbClr val="404040"/>
                </a:solidFill>
              </a:rPr>
              <a:t>2.6x</a:t>
            </a:r>
          </a:p>
        </p:txBody>
      </p:sp>
      <p:sp>
        <p:nvSpPr>
          <p:cNvPr id="39" name="Rectangle 38"/>
          <p:cNvSpPr/>
          <p:nvPr/>
        </p:nvSpPr>
        <p:spPr>
          <a:xfrm>
            <a:off x="5669280" y="1563624"/>
            <a:ext cx="320040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15000" y="1600200"/>
            <a:ext cx="3200400" cy="237744"/>
          </a:xfrm>
          <a:prstGeom prst="rect">
            <a:avLst/>
          </a:prstGeom>
          <a:noFill/>
        </p:spPr>
        <p:txBody>
          <a:bodyPr wrap="square">
            <a:spAutoFit/>
          </a:bodyPr>
          <a:lstStyle/>
          <a:p>
            <a:pPr algn="l"/>
            <a:r>
              <a:rPr sz="900" b="0" i="0">
                <a:solidFill>
                  <a:srgbClr val="404040"/>
                </a:solidFill>
              </a:rPr>
              <a:t>Bundle strategy, parks resilience</a:t>
            </a:r>
          </a:p>
        </p:txBody>
      </p:sp>
      <p:sp>
        <p:nvSpPr>
          <p:cNvPr id="41" name="Rectangle 40"/>
          <p:cNvSpPr/>
          <p:nvPr/>
        </p:nvSpPr>
        <p:spPr>
          <a:xfrm>
            <a:off x="274320" y="1883664"/>
            <a:ext cx="173736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 y="1920240"/>
            <a:ext cx="1737360" cy="237744"/>
          </a:xfrm>
          <a:prstGeom prst="rect">
            <a:avLst/>
          </a:prstGeom>
          <a:noFill/>
        </p:spPr>
        <p:txBody>
          <a:bodyPr wrap="square">
            <a:spAutoFit/>
          </a:bodyPr>
          <a:lstStyle/>
          <a:p>
            <a:pPr algn="l"/>
            <a:r>
              <a:rPr sz="900" b="0" i="0">
                <a:solidFill>
                  <a:srgbClr val="404040"/>
                </a:solidFill>
              </a:rPr>
              <a:t>Warner Bros Disc.</a:t>
            </a:r>
          </a:p>
        </p:txBody>
      </p:sp>
      <p:sp>
        <p:nvSpPr>
          <p:cNvPr id="43" name="Rectangle 42"/>
          <p:cNvSpPr/>
          <p:nvPr/>
        </p:nvSpPr>
        <p:spPr>
          <a:xfrm>
            <a:off x="2103120" y="1883664"/>
            <a:ext cx="77724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48840" y="1920240"/>
            <a:ext cx="777240" cy="237744"/>
          </a:xfrm>
          <a:prstGeom prst="rect">
            <a:avLst/>
          </a:prstGeom>
          <a:noFill/>
        </p:spPr>
        <p:txBody>
          <a:bodyPr wrap="square">
            <a:spAutoFit/>
          </a:bodyPr>
          <a:lstStyle/>
          <a:p>
            <a:pPr algn="ctr"/>
            <a:r>
              <a:rPr sz="900" b="0" i="0">
                <a:solidFill>
                  <a:srgbClr val="404040"/>
                </a:solidFill>
              </a:rPr>
              <a:t>WBD</a:t>
            </a:r>
          </a:p>
        </p:txBody>
      </p:sp>
      <p:sp>
        <p:nvSpPr>
          <p:cNvPr id="45" name="Rectangle 44"/>
          <p:cNvSpPr/>
          <p:nvPr/>
        </p:nvSpPr>
        <p:spPr>
          <a:xfrm>
            <a:off x="2926080" y="1883664"/>
            <a:ext cx="77724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71800" y="1920240"/>
            <a:ext cx="777240" cy="237744"/>
          </a:xfrm>
          <a:prstGeom prst="rect">
            <a:avLst/>
          </a:prstGeom>
          <a:noFill/>
        </p:spPr>
        <p:txBody>
          <a:bodyPr wrap="square">
            <a:spAutoFit/>
          </a:bodyPr>
          <a:lstStyle/>
          <a:p>
            <a:pPr algn="ctr"/>
            <a:r>
              <a:rPr sz="900" b="0" i="0">
                <a:solidFill>
                  <a:srgbClr val="404040"/>
                </a:solidFill>
              </a:rPr>
              <a:t>—</a:t>
            </a:r>
          </a:p>
        </p:txBody>
      </p:sp>
      <p:sp>
        <p:nvSpPr>
          <p:cNvPr id="47" name="Rectangle 46"/>
          <p:cNvSpPr/>
          <p:nvPr/>
        </p:nvSpPr>
        <p:spPr>
          <a:xfrm>
            <a:off x="3840480" y="1883664"/>
            <a:ext cx="82296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86200" y="1920240"/>
            <a:ext cx="822960" cy="237744"/>
          </a:xfrm>
          <a:prstGeom prst="rect">
            <a:avLst/>
          </a:prstGeom>
          <a:noFill/>
        </p:spPr>
        <p:txBody>
          <a:bodyPr wrap="square">
            <a:spAutoFit/>
          </a:bodyPr>
          <a:lstStyle/>
          <a:p>
            <a:pPr algn="ctr"/>
            <a:r>
              <a:rPr sz="900" b="0" i="0">
                <a:solidFill>
                  <a:srgbClr val="404040"/>
                </a:solidFill>
              </a:rPr>
              <a:t>3.1x</a:t>
            </a:r>
          </a:p>
        </p:txBody>
      </p:sp>
      <p:sp>
        <p:nvSpPr>
          <p:cNvPr id="49" name="Rectangle 48"/>
          <p:cNvSpPr/>
          <p:nvPr/>
        </p:nvSpPr>
        <p:spPr>
          <a:xfrm>
            <a:off x="4754880" y="1883664"/>
            <a:ext cx="82296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00600" y="1920240"/>
            <a:ext cx="822960" cy="237744"/>
          </a:xfrm>
          <a:prstGeom prst="rect">
            <a:avLst/>
          </a:prstGeom>
          <a:noFill/>
        </p:spPr>
        <p:txBody>
          <a:bodyPr wrap="square">
            <a:spAutoFit/>
          </a:bodyPr>
          <a:lstStyle/>
          <a:p>
            <a:pPr algn="ctr"/>
            <a:r>
              <a:rPr sz="900" b="0" i="0">
                <a:solidFill>
                  <a:srgbClr val="404040"/>
                </a:solidFill>
              </a:rPr>
              <a:t>2.6x</a:t>
            </a:r>
          </a:p>
        </p:txBody>
      </p:sp>
      <p:sp>
        <p:nvSpPr>
          <p:cNvPr id="51" name="Rectangle 50"/>
          <p:cNvSpPr/>
          <p:nvPr/>
        </p:nvSpPr>
        <p:spPr>
          <a:xfrm>
            <a:off x="5669280" y="1883664"/>
            <a:ext cx="3200400" cy="2926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15000" y="1920240"/>
            <a:ext cx="3200400" cy="237744"/>
          </a:xfrm>
          <a:prstGeom prst="rect">
            <a:avLst/>
          </a:prstGeom>
          <a:noFill/>
        </p:spPr>
        <p:txBody>
          <a:bodyPr wrap="square">
            <a:spAutoFit/>
          </a:bodyPr>
          <a:lstStyle/>
          <a:p>
            <a:pPr algn="l"/>
            <a:r>
              <a:rPr sz="900" b="0" i="0">
                <a:solidFill>
                  <a:srgbClr val="404040"/>
                </a:solidFill>
              </a:rPr>
              <a:t>Distressed — debt, declining linear TV</a:t>
            </a:r>
          </a:p>
        </p:txBody>
      </p:sp>
      <p:sp>
        <p:nvSpPr>
          <p:cNvPr id="53" name="Rectangle 52"/>
          <p:cNvSpPr/>
          <p:nvPr/>
        </p:nvSpPr>
        <p:spPr>
          <a:xfrm>
            <a:off x="274320" y="2203704"/>
            <a:ext cx="17373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040" y="2240280"/>
            <a:ext cx="1737360" cy="237744"/>
          </a:xfrm>
          <a:prstGeom prst="rect">
            <a:avLst/>
          </a:prstGeom>
          <a:noFill/>
        </p:spPr>
        <p:txBody>
          <a:bodyPr wrap="square">
            <a:spAutoFit/>
          </a:bodyPr>
          <a:lstStyle/>
          <a:p>
            <a:pPr algn="l"/>
            <a:r>
              <a:rPr sz="900" b="0" i="0">
                <a:solidFill>
                  <a:srgbClr val="404040"/>
                </a:solidFill>
              </a:rPr>
              <a:t>Paramount (deal)</a:t>
            </a:r>
          </a:p>
        </p:txBody>
      </p:sp>
      <p:sp>
        <p:nvSpPr>
          <p:cNvPr id="55" name="Rectangle 54"/>
          <p:cNvSpPr/>
          <p:nvPr/>
        </p:nvSpPr>
        <p:spPr>
          <a:xfrm>
            <a:off x="2103120" y="2203704"/>
            <a:ext cx="77724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48840" y="2240280"/>
            <a:ext cx="777240" cy="237744"/>
          </a:xfrm>
          <a:prstGeom prst="rect">
            <a:avLst/>
          </a:prstGeom>
          <a:noFill/>
        </p:spPr>
        <p:txBody>
          <a:bodyPr wrap="square">
            <a:spAutoFit/>
          </a:bodyPr>
          <a:lstStyle/>
          <a:p>
            <a:pPr algn="ctr"/>
            <a:r>
              <a:rPr sz="900" b="0" i="0">
                <a:solidFill>
                  <a:srgbClr val="404040"/>
                </a:solidFill>
              </a:rPr>
              <a:t>PARA</a:t>
            </a:r>
          </a:p>
        </p:txBody>
      </p:sp>
      <p:sp>
        <p:nvSpPr>
          <p:cNvPr id="57" name="Rectangle 56"/>
          <p:cNvSpPr/>
          <p:nvPr/>
        </p:nvSpPr>
        <p:spPr>
          <a:xfrm>
            <a:off x="2926080" y="2203704"/>
            <a:ext cx="77724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971800" y="2240280"/>
            <a:ext cx="777240" cy="237744"/>
          </a:xfrm>
          <a:prstGeom prst="rect">
            <a:avLst/>
          </a:prstGeom>
          <a:noFill/>
        </p:spPr>
        <p:txBody>
          <a:bodyPr wrap="square">
            <a:spAutoFit/>
          </a:bodyPr>
          <a:lstStyle/>
          <a:p>
            <a:pPr algn="ctr"/>
            <a:r>
              <a:rPr sz="900" b="0" i="0">
                <a:solidFill>
                  <a:srgbClr val="404040"/>
                </a:solidFill>
              </a:rPr>
              <a:t>—</a:t>
            </a:r>
          </a:p>
        </p:txBody>
      </p:sp>
      <p:sp>
        <p:nvSpPr>
          <p:cNvPr id="59" name="Rectangle 58"/>
          <p:cNvSpPr/>
          <p:nvPr/>
        </p:nvSpPr>
        <p:spPr>
          <a:xfrm>
            <a:off x="3840480" y="2203704"/>
            <a:ext cx="8229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86200" y="2240280"/>
            <a:ext cx="822960" cy="237744"/>
          </a:xfrm>
          <a:prstGeom prst="rect">
            <a:avLst/>
          </a:prstGeom>
          <a:noFill/>
        </p:spPr>
        <p:txBody>
          <a:bodyPr wrap="square">
            <a:spAutoFit/>
          </a:bodyPr>
          <a:lstStyle/>
          <a:p>
            <a:pPr algn="ctr"/>
            <a:r>
              <a:rPr sz="900" b="0" i="0">
                <a:solidFill>
                  <a:srgbClr val="404040"/>
                </a:solidFill>
              </a:rPr>
              <a:t>7.5x</a:t>
            </a:r>
          </a:p>
        </p:txBody>
      </p:sp>
      <p:sp>
        <p:nvSpPr>
          <p:cNvPr id="61" name="Rectangle 60"/>
          <p:cNvSpPr/>
          <p:nvPr/>
        </p:nvSpPr>
        <p:spPr>
          <a:xfrm>
            <a:off x="4754880" y="2203704"/>
            <a:ext cx="82296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00600" y="2240280"/>
            <a:ext cx="822960" cy="237744"/>
          </a:xfrm>
          <a:prstGeom prst="rect">
            <a:avLst/>
          </a:prstGeom>
          <a:noFill/>
        </p:spPr>
        <p:txBody>
          <a:bodyPr wrap="square">
            <a:spAutoFit/>
          </a:bodyPr>
          <a:lstStyle/>
          <a:p>
            <a:pPr algn="ctr"/>
            <a:r>
              <a:rPr sz="900" b="0" i="0">
                <a:solidFill>
                  <a:srgbClr val="404040"/>
                </a:solidFill>
              </a:rPr>
              <a:t>2.5x</a:t>
            </a:r>
          </a:p>
        </p:txBody>
      </p:sp>
      <p:sp>
        <p:nvSpPr>
          <p:cNvPr id="63" name="Rectangle 62"/>
          <p:cNvSpPr/>
          <p:nvPr/>
        </p:nvSpPr>
        <p:spPr>
          <a:xfrm>
            <a:off x="5669280" y="2203704"/>
            <a:ext cx="320040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715000" y="2240280"/>
            <a:ext cx="3200400" cy="237744"/>
          </a:xfrm>
          <a:prstGeom prst="rect">
            <a:avLst/>
          </a:prstGeom>
          <a:noFill/>
        </p:spPr>
        <p:txBody>
          <a:bodyPr wrap="square">
            <a:spAutoFit/>
          </a:bodyPr>
          <a:lstStyle/>
          <a:p>
            <a:pPr algn="l"/>
            <a:r>
              <a:rPr sz="900" b="0" i="0">
                <a:solidFill>
                  <a:srgbClr val="404040"/>
                </a:solidFill>
              </a:rPr>
              <a:t>Skydance acquisition at 7.5x — strategic premium</a:t>
            </a:r>
          </a:p>
        </p:txBody>
      </p:sp>
      <p:sp>
        <p:nvSpPr>
          <p:cNvPr id="65" name="Rectangle 64"/>
          <p:cNvSpPr/>
          <p:nvPr/>
        </p:nvSpPr>
        <p:spPr>
          <a:xfrm>
            <a:off x="274320" y="2523744"/>
            <a:ext cx="1737360" cy="292608"/>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0040" y="2560320"/>
            <a:ext cx="1737360" cy="237744"/>
          </a:xfrm>
          <a:prstGeom prst="rect">
            <a:avLst/>
          </a:prstGeom>
          <a:noFill/>
        </p:spPr>
        <p:txBody>
          <a:bodyPr wrap="square">
            <a:spAutoFit/>
          </a:bodyPr>
          <a:lstStyle/>
          <a:p>
            <a:pPr algn="l"/>
            <a:r>
              <a:rPr sz="900" b="1" i="0">
                <a:solidFill>
                  <a:srgbClr val="1F3864"/>
                </a:solidFill>
              </a:rPr>
              <a:t>MBC (subject)</a:t>
            </a:r>
          </a:p>
        </p:txBody>
      </p:sp>
      <p:sp>
        <p:nvSpPr>
          <p:cNvPr id="67" name="Rectangle 66"/>
          <p:cNvSpPr/>
          <p:nvPr/>
        </p:nvSpPr>
        <p:spPr>
          <a:xfrm>
            <a:off x="2103120" y="2523744"/>
            <a:ext cx="777240" cy="292608"/>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148840" y="2560320"/>
            <a:ext cx="777240" cy="237744"/>
          </a:xfrm>
          <a:prstGeom prst="rect">
            <a:avLst/>
          </a:prstGeom>
          <a:noFill/>
        </p:spPr>
        <p:txBody>
          <a:bodyPr wrap="square">
            <a:spAutoFit/>
          </a:bodyPr>
          <a:lstStyle/>
          <a:p>
            <a:pPr algn="ctr"/>
            <a:r>
              <a:rPr sz="900" b="1" i="0">
                <a:solidFill>
                  <a:srgbClr val="1F3864"/>
                </a:solidFill>
              </a:rPr>
              <a:t>4072</a:t>
            </a:r>
          </a:p>
        </p:txBody>
      </p:sp>
      <p:sp>
        <p:nvSpPr>
          <p:cNvPr id="69" name="Rectangle 68"/>
          <p:cNvSpPr/>
          <p:nvPr/>
        </p:nvSpPr>
        <p:spPr>
          <a:xfrm>
            <a:off x="2926080" y="2523744"/>
            <a:ext cx="777240" cy="292608"/>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71800" y="2560320"/>
            <a:ext cx="777240" cy="237744"/>
          </a:xfrm>
          <a:prstGeom prst="rect">
            <a:avLst/>
          </a:prstGeom>
          <a:noFill/>
        </p:spPr>
        <p:txBody>
          <a:bodyPr wrap="square">
            <a:spAutoFit/>
          </a:bodyPr>
          <a:lstStyle/>
          <a:p>
            <a:pPr algn="ctr"/>
            <a:r>
              <a:rPr sz="900" b="1" i="0">
                <a:solidFill>
                  <a:srgbClr val="1F3864"/>
                </a:solidFill>
              </a:rPr>
              <a:t>SAR 8.8B</a:t>
            </a:r>
          </a:p>
        </p:txBody>
      </p:sp>
      <p:sp>
        <p:nvSpPr>
          <p:cNvPr id="71" name="Rectangle 70"/>
          <p:cNvSpPr/>
          <p:nvPr/>
        </p:nvSpPr>
        <p:spPr>
          <a:xfrm>
            <a:off x="3840480" y="2523744"/>
            <a:ext cx="822960" cy="292608"/>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886200" y="2560320"/>
            <a:ext cx="822960" cy="237744"/>
          </a:xfrm>
          <a:prstGeom prst="rect">
            <a:avLst/>
          </a:prstGeom>
          <a:noFill/>
        </p:spPr>
        <p:txBody>
          <a:bodyPr wrap="square">
            <a:spAutoFit/>
          </a:bodyPr>
          <a:lstStyle/>
          <a:p>
            <a:pPr algn="ctr"/>
            <a:r>
              <a:rPr sz="900" b="1" i="0">
                <a:solidFill>
                  <a:srgbClr val="1F3864"/>
                </a:solidFill>
              </a:rPr>
              <a:t>11.1x</a:t>
            </a:r>
          </a:p>
        </p:txBody>
      </p:sp>
      <p:sp>
        <p:nvSpPr>
          <p:cNvPr id="73" name="Rectangle 72"/>
          <p:cNvSpPr/>
          <p:nvPr/>
        </p:nvSpPr>
        <p:spPr>
          <a:xfrm>
            <a:off x="4754880" y="2523744"/>
            <a:ext cx="822960" cy="292608"/>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00600" y="2560320"/>
            <a:ext cx="822960" cy="237744"/>
          </a:xfrm>
          <a:prstGeom prst="rect">
            <a:avLst/>
          </a:prstGeom>
          <a:noFill/>
        </p:spPr>
        <p:txBody>
          <a:bodyPr wrap="square">
            <a:spAutoFit/>
          </a:bodyPr>
          <a:lstStyle/>
          <a:p>
            <a:pPr algn="ctr"/>
            <a:r>
              <a:rPr sz="900" b="1" i="0">
                <a:solidFill>
                  <a:srgbClr val="1F3864"/>
                </a:solidFill>
              </a:rPr>
              <a:t>1.4x</a:t>
            </a:r>
          </a:p>
        </p:txBody>
      </p:sp>
      <p:sp>
        <p:nvSpPr>
          <p:cNvPr id="75" name="Rectangle 74"/>
          <p:cNvSpPr/>
          <p:nvPr/>
        </p:nvSpPr>
        <p:spPr>
          <a:xfrm>
            <a:off x="5669280" y="2523744"/>
            <a:ext cx="3200400" cy="292608"/>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715000" y="2560320"/>
            <a:ext cx="3200400" cy="237744"/>
          </a:xfrm>
          <a:prstGeom prst="rect">
            <a:avLst/>
          </a:prstGeom>
          <a:noFill/>
        </p:spPr>
        <p:txBody>
          <a:bodyPr wrap="square">
            <a:spAutoFit/>
          </a:bodyPr>
          <a:lstStyle/>
          <a:p>
            <a:pPr algn="l"/>
            <a:r>
              <a:rPr sz="900" b="1" i="0">
                <a:solidFill>
                  <a:srgbClr val="1F3864"/>
                </a:solidFill>
              </a:rPr>
              <a:t>NTM EBITDA SAR 692.8M at SAR 26.26</a:t>
            </a:r>
          </a:p>
        </p:txBody>
      </p:sp>
      <p:sp>
        <p:nvSpPr>
          <p:cNvPr id="77" name="TextBox 76"/>
          <p:cNvSpPr txBox="1"/>
          <p:nvPr/>
        </p:nvSpPr>
        <p:spPr>
          <a:xfrm>
            <a:off x="274320" y="2971800"/>
            <a:ext cx="8595360" cy="320040"/>
          </a:xfrm>
          <a:prstGeom prst="rect">
            <a:avLst/>
          </a:prstGeom>
          <a:noFill/>
        </p:spPr>
        <p:txBody>
          <a:bodyPr wrap="square">
            <a:spAutoFit/>
          </a:bodyPr>
          <a:lstStyle/>
          <a:p>
            <a:pPr algn="l"/>
            <a:r>
              <a:rPr sz="1400" b="1" i="0">
                <a:solidFill>
                  <a:srgbClr val="1F3864"/>
                </a:solidFill>
              </a:rPr>
              <a:t>Implied Share Prices — Applied to MBC NTM EBITDA (SAR 692.8M)</a:t>
            </a:r>
          </a:p>
        </p:txBody>
      </p:sp>
      <p:sp>
        <p:nvSpPr>
          <p:cNvPr id="78" name="Rectangle 77"/>
          <p:cNvSpPr/>
          <p:nvPr/>
        </p:nvSpPr>
        <p:spPr>
          <a:xfrm>
            <a:off x="274320" y="3337560"/>
            <a:ext cx="21945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20040" y="3355848"/>
            <a:ext cx="2194560" cy="219456"/>
          </a:xfrm>
          <a:prstGeom prst="rect">
            <a:avLst/>
          </a:prstGeom>
          <a:noFill/>
        </p:spPr>
        <p:txBody>
          <a:bodyPr wrap="square">
            <a:spAutoFit/>
          </a:bodyPr>
          <a:lstStyle/>
          <a:p>
            <a:pPr algn="ctr"/>
            <a:r>
              <a:rPr sz="900" b="1" i="0">
                <a:solidFill>
                  <a:srgbClr val="FFFFFF"/>
                </a:solidFill>
              </a:rPr>
              <a:t>Multiple</a:t>
            </a:r>
          </a:p>
        </p:txBody>
      </p:sp>
      <p:sp>
        <p:nvSpPr>
          <p:cNvPr id="80" name="Rectangle 79"/>
          <p:cNvSpPr/>
          <p:nvPr/>
        </p:nvSpPr>
        <p:spPr>
          <a:xfrm>
            <a:off x="2560320" y="3337560"/>
            <a:ext cx="146304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606040" y="3355848"/>
            <a:ext cx="1463040" cy="219456"/>
          </a:xfrm>
          <a:prstGeom prst="rect">
            <a:avLst/>
          </a:prstGeom>
          <a:noFill/>
        </p:spPr>
        <p:txBody>
          <a:bodyPr wrap="square">
            <a:spAutoFit/>
          </a:bodyPr>
          <a:lstStyle/>
          <a:p>
            <a:pPr algn="ctr"/>
            <a:r>
              <a:rPr sz="900" b="1" i="0">
                <a:solidFill>
                  <a:srgbClr val="FFFFFF"/>
                </a:solidFill>
              </a:rPr>
              <a:t>Implied EV</a:t>
            </a:r>
          </a:p>
        </p:txBody>
      </p:sp>
      <p:sp>
        <p:nvSpPr>
          <p:cNvPr id="82" name="Rectangle 81"/>
          <p:cNvSpPr/>
          <p:nvPr/>
        </p:nvSpPr>
        <p:spPr>
          <a:xfrm>
            <a:off x="4114800" y="3337560"/>
            <a:ext cx="12801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160520" y="3355848"/>
            <a:ext cx="1280160" cy="219456"/>
          </a:xfrm>
          <a:prstGeom prst="rect">
            <a:avLst/>
          </a:prstGeom>
          <a:noFill/>
        </p:spPr>
        <p:txBody>
          <a:bodyPr wrap="square">
            <a:spAutoFit/>
          </a:bodyPr>
          <a:lstStyle/>
          <a:p>
            <a:pPr algn="ctr"/>
            <a:r>
              <a:rPr sz="900" b="1" i="0">
                <a:solidFill>
                  <a:srgbClr val="FFFFFF"/>
                </a:solidFill>
              </a:rPr>
              <a:t>Equity Value</a:t>
            </a:r>
          </a:p>
        </p:txBody>
      </p:sp>
      <p:sp>
        <p:nvSpPr>
          <p:cNvPr id="84" name="Rectangle 83"/>
          <p:cNvSpPr/>
          <p:nvPr/>
        </p:nvSpPr>
        <p:spPr>
          <a:xfrm>
            <a:off x="5486400" y="3337560"/>
            <a:ext cx="12801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532120" y="3355848"/>
            <a:ext cx="1280160" cy="219456"/>
          </a:xfrm>
          <a:prstGeom prst="rect">
            <a:avLst/>
          </a:prstGeom>
          <a:noFill/>
        </p:spPr>
        <p:txBody>
          <a:bodyPr wrap="square">
            <a:spAutoFit/>
          </a:bodyPr>
          <a:lstStyle/>
          <a:p>
            <a:pPr algn="ctr"/>
            <a:r>
              <a:rPr sz="900" b="1" i="0">
                <a:solidFill>
                  <a:srgbClr val="FFFFFF"/>
                </a:solidFill>
              </a:rPr>
              <a:t>Share Price</a:t>
            </a:r>
          </a:p>
        </p:txBody>
      </p:sp>
      <p:sp>
        <p:nvSpPr>
          <p:cNvPr id="86" name="Rectangle 85"/>
          <p:cNvSpPr/>
          <p:nvPr/>
        </p:nvSpPr>
        <p:spPr>
          <a:xfrm>
            <a:off x="6858000" y="3337560"/>
            <a:ext cx="201168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903720" y="3355848"/>
            <a:ext cx="2011680" cy="219456"/>
          </a:xfrm>
          <a:prstGeom prst="rect">
            <a:avLst/>
          </a:prstGeom>
          <a:noFill/>
        </p:spPr>
        <p:txBody>
          <a:bodyPr wrap="square">
            <a:spAutoFit/>
          </a:bodyPr>
          <a:lstStyle/>
          <a:p>
            <a:pPr algn="ctr"/>
            <a:r>
              <a:rPr sz="900" b="1" i="0">
                <a:solidFill>
                  <a:srgbClr val="FFFFFF"/>
                </a:solidFill>
              </a:rPr>
              <a:t>vs. Market</a:t>
            </a:r>
          </a:p>
        </p:txBody>
      </p:sp>
      <p:sp>
        <p:nvSpPr>
          <p:cNvPr id="88" name="Rectangle 87"/>
          <p:cNvSpPr/>
          <p:nvPr/>
        </p:nvSpPr>
        <p:spPr>
          <a:xfrm>
            <a:off x="274320" y="3621024"/>
            <a:ext cx="21945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20040" y="3648456"/>
            <a:ext cx="2194560" cy="219456"/>
          </a:xfrm>
          <a:prstGeom prst="rect">
            <a:avLst/>
          </a:prstGeom>
          <a:noFill/>
        </p:spPr>
        <p:txBody>
          <a:bodyPr wrap="square">
            <a:spAutoFit/>
          </a:bodyPr>
          <a:lstStyle/>
          <a:p>
            <a:pPr algn="l"/>
            <a:r>
              <a:rPr sz="900" b="0" i="0">
                <a:solidFill>
                  <a:srgbClr val="404040"/>
                </a:solidFill>
              </a:rPr>
              <a:t>Netflix 26.3x</a:t>
            </a:r>
          </a:p>
        </p:txBody>
      </p:sp>
      <p:sp>
        <p:nvSpPr>
          <p:cNvPr id="90" name="Rectangle 89"/>
          <p:cNvSpPr/>
          <p:nvPr/>
        </p:nvSpPr>
        <p:spPr>
          <a:xfrm>
            <a:off x="2560320" y="3621024"/>
            <a:ext cx="146304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606040" y="3648456"/>
            <a:ext cx="1463040" cy="219456"/>
          </a:xfrm>
          <a:prstGeom prst="rect">
            <a:avLst/>
          </a:prstGeom>
          <a:noFill/>
        </p:spPr>
        <p:txBody>
          <a:bodyPr wrap="square">
            <a:spAutoFit/>
          </a:bodyPr>
          <a:lstStyle/>
          <a:p>
            <a:pPr algn="ctr"/>
            <a:r>
              <a:rPr sz="900" b="0" i="0">
                <a:solidFill>
                  <a:srgbClr val="404040"/>
                </a:solidFill>
              </a:rPr>
              <a:t>SAR 18,220M</a:t>
            </a:r>
          </a:p>
        </p:txBody>
      </p:sp>
      <p:sp>
        <p:nvSpPr>
          <p:cNvPr id="92" name="Rectangle 91"/>
          <p:cNvSpPr/>
          <p:nvPr/>
        </p:nvSpPr>
        <p:spPr>
          <a:xfrm>
            <a:off x="4114800" y="3621024"/>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160520" y="3648456"/>
            <a:ext cx="1280160" cy="219456"/>
          </a:xfrm>
          <a:prstGeom prst="rect">
            <a:avLst/>
          </a:prstGeom>
          <a:noFill/>
        </p:spPr>
        <p:txBody>
          <a:bodyPr wrap="square">
            <a:spAutoFit/>
          </a:bodyPr>
          <a:lstStyle/>
          <a:p>
            <a:pPr algn="ctr"/>
            <a:r>
              <a:rPr sz="900" b="0" i="0">
                <a:solidFill>
                  <a:srgbClr val="404040"/>
                </a:solidFill>
              </a:rPr>
              <a:t>SAR 19,451M</a:t>
            </a:r>
          </a:p>
        </p:txBody>
      </p:sp>
      <p:sp>
        <p:nvSpPr>
          <p:cNvPr id="94" name="Rectangle 93"/>
          <p:cNvSpPr/>
          <p:nvPr/>
        </p:nvSpPr>
        <p:spPr>
          <a:xfrm>
            <a:off x="5486400" y="3621024"/>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532120" y="3648456"/>
            <a:ext cx="1280160" cy="219456"/>
          </a:xfrm>
          <a:prstGeom prst="rect">
            <a:avLst/>
          </a:prstGeom>
          <a:noFill/>
        </p:spPr>
        <p:txBody>
          <a:bodyPr wrap="square">
            <a:spAutoFit/>
          </a:bodyPr>
          <a:lstStyle/>
          <a:p>
            <a:pPr algn="ctr"/>
            <a:r>
              <a:rPr sz="900" b="1" i="0">
                <a:solidFill>
                  <a:srgbClr val="404040"/>
                </a:solidFill>
              </a:rPr>
              <a:t>SAR 58.5</a:t>
            </a:r>
          </a:p>
        </p:txBody>
      </p:sp>
      <p:sp>
        <p:nvSpPr>
          <p:cNvPr id="96" name="Rectangle 95"/>
          <p:cNvSpPr/>
          <p:nvPr/>
        </p:nvSpPr>
        <p:spPr>
          <a:xfrm>
            <a:off x="6858000" y="3621024"/>
            <a:ext cx="201168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903720" y="3648456"/>
            <a:ext cx="2011680" cy="219456"/>
          </a:xfrm>
          <a:prstGeom prst="rect">
            <a:avLst/>
          </a:prstGeom>
          <a:noFill/>
        </p:spPr>
        <p:txBody>
          <a:bodyPr wrap="square">
            <a:spAutoFit/>
          </a:bodyPr>
          <a:lstStyle/>
          <a:p>
            <a:pPr algn="ctr"/>
            <a:r>
              <a:rPr sz="900" b="0" i="0">
                <a:solidFill>
                  <a:srgbClr val="007030"/>
                </a:solidFill>
              </a:rPr>
              <a:t>+123%</a:t>
            </a:r>
          </a:p>
        </p:txBody>
      </p:sp>
      <p:sp>
        <p:nvSpPr>
          <p:cNvPr id="98" name="Rectangle 97"/>
          <p:cNvSpPr/>
          <p:nvPr/>
        </p:nvSpPr>
        <p:spPr>
          <a:xfrm>
            <a:off x="274320" y="3913632"/>
            <a:ext cx="21945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20040" y="3941064"/>
            <a:ext cx="2194560" cy="219456"/>
          </a:xfrm>
          <a:prstGeom prst="rect">
            <a:avLst/>
          </a:prstGeom>
          <a:noFill/>
        </p:spPr>
        <p:txBody>
          <a:bodyPr wrap="square">
            <a:spAutoFit/>
          </a:bodyPr>
          <a:lstStyle/>
          <a:p>
            <a:pPr algn="l"/>
            <a:r>
              <a:rPr sz="900" b="0" i="0">
                <a:solidFill>
                  <a:srgbClr val="404040"/>
                </a:solidFill>
              </a:rPr>
              <a:t>Disney 20x</a:t>
            </a:r>
          </a:p>
        </p:txBody>
      </p:sp>
      <p:sp>
        <p:nvSpPr>
          <p:cNvPr id="100" name="Rectangle 99"/>
          <p:cNvSpPr/>
          <p:nvPr/>
        </p:nvSpPr>
        <p:spPr>
          <a:xfrm>
            <a:off x="2560320" y="3913632"/>
            <a:ext cx="146304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606040" y="3941064"/>
            <a:ext cx="1463040" cy="219456"/>
          </a:xfrm>
          <a:prstGeom prst="rect">
            <a:avLst/>
          </a:prstGeom>
          <a:noFill/>
        </p:spPr>
        <p:txBody>
          <a:bodyPr wrap="square">
            <a:spAutoFit/>
          </a:bodyPr>
          <a:lstStyle/>
          <a:p>
            <a:pPr algn="ctr"/>
            <a:r>
              <a:rPr sz="900" b="0" i="0">
                <a:solidFill>
                  <a:srgbClr val="404040"/>
                </a:solidFill>
              </a:rPr>
              <a:t>SAR 13,856M</a:t>
            </a:r>
          </a:p>
        </p:txBody>
      </p:sp>
      <p:sp>
        <p:nvSpPr>
          <p:cNvPr id="102" name="Rectangle 101"/>
          <p:cNvSpPr/>
          <p:nvPr/>
        </p:nvSpPr>
        <p:spPr>
          <a:xfrm>
            <a:off x="4114800" y="3913632"/>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160520" y="3941064"/>
            <a:ext cx="1280160" cy="219456"/>
          </a:xfrm>
          <a:prstGeom prst="rect">
            <a:avLst/>
          </a:prstGeom>
          <a:noFill/>
        </p:spPr>
        <p:txBody>
          <a:bodyPr wrap="square">
            <a:spAutoFit/>
          </a:bodyPr>
          <a:lstStyle/>
          <a:p>
            <a:pPr algn="ctr"/>
            <a:r>
              <a:rPr sz="900" b="0" i="0">
                <a:solidFill>
                  <a:srgbClr val="404040"/>
                </a:solidFill>
              </a:rPr>
              <a:t>SAR 15,087M</a:t>
            </a:r>
          </a:p>
        </p:txBody>
      </p:sp>
      <p:sp>
        <p:nvSpPr>
          <p:cNvPr id="104" name="Rectangle 103"/>
          <p:cNvSpPr/>
          <p:nvPr/>
        </p:nvSpPr>
        <p:spPr>
          <a:xfrm>
            <a:off x="5486400" y="3913632"/>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532120" y="3941064"/>
            <a:ext cx="1280160" cy="219456"/>
          </a:xfrm>
          <a:prstGeom prst="rect">
            <a:avLst/>
          </a:prstGeom>
          <a:noFill/>
        </p:spPr>
        <p:txBody>
          <a:bodyPr wrap="square">
            <a:spAutoFit/>
          </a:bodyPr>
          <a:lstStyle/>
          <a:p>
            <a:pPr algn="ctr"/>
            <a:r>
              <a:rPr sz="900" b="1" i="0">
                <a:solidFill>
                  <a:srgbClr val="404040"/>
                </a:solidFill>
              </a:rPr>
              <a:t>SAR 45.4</a:t>
            </a:r>
          </a:p>
        </p:txBody>
      </p:sp>
      <p:sp>
        <p:nvSpPr>
          <p:cNvPr id="106" name="Rectangle 105"/>
          <p:cNvSpPr/>
          <p:nvPr/>
        </p:nvSpPr>
        <p:spPr>
          <a:xfrm>
            <a:off x="6858000" y="3913632"/>
            <a:ext cx="201168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903720" y="3941064"/>
            <a:ext cx="2011680" cy="219456"/>
          </a:xfrm>
          <a:prstGeom prst="rect">
            <a:avLst/>
          </a:prstGeom>
          <a:noFill/>
        </p:spPr>
        <p:txBody>
          <a:bodyPr wrap="square">
            <a:spAutoFit/>
          </a:bodyPr>
          <a:lstStyle/>
          <a:p>
            <a:pPr algn="ctr"/>
            <a:r>
              <a:rPr sz="900" b="0" i="0">
                <a:solidFill>
                  <a:srgbClr val="007030"/>
                </a:solidFill>
              </a:rPr>
              <a:t>+73%</a:t>
            </a:r>
          </a:p>
        </p:txBody>
      </p:sp>
      <p:sp>
        <p:nvSpPr>
          <p:cNvPr id="108" name="Rectangle 107"/>
          <p:cNvSpPr/>
          <p:nvPr/>
        </p:nvSpPr>
        <p:spPr>
          <a:xfrm>
            <a:off x="274320" y="4206240"/>
            <a:ext cx="21945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20040" y="4233672"/>
            <a:ext cx="2194560" cy="219456"/>
          </a:xfrm>
          <a:prstGeom prst="rect">
            <a:avLst/>
          </a:prstGeom>
          <a:noFill/>
        </p:spPr>
        <p:txBody>
          <a:bodyPr wrap="square">
            <a:spAutoFit/>
          </a:bodyPr>
          <a:lstStyle/>
          <a:p>
            <a:pPr algn="l"/>
            <a:r>
              <a:rPr sz="900" b="0" i="0">
                <a:solidFill>
                  <a:srgbClr val="404040"/>
                </a:solidFill>
              </a:rPr>
              <a:t>Blended 15x</a:t>
            </a:r>
          </a:p>
        </p:txBody>
      </p:sp>
      <p:sp>
        <p:nvSpPr>
          <p:cNvPr id="110" name="Rectangle 109"/>
          <p:cNvSpPr/>
          <p:nvPr/>
        </p:nvSpPr>
        <p:spPr>
          <a:xfrm>
            <a:off x="2560320" y="4206240"/>
            <a:ext cx="146304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606040" y="4233672"/>
            <a:ext cx="1463040" cy="219456"/>
          </a:xfrm>
          <a:prstGeom prst="rect">
            <a:avLst/>
          </a:prstGeom>
          <a:noFill/>
        </p:spPr>
        <p:txBody>
          <a:bodyPr wrap="square">
            <a:spAutoFit/>
          </a:bodyPr>
          <a:lstStyle/>
          <a:p>
            <a:pPr algn="ctr"/>
            <a:r>
              <a:rPr sz="900" b="0" i="0">
                <a:solidFill>
                  <a:srgbClr val="404040"/>
                </a:solidFill>
              </a:rPr>
              <a:t>SAR 10,392M</a:t>
            </a:r>
          </a:p>
        </p:txBody>
      </p:sp>
      <p:sp>
        <p:nvSpPr>
          <p:cNvPr id="112" name="Rectangle 111"/>
          <p:cNvSpPr/>
          <p:nvPr/>
        </p:nvSpPr>
        <p:spPr>
          <a:xfrm>
            <a:off x="4114800" y="4206240"/>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4160520" y="4233672"/>
            <a:ext cx="1280160" cy="219456"/>
          </a:xfrm>
          <a:prstGeom prst="rect">
            <a:avLst/>
          </a:prstGeom>
          <a:noFill/>
        </p:spPr>
        <p:txBody>
          <a:bodyPr wrap="square">
            <a:spAutoFit/>
          </a:bodyPr>
          <a:lstStyle/>
          <a:p>
            <a:pPr algn="ctr"/>
            <a:r>
              <a:rPr sz="900" b="0" i="0">
                <a:solidFill>
                  <a:srgbClr val="404040"/>
                </a:solidFill>
              </a:rPr>
              <a:t>SAR 11,623M</a:t>
            </a:r>
          </a:p>
        </p:txBody>
      </p:sp>
      <p:sp>
        <p:nvSpPr>
          <p:cNvPr id="114" name="Rectangle 113"/>
          <p:cNvSpPr/>
          <p:nvPr/>
        </p:nvSpPr>
        <p:spPr>
          <a:xfrm>
            <a:off x="5486400" y="4206240"/>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5532120" y="4233672"/>
            <a:ext cx="1280160" cy="219456"/>
          </a:xfrm>
          <a:prstGeom prst="rect">
            <a:avLst/>
          </a:prstGeom>
          <a:noFill/>
        </p:spPr>
        <p:txBody>
          <a:bodyPr wrap="square">
            <a:spAutoFit/>
          </a:bodyPr>
          <a:lstStyle/>
          <a:p>
            <a:pPr algn="ctr"/>
            <a:r>
              <a:rPr sz="900" b="1" i="0">
                <a:solidFill>
                  <a:srgbClr val="404040"/>
                </a:solidFill>
              </a:rPr>
              <a:t>SAR 35.0</a:t>
            </a:r>
          </a:p>
        </p:txBody>
      </p:sp>
      <p:sp>
        <p:nvSpPr>
          <p:cNvPr id="116" name="Rectangle 115"/>
          <p:cNvSpPr/>
          <p:nvPr/>
        </p:nvSpPr>
        <p:spPr>
          <a:xfrm>
            <a:off x="6858000" y="4206240"/>
            <a:ext cx="201168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903720" y="4233672"/>
            <a:ext cx="2011680" cy="219456"/>
          </a:xfrm>
          <a:prstGeom prst="rect">
            <a:avLst/>
          </a:prstGeom>
          <a:noFill/>
        </p:spPr>
        <p:txBody>
          <a:bodyPr wrap="square">
            <a:spAutoFit/>
          </a:bodyPr>
          <a:lstStyle/>
          <a:p>
            <a:pPr algn="ctr"/>
            <a:r>
              <a:rPr sz="900" b="0" i="0">
                <a:solidFill>
                  <a:srgbClr val="007030"/>
                </a:solidFill>
              </a:rPr>
              <a:t>+33%</a:t>
            </a:r>
          </a:p>
        </p:txBody>
      </p:sp>
      <p:sp>
        <p:nvSpPr>
          <p:cNvPr id="118" name="Rectangle 117"/>
          <p:cNvSpPr/>
          <p:nvPr/>
        </p:nvSpPr>
        <p:spPr>
          <a:xfrm>
            <a:off x="274320" y="4498848"/>
            <a:ext cx="21945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20040" y="4526280"/>
            <a:ext cx="2194560" cy="219456"/>
          </a:xfrm>
          <a:prstGeom prst="rect">
            <a:avLst/>
          </a:prstGeom>
          <a:noFill/>
        </p:spPr>
        <p:txBody>
          <a:bodyPr wrap="square">
            <a:spAutoFit/>
          </a:bodyPr>
          <a:lstStyle/>
          <a:p>
            <a:pPr algn="l"/>
            <a:r>
              <a:rPr sz="900" b="0" i="0">
                <a:solidFill>
                  <a:srgbClr val="404040"/>
                </a:solidFill>
              </a:rPr>
              <a:t>Blended 12x</a:t>
            </a:r>
          </a:p>
        </p:txBody>
      </p:sp>
      <p:sp>
        <p:nvSpPr>
          <p:cNvPr id="120" name="Rectangle 119"/>
          <p:cNvSpPr/>
          <p:nvPr/>
        </p:nvSpPr>
        <p:spPr>
          <a:xfrm>
            <a:off x="2560320" y="4498848"/>
            <a:ext cx="146304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606040" y="4526280"/>
            <a:ext cx="1463040" cy="219456"/>
          </a:xfrm>
          <a:prstGeom prst="rect">
            <a:avLst/>
          </a:prstGeom>
          <a:noFill/>
        </p:spPr>
        <p:txBody>
          <a:bodyPr wrap="square">
            <a:spAutoFit/>
          </a:bodyPr>
          <a:lstStyle/>
          <a:p>
            <a:pPr algn="ctr"/>
            <a:r>
              <a:rPr sz="900" b="0" i="0">
                <a:solidFill>
                  <a:srgbClr val="404040"/>
                </a:solidFill>
              </a:rPr>
              <a:t>SAR  8,314M</a:t>
            </a:r>
          </a:p>
        </p:txBody>
      </p:sp>
      <p:sp>
        <p:nvSpPr>
          <p:cNvPr id="122" name="Rectangle 121"/>
          <p:cNvSpPr/>
          <p:nvPr/>
        </p:nvSpPr>
        <p:spPr>
          <a:xfrm>
            <a:off x="4114800" y="4498848"/>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160520" y="4526280"/>
            <a:ext cx="1280160" cy="219456"/>
          </a:xfrm>
          <a:prstGeom prst="rect">
            <a:avLst/>
          </a:prstGeom>
          <a:noFill/>
        </p:spPr>
        <p:txBody>
          <a:bodyPr wrap="square">
            <a:spAutoFit/>
          </a:bodyPr>
          <a:lstStyle/>
          <a:p>
            <a:pPr algn="ctr"/>
            <a:r>
              <a:rPr sz="900" b="0" i="0">
                <a:solidFill>
                  <a:srgbClr val="404040"/>
                </a:solidFill>
              </a:rPr>
              <a:t>SAR  9,545M</a:t>
            </a:r>
          </a:p>
        </p:txBody>
      </p:sp>
      <p:sp>
        <p:nvSpPr>
          <p:cNvPr id="124" name="Rectangle 123"/>
          <p:cNvSpPr/>
          <p:nvPr/>
        </p:nvSpPr>
        <p:spPr>
          <a:xfrm>
            <a:off x="5486400" y="4498848"/>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532120" y="4526280"/>
            <a:ext cx="1280160" cy="219456"/>
          </a:xfrm>
          <a:prstGeom prst="rect">
            <a:avLst/>
          </a:prstGeom>
          <a:noFill/>
        </p:spPr>
        <p:txBody>
          <a:bodyPr wrap="square">
            <a:spAutoFit/>
          </a:bodyPr>
          <a:lstStyle/>
          <a:p>
            <a:pPr algn="ctr"/>
            <a:r>
              <a:rPr sz="900" b="1" i="0">
                <a:solidFill>
                  <a:srgbClr val="404040"/>
                </a:solidFill>
              </a:rPr>
              <a:t>SAR 28.7</a:t>
            </a:r>
          </a:p>
        </p:txBody>
      </p:sp>
      <p:sp>
        <p:nvSpPr>
          <p:cNvPr id="126" name="Rectangle 125"/>
          <p:cNvSpPr/>
          <p:nvPr/>
        </p:nvSpPr>
        <p:spPr>
          <a:xfrm>
            <a:off x="6858000" y="4498848"/>
            <a:ext cx="201168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903720" y="4526280"/>
            <a:ext cx="2011680" cy="219456"/>
          </a:xfrm>
          <a:prstGeom prst="rect">
            <a:avLst/>
          </a:prstGeom>
          <a:noFill/>
        </p:spPr>
        <p:txBody>
          <a:bodyPr wrap="square">
            <a:spAutoFit/>
          </a:bodyPr>
          <a:lstStyle/>
          <a:p>
            <a:pPr algn="ctr"/>
            <a:r>
              <a:rPr sz="900" b="0" i="0">
                <a:solidFill>
                  <a:srgbClr val="007030"/>
                </a:solidFill>
              </a:rPr>
              <a:t>+9%</a:t>
            </a:r>
          </a:p>
        </p:txBody>
      </p:sp>
      <p:sp>
        <p:nvSpPr>
          <p:cNvPr id="128" name="Rectangle 127"/>
          <p:cNvSpPr/>
          <p:nvPr/>
        </p:nvSpPr>
        <p:spPr>
          <a:xfrm>
            <a:off x="274320" y="4791456"/>
            <a:ext cx="21945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20040" y="4818888"/>
            <a:ext cx="2194560" cy="219456"/>
          </a:xfrm>
          <a:prstGeom prst="rect">
            <a:avLst/>
          </a:prstGeom>
          <a:noFill/>
        </p:spPr>
        <p:txBody>
          <a:bodyPr wrap="square">
            <a:spAutoFit/>
          </a:bodyPr>
          <a:lstStyle/>
          <a:p>
            <a:pPr algn="l"/>
            <a:r>
              <a:rPr sz="900" b="0" i="0">
                <a:solidFill>
                  <a:srgbClr val="404040"/>
                </a:solidFill>
              </a:rPr>
              <a:t>Paramount 7.5x</a:t>
            </a:r>
          </a:p>
        </p:txBody>
      </p:sp>
      <p:sp>
        <p:nvSpPr>
          <p:cNvPr id="130" name="Rectangle 129"/>
          <p:cNvSpPr/>
          <p:nvPr/>
        </p:nvSpPr>
        <p:spPr>
          <a:xfrm>
            <a:off x="2560320" y="4791456"/>
            <a:ext cx="146304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606040" y="4818888"/>
            <a:ext cx="1463040" cy="219456"/>
          </a:xfrm>
          <a:prstGeom prst="rect">
            <a:avLst/>
          </a:prstGeom>
          <a:noFill/>
        </p:spPr>
        <p:txBody>
          <a:bodyPr wrap="square">
            <a:spAutoFit/>
          </a:bodyPr>
          <a:lstStyle/>
          <a:p>
            <a:pPr algn="ctr"/>
            <a:r>
              <a:rPr sz="900" b="0" i="0">
                <a:solidFill>
                  <a:srgbClr val="404040"/>
                </a:solidFill>
              </a:rPr>
              <a:t>SAR  5,196M</a:t>
            </a:r>
          </a:p>
        </p:txBody>
      </p:sp>
      <p:sp>
        <p:nvSpPr>
          <p:cNvPr id="132" name="Rectangle 131"/>
          <p:cNvSpPr/>
          <p:nvPr/>
        </p:nvSpPr>
        <p:spPr>
          <a:xfrm>
            <a:off x="4114800" y="4791456"/>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160520" y="4818888"/>
            <a:ext cx="1280160" cy="219456"/>
          </a:xfrm>
          <a:prstGeom prst="rect">
            <a:avLst/>
          </a:prstGeom>
          <a:noFill/>
        </p:spPr>
        <p:txBody>
          <a:bodyPr wrap="square">
            <a:spAutoFit/>
          </a:bodyPr>
          <a:lstStyle/>
          <a:p>
            <a:pPr algn="ctr"/>
            <a:r>
              <a:rPr sz="900" b="0" i="0">
                <a:solidFill>
                  <a:srgbClr val="404040"/>
                </a:solidFill>
              </a:rPr>
              <a:t>SAR  5,427M</a:t>
            </a:r>
          </a:p>
        </p:txBody>
      </p:sp>
      <p:sp>
        <p:nvSpPr>
          <p:cNvPr id="134" name="Rectangle 133"/>
          <p:cNvSpPr/>
          <p:nvPr/>
        </p:nvSpPr>
        <p:spPr>
          <a:xfrm>
            <a:off x="5486400" y="4791456"/>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532120" y="4818888"/>
            <a:ext cx="1280160" cy="219456"/>
          </a:xfrm>
          <a:prstGeom prst="rect">
            <a:avLst/>
          </a:prstGeom>
          <a:noFill/>
        </p:spPr>
        <p:txBody>
          <a:bodyPr wrap="square">
            <a:spAutoFit/>
          </a:bodyPr>
          <a:lstStyle/>
          <a:p>
            <a:pPr algn="ctr"/>
            <a:r>
              <a:rPr sz="900" b="1" i="0">
                <a:solidFill>
                  <a:srgbClr val="404040"/>
                </a:solidFill>
              </a:rPr>
              <a:t>SAR 16.3</a:t>
            </a:r>
          </a:p>
        </p:txBody>
      </p:sp>
      <p:sp>
        <p:nvSpPr>
          <p:cNvPr id="136" name="Rectangle 135"/>
          <p:cNvSpPr/>
          <p:nvPr/>
        </p:nvSpPr>
        <p:spPr>
          <a:xfrm>
            <a:off x="6858000" y="4791456"/>
            <a:ext cx="201168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903720" y="4818888"/>
            <a:ext cx="2011680" cy="219456"/>
          </a:xfrm>
          <a:prstGeom prst="rect">
            <a:avLst/>
          </a:prstGeom>
          <a:noFill/>
        </p:spPr>
        <p:txBody>
          <a:bodyPr wrap="square">
            <a:spAutoFit/>
          </a:bodyPr>
          <a:lstStyle/>
          <a:p>
            <a:pPr algn="ctr"/>
            <a:r>
              <a:rPr sz="900" b="0" i="0">
                <a:solidFill>
                  <a:srgbClr val="C00000"/>
                </a:solidFill>
              </a:rPr>
              <a:t>−38%</a:t>
            </a:r>
          </a:p>
        </p:txBody>
      </p:sp>
      <p:sp>
        <p:nvSpPr>
          <p:cNvPr id="138" name="Rectangle 137"/>
          <p:cNvSpPr/>
          <p:nvPr/>
        </p:nvSpPr>
        <p:spPr>
          <a:xfrm>
            <a:off x="274320" y="5084064"/>
            <a:ext cx="21945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20040" y="5111496"/>
            <a:ext cx="2194560" cy="219456"/>
          </a:xfrm>
          <a:prstGeom prst="rect">
            <a:avLst/>
          </a:prstGeom>
          <a:noFill/>
        </p:spPr>
        <p:txBody>
          <a:bodyPr wrap="square">
            <a:spAutoFit/>
          </a:bodyPr>
          <a:lstStyle/>
          <a:p>
            <a:pPr algn="l"/>
            <a:r>
              <a:rPr sz="900" b="0" i="0">
                <a:solidFill>
                  <a:srgbClr val="404040"/>
                </a:solidFill>
              </a:rPr>
              <a:t>WBD 3.1x</a:t>
            </a:r>
          </a:p>
        </p:txBody>
      </p:sp>
      <p:sp>
        <p:nvSpPr>
          <p:cNvPr id="140" name="Rectangle 139"/>
          <p:cNvSpPr/>
          <p:nvPr/>
        </p:nvSpPr>
        <p:spPr>
          <a:xfrm>
            <a:off x="2560320" y="5084064"/>
            <a:ext cx="146304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606040" y="5111496"/>
            <a:ext cx="1463040" cy="219456"/>
          </a:xfrm>
          <a:prstGeom prst="rect">
            <a:avLst/>
          </a:prstGeom>
          <a:noFill/>
        </p:spPr>
        <p:txBody>
          <a:bodyPr wrap="square">
            <a:spAutoFit/>
          </a:bodyPr>
          <a:lstStyle/>
          <a:p>
            <a:pPr algn="ctr"/>
            <a:r>
              <a:rPr sz="900" b="0" i="0">
                <a:solidFill>
                  <a:srgbClr val="404040"/>
                </a:solidFill>
              </a:rPr>
              <a:t>SAR  2,148M</a:t>
            </a:r>
          </a:p>
        </p:txBody>
      </p:sp>
      <p:sp>
        <p:nvSpPr>
          <p:cNvPr id="142" name="Rectangle 141"/>
          <p:cNvSpPr/>
          <p:nvPr/>
        </p:nvSpPr>
        <p:spPr>
          <a:xfrm>
            <a:off x="4114800" y="5084064"/>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160520" y="5111496"/>
            <a:ext cx="1280160" cy="219456"/>
          </a:xfrm>
          <a:prstGeom prst="rect">
            <a:avLst/>
          </a:prstGeom>
          <a:noFill/>
        </p:spPr>
        <p:txBody>
          <a:bodyPr wrap="square">
            <a:spAutoFit/>
          </a:bodyPr>
          <a:lstStyle/>
          <a:p>
            <a:pPr algn="ctr"/>
            <a:r>
              <a:rPr sz="900" b="0" i="0">
                <a:solidFill>
                  <a:srgbClr val="404040"/>
                </a:solidFill>
              </a:rPr>
              <a:t>SAR    917M</a:t>
            </a:r>
          </a:p>
        </p:txBody>
      </p:sp>
      <p:sp>
        <p:nvSpPr>
          <p:cNvPr id="144" name="Rectangle 143"/>
          <p:cNvSpPr/>
          <p:nvPr/>
        </p:nvSpPr>
        <p:spPr>
          <a:xfrm>
            <a:off x="5486400" y="5084064"/>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532120" y="5111496"/>
            <a:ext cx="1280160" cy="219456"/>
          </a:xfrm>
          <a:prstGeom prst="rect">
            <a:avLst/>
          </a:prstGeom>
          <a:noFill/>
        </p:spPr>
        <p:txBody>
          <a:bodyPr wrap="square">
            <a:spAutoFit/>
          </a:bodyPr>
          <a:lstStyle/>
          <a:p>
            <a:pPr algn="ctr"/>
            <a:r>
              <a:rPr sz="900" b="1" i="0">
                <a:solidFill>
                  <a:srgbClr val="404040"/>
                </a:solidFill>
              </a:rPr>
              <a:t>SAR  2.8</a:t>
            </a:r>
          </a:p>
        </p:txBody>
      </p:sp>
      <p:sp>
        <p:nvSpPr>
          <p:cNvPr id="146" name="Rectangle 145"/>
          <p:cNvSpPr/>
          <p:nvPr/>
        </p:nvSpPr>
        <p:spPr>
          <a:xfrm>
            <a:off x="6858000" y="5084064"/>
            <a:ext cx="201168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903720" y="5111496"/>
            <a:ext cx="2011680" cy="219456"/>
          </a:xfrm>
          <a:prstGeom prst="rect">
            <a:avLst/>
          </a:prstGeom>
          <a:noFill/>
        </p:spPr>
        <p:txBody>
          <a:bodyPr wrap="square">
            <a:spAutoFit/>
          </a:bodyPr>
          <a:lstStyle/>
          <a:p>
            <a:pPr algn="ctr"/>
            <a:r>
              <a:rPr sz="900" b="0" i="0">
                <a:solidFill>
                  <a:srgbClr val="C00000"/>
                </a:solidFill>
              </a:rPr>
              <a:t>−89%</a:t>
            </a:r>
          </a:p>
        </p:txBody>
      </p:sp>
      <p:sp>
        <p:nvSpPr>
          <p:cNvPr id="148" name="Rectangle 147"/>
          <p:cNvSpPr/>
          <p:nvPr/>
        </p:nvSpPr>
        <p:spPr>
          <a:xfrm>
            <a:off x="274320" y="5394960"/>
            <a:ext cx="8595360" cy="82296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57200" y="5440680"/>
            <a:ext cx="1828800" cy="228600"/>
          </a:xfrm>
          <a:prstGeom prst="rect">
            <a:avLst/>
          </a:prstGeom>
          <a:noFill/>
        </p:spPr>
        <p:txBody>
          <a:bodyPr wrap="square">
            <a:spAutoFit/>
          </a:bodyPr>
          <a:lstStyle/>
          <a:p>
            <a:pPr algn="l"/>
            <a:r>
              <a:rPr sz="1000" b="1" i="0">
                <a:solidFill>
                  <a:srgbClr val="1F3864"/>
                </a:solidFill>
              </a:rPr>
              <a:t>Key Insight</a:t>
            </a:r>
          </a:p>
        </p:txBody>
      </p:sp>
      <p:sp>
        <p:nvSpPr>
          <p:cNvPr id="150" name="TextBox 149"/>
          <p:cNvSpPr txBox="1"/>
          <p:nvPr/>
        </p:nvSpPr>
        <p:spPr>
          <a:xfrm>
            <a:off x="457200" y="5669280"/>
            <a:ext cx="8229600" cy="502920"/>
          </a:xfrm>
          <a:prstGeom prst="rect">
            <a:avLst/>
          </a:prstGeom>
          <a:noFill/>
        </p:spPr>
        <p:txBody>
          <a:bodyPr wrap="square">
            <a:spAutoFit/>
          </a:bodyPr>
          <a:lstStyle/>
          <a:p>
            <a:pPr algn="l"/>
            <a:r>
              <a:rPr sz="900" b="0" i="0">
                <a:solidFill>
                  <a:srgbClr val="1F3864"/>
                </a:solidFill>
              </a:rPr>
              <a:t>MBC trades at 11x NTM EBITDA while Netflix trades at 26x. The market is not yet pricing Shahid's streaming growth. At current prices, Shahid appears to be valued near zero — the market treats MBC as a mature broadcast business with a free streaming option.</a:t>
            </a:r>
          </a:p>
        </p:txBody>
      </p:sp>
      <p:sp>
        <p:nvSpPr>
          <p:cNvPr id="151" name="TextBox 150"/>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152" name="TextBox 151"/>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SUM-OF-PARTS VALUATION</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Segment-Level Equity Values (SAR millions)</a:t>
            </a:r>
          </a:p>
        </p:txBody>
      </p:sp>
      <p:sp>
        <p:nvSpPr>
          <p:cNvPr id="5" name="Rectangle 4"/>
          <p:cNvSpPr/>
          <p:nvPr/>
        </p:nvSpPr>
        <p:spPr>
          <a:xfrm>
            <a:off x="274320" y="960120"/>
            <a:ext cx="2651760" cy="3200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978408"/>
            <a:ext cx="1371600" cy="274320"/>
          </a:xfrm>
          <a:prstGeom prst="rect">
            <a:avLst/>
          </a:prstGeom>
          <a:noFill/>
        </p:spPr>
        <p:txBody>
          <a:bodyPr wrap="square">
            <a:spAutoFit/>
          </a:bodyPr>
          <a:lstStyle/>
          <a:p>
            <a:pPr algn="l"/>
            <a:r>
              <a:rPr sz="1300" b="1" i="0">
                <a:solidFill>
                  <a:srgbClr val="FFFFFF"/>
                </a:solidFill>
              </a:rPr>
              <a:t>BOCA</a:t>
            </a:r>
          </a:p>
        </p:txBody>
      </p:sp>
      <p:sp>
        <p:nvSpPr>
          <p:cNvPr id="7" name="TextBox 6"/>
          <p:cNvSpPr txBox="1"/>
          <p:nvPr/>
        </p:nvSpPr>
        <p:spPr>
          <a:xfrm>
            <a:off x="1737360" y="996696"/>
            <a:ext cx="1097280" cy="256032"/>
          </a:xfrm>
          <a:prstGeom prst="rect">
            <a:avLst/>
          </a:prstGeom>
          <a:noFill/>
        </p:spPr>
        <p:txBody>
          <a:bodyPr wrap="square">
            <a:spAutoFit/>
          </a:bodyPr>
          <a:lstStyle/>
          <a:p>
            <a:pPr algn="l"/>
            <a:r>
              <a:rPr sz="900" b="0" i="1">
                <a:solidFill>
                  <a:srgbClr val="FFFFFF"/>
                </a:solidFill>
              </a:rPr>
              <a:t>Broadcast</a:t>
            </a:r>
          </a:p>
        </p:txBody>
      </p:sp>
      <p:sp>
        <p:nvSpPr>
          <p:cNvPr id="8" name="Rectangle 7"/>
          <p:cNvSpPr/>
          <p:nvPr/>
        </p:nvSpPr>
        <p:spPr>
          <a:xfrm>
            <a:off x="274320" y="1307592"/>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344168"/>
            <a:ext cx="548640" cy="320040"/>
          </a:xfrm>
          <a:prstGeom prst="rect">
            <a:avLst/>
          </a:prstGeom>
          <a:noFill/>
        </p:spPr>
        <p:txBody>
          <a:bodyPr wrap="square">
            <a:spAutoFit/>
          </a:bodyPr>
          <a:lstStyle/>
          <a:p>
            <a:pPr algn="l"/>
            <a:r>
              <a:rPr sz="900" b="1" i="0">
                <a:solidFill>
                  <a:srgbClr val="C00000"/>
                </a:solidFill>
              </a:rPr>
              <a:t>Bear</a:t>
            </a:r>
          </a:p>
        </p:txBody>
      </p:sp>
      <p:sp>
        <p:nvSpPr>
          <p:cNvPr id="10" name="TextBox 9"/>
          <p:cNvSpPr txBox="1"/>
          <p:nvPr/>
        </p:nvSpPr>
        <p:spPr>
          <a:xfrm>
            <a:off x="914400" y="1344168"/>
            <a:ext cx="1920240" cy="320040"/>
          </a:xfrm>
          <a:prstGeom prst="rect">
            <a:avLst/>
          </a:prstGeom>
          <a:noFill/>
        </p:spPr>
        <p:txBody>
          <a:bodyPr wrap="square">
            <a:spAutoFit/>
          </a:bodyPr>
          <a:lstStyle/>
          <a:p>
            <a:pPr algn="l"/>
            <a:r>
              <a:rPr sz="1100" b="1" i="0">
                <a:solidFill>
                  <a:srgbClr val="404040"/>
                </a:solidFill>
              </a:rPr>
              <a:t>SAR 6,245M</a:t>
            </a:r>
          </a:p>
        </p:txBody>
      </p:sp>
      <p:sp>
        <p:nvSpPr>
          <p:cNvPr id="11" name="Rectangle 10"/>
          <p:cNvSpPr/>
          <p:nvPr/>
        </p:nvSpPr>
        <p:spPr>
          <a:xfrm>
            <a:off x="274320" y="1764792"/>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1801368"/>
            <a:ext cx="548640" cy="320040"/>
          </a:xfrm>
          <a:prstGeom prst="rect">
            <a:avLst/>
          </a:prstGeom>
          <a:noFill/>
        </p:spPr>
        <p:txBody>
          <a:bodyPr wrap="square">
            <a:spAutoFit/>
          </a:bodyPr>
          <a:lstStyle/>
          <a:p>
            <a:pPr algn="l"/>
            <a:r>
              <a:rPr sz="900" b="1" i="0">
                <a:solidFill>
                  <a:srgbClr val="007030"/>
                </a:solidFill>
              </a:rPr>
              <a:t>Base</a:t>
            </a:r>
          </a:p>
        </p:txBody>
      </p:sp>
      <p:sp>
        <p:nvSpPr>
          <p:cNvPr id="13" name="TextBox 12"/>
          <p:cNvSpPr txBox="1"/>
          <p:nvPr/>
        </p:nvSpPr>
        <p:spPr>
          <a:xfrm>
            <a:off x="914400" y="1801368"/>
            <a:ext cx="1920240" cy="320040"/>
          </a:xfrm>
          <a:prstGeom prst="rect">
            <a:avLst/>
          </a:prstGeom>
          <a:noFill/>
        </p:spPr>
        <p:txBody>
          <a:bodyPr wrap="square">
            <a:spAutoFit/>
          </a:bodyPr>
          <a:lstStyle/>
          <a:p>
            <a:pPr algn="l"/>
            <a:r>
              <a:rPr sz="1100" b="1" i="0">
                <a:solidFill>
                  <a:srgbClr val="404040"/>
                </a:solidFill>
              </a:rPr>
              <a:t>SAR 8,057M</a:t>
            </a:r>
          </a:p>
        </p:txBody>
      </p:sp>
      <p:sp>
        <p:nvSpPr>
          <p:cNvPr id="14" name="Rectangle 13"/>
          <p:cNvSpPr/>
          <p:nvPr/>
        </p:nvSpPr>
        <p:spPr>
          <a:xfrm>
            <a:off x="274320" y="2221991"/>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2258567"/>
            <a:ext cx="548640" cy="320040"/>
          </a:xfrm>
          <a:prstGeom prst="rect">
            <a:avLst/>
          </a:prstGeom>
          <a:noFill/>
        </p:spPr>
        <p:txBody>
          <a:bodyPr wrap="square">
            <a:spAutoFit/>
          </a:bodyPr>
          <a:lstStyle/>
          <a:p>
            <a:pPr algn="l"/>
            <a:r>
              <a:rPr sz="900" b="1" i="0">
                <a:solidFill>
                  <a:srgbClr val="2E75B6"/>
                </a:solidFill>
              </a:rPr>
              <a:t>Bull</a:t>
            </a:r>
          </a:p>
        </p:txBody>
      </p:sp>
      <p:sp>
        <p:nvSpPr>
          <p:cNvPr id="16" name="TextBox 15"/>
          <p:cNvSpPr txBox="1"/>
          <p:nvPr/>
        </p:nvSpPr>
        <p:spPr>
          <a:xfrm>
            <a:off x="914400" y="2258567"/>
            <a:ext cx="1920240" cy="320040"/>
          </a:xfrm>
          <a:prstGeom prst="rect">
            <a:avLst/>
          </a:prstGeom>
          <a:noFill/>
        </p:spPr>
        <p:txBody>
          <a:bodyPr wrap="square">
            <a:spAutoFit/>
          </a:bodyPr>
          <a:lstStyle/>
          <a:p>
            <a:pPr algn="l"/>
            <a:r>
              <a:rPr sz="1100" b="1" i="0">
                <a:solidFill>
                  <a:srgbClr val="404040"/>
                </a:solidFill>
              </a:rPr>
              <a:t>SAR 10,169M</a:t>
            </a:r>
          </a:p>
        </p:txBody>
      </p:sp>
      <p:sp>
        <p:nvSpPr>
          <p:cNvPr id="17" name="Rectangle 16"/>
          <p:cNvSpPr/>
          <p:nvPr/>
        </p:nvSpPr>
        <p:spPr>
          <a:xfrm>
            <a:off x="274320" y="2743200"/>
            <a:ext cx="265176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2761488"/>
            <a:ext cx="2651760" cy="219456"/>
          </a:xfrm>
          <a:prstGeom prst="rect">
            <a:avLst/>
          </a:prstGeom>
          <a:noFill/>
        </p:spPr>
        <p:txBody>
          <a:bodyPr wrap="square">
            <a:spAutoFit/>
          </a:bodyPr>
          <a:lstStyle/>
          <a:p>
            <a:pPr algn="ctr"/>
            <a:r>
              <a:rPr sz="900" b="1" i="0">
                <a:solidFill>
                  <a:srgbClr val="FFFFFF"/>
                </a:solidFill>
              </a:rPr>
              <a:t>9–12x EBITDA</a:t>
            </a:r>
          </a:p>
        </p:txBody>
      </p:sp>
      <p:sp>
        <p:nvSpPr>
          <p:cNvPr id="19" name="TextBox 18"/>
          <p:cNvSpPr txBox="1"/>
          <p:nvPr/>
        </p:nvSpPr>
        <p:spPr>
          <a:xfrm>
            <a:off x="274320" y="3063240"/>
            <a:ext cx="2651760" cy="640080"/>
          </a:xfrm>
          <a:prstGeom prst="rect">
            <a:avLst/>
          </a:prstGeom>
          <a:noFill/>
        </p:spPr>
        <p:txBody>
          <a:bodyPr wrap="square">
            <a:spAutoFit/>
          </a:bodyPr>
          <a:lstStyle/>
          <a:p>
            <a:pPr algn="l"/>
            <a:r>
              <a:rPr sz="800" b="0" i="1">
                <a:solidFill>
                  <a:srgbClr val="404040"/>
                </a:solidFill>
              </a:rPr>
              <a:t>MENA's dominant pan-Arab TV. Analog: Sinclair Broadcast. Strong advertising cash flows.</a:t>
            </a:r>
          </a:p>
        </p:txBody>
      </p:sp>
      <p:sp>
        <p:nvSpPr>
          <p:cNvPr id="20" name="Rectangle 19"/>
          <p:cNvSpPr/>
          <p:nvPr/>
        </p:nvSpPr>
        <p:spPr>
          <a:xfrm>
            <a:off x="3154680" y="960120"/>
            <a:ext cx="2651760" cy="3200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27832" y="978408"/>
            <a:ext cx="1371600" cy="274320"/>
          </a:xfrm>
          <a:prstGeom prst="rect">
            <a:avLst/>
          </a:prstGeom>
          <a:noFill/>
        </p:spPr>
        <p:txBody>
          <a:bodyPr wrap="square">
            <a:spAutoFit/>
          </a:bodyPr>
          <a:lstStyle/>
          <a:p>
            <a:pPr algn="l"/>
            <a:r>
              <a:rPr sz="1300" b="1" i="0">
                <a:solidFill>
                  <a:srgbClr val="FFFFFF"/>
                </a:solidFill>
              </a:rPr>
              <a:t>Shahid</a:t>
            </a:r>
          </a:p>
        </p:txBody>
      </p:sp>
      <p:sp>
        <p:nvSpPr>
          <p:cNvPr id="22" name="TextBox 21"/>
          <p:cNvSpPr txBox="1"/>
          <p:nvPr/>
        </p:nvSpPr>
        <p:spPr>
          <a:xfrm>
            <a:off x="4617720" y="996696"/>
            <a:ext cx="1097280" cy="256032"/>
          </a:xfrm>
          <a:prstGeom prst="rect">
            <a:avLst/>
          </a:prstGeom>
          <a:noFill/>
        </p:spPr>
        <p:txBody>
          <a:bodyPr wrap="square">
            <a:spAutoFit/>
          </a:bodyPr>
          <a:lstStyle/>
          <a:p>
            <a:pPr algn="l"/>
            <a:r>
              <a:rPr sz="900" b="0" i="1">
                <a:solidFill>
                  <a:srgbClr val="FFFFFF"/>
                </a:solidFill>
              </a:rPr>
              <a:t>Streaming</a:t>
            </a:r>
          </a:p>
        </p:txBody>
      </p:sp>
      <p:sp>
        <p:nvSpPr>
          <p:cNvPr id="23" name="Rectangle 22"/>
          <p:cNvSpPr/>
          <p:nvPr/>
        </p:nvSpPr>
        <p:spPr>
          <a:xfrm>
            <a:off x="3154680" y="1307592"/>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27832" y="1344168"/>
            <a:ext cx="548640" cy="320040"/>
          </a:xfrm>
          <a:prstGeom prst="rect">
            <a:avLst/>
          </a:prstGeom>
          <a:noFill/>
        </p:spPr>
        <p:txBody>
          <a:bodyPr wrap="square">
            <a:spAutoFit/>
          </a:bodyPr>
          <a:lstStyle/>
          <a:p>
            <a:pPr algn="l"/>
            <a:r>
              <a:rPr sz="900" b="1" i="0">
                <a:solidFill>
                  <a:srgbClr val="C00000"/>
                </a:solidFill>
              </a:rPr>
              <a:t>Bear</a:t>
            </a:r>
          </a:p>
        </p:txBody>
      </p:sp>
      <p:sp>
        <p:nvSpPr>
          <p:cNvPr id="25" name="TextBox 24"/>
          <p:cNvSpPr txBox="1"/>
          <p:nvPr/>
        </p:nvSpPr>
        <p:spPr>
          <a:xfrm>
            <a:off x="3794760" y="1344168"/>
            <a:ext cx="1920240" cy="320040"/>
          </a:xfrm>
          <a:prstGeom prst="rect">
            <a:avLst/>
          </a:prstGeom>
          <a:noFill/>
        </p:spPr>
        <p:txBody>
          <a:bodyPr wrap="square">
            <a:spAutoFit/>
          </a:bodyPr>
          <a:lstStyle/>
          <a:p>
            <a:pPr algn="l"/>
            <a:r>
              <a:rPr sz="1100" b="1" i="0">
                <a:solidFill>
                  <a:srgbClr val="404040"/>
                </a:solidFill>
              </a:rPr>
              <a:t>SAR 4,217M</a:t>
            </a:r>
          </a:p>
        </p:txBody>
      </p:sp>
      <p:sp>
        <p:nvSpPr>
          <p:cNvPr id="26" name="Rectangle 25"/>
          <p:cNvSpPr/>
          <p:nvPr/>
        </p:nvSpPr>
        <p:spPr>
          <a:xfrm>
            <a:off x="3154680" y="1764792"/>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27832" y="1801368"/>
            <a:ext cx="548640" cy="320040"/>
          </a:xfrm>
          <a:prstGeom prst="rect">
            <a:avLst/>
          </a:prstGeom>
          <a:noFill/>
        </p:spPr>
        <p:txBody>
          <a:bodyPr wrap="square">
            <a:spAutoFit/>
          </a:bodyPr>
          <a:lstStyle/>
          <a:p>
            <a:pPr algn="l"/>
            <a:r>
              <a:rPr sz="900" b="1" i="0">
                <a:solidFill>
                  <a:srgbClr val="007030"/>
                </a:solidFill>
              </a:rPr>
              <a:t>Base</a:t>
            </a:r>
          </a:p>
        </p:txBody>
      </p:sp>
      <p:sp>
        <p:nvSpPr>
          <p:cNvPr id="28" name="TextBox 27"/>
          <p:cNvSpPr txBox="1"/>
          <p:nvPr/>
        </p:nvSpPr>
        <p:spPr>
          <a:xfrm>
            <a:off x="3794760" y="1801368"/>
            <a:ext cx="1920240" cy="320040"/>
          </a:xfrm>
          <a:prstGeom prst="rect">
            <a:avLst/>
          </a:prstGeom>
          <a:noFill/>
        </p:spPr>
        <p:txBody>
          <a:bodyPr wrap="square">
            <a:spAutoFit/>
          </a:bodyPr>
          <a:lstStyle/>
          <a:p>
            <a:pPr algn="l"/>
            <a:r>
              <a:rPr sz="1100" b="1" i="0">
                <a:solidFill>
                  <a:srgbClr val="404040"/>
                </a:solidFill>
              </a:rPr>
              <a:t>SAR 7,967M</a:t>
            </a:r>
          </a:p>
        </p:txBody>
      </p:sp>
      <p:sp>
        <p:nvSpPr>
          <p:cNvPr id="29" name="Rectangle 28"/>
          <p:cNvSpPr/>
          <p:nvPr/>
        </p:nvSpPr>
        <p:spPr>
          <a:xfrm>
            <a:off x="3154680" y="2221991"/>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27832" y="2258567"/>
            <a:ext cx="548640" cy="320040"/>
          </a:xfrm>
          <a:prstGeom prst="rect">
            <a:avLst/>
          </a:prstGeom>
          <a:noFill/>
        </p:spPr>
        <p:txBody>
          <a:bodyPr wrap="square">
            <a:spAutoFit/>
          </a:bodyPr>
          <a:lstStyle/>
          <a:p>
            <a:pPr algn="l"/>
            <a:r>
              <a:rPr sz="900" b="1" i="0">
                <a:solidFill>
                  <a:srgbClr val="2E75B6"/>
                </a:solidFill>
              </a:rPr>
              <a:t>Bull</a:t>
            </a:r>
          </a:p>
        </p:txBody>
      </p:sp>
      <p:sp>
        <p:nvSpPr>
          <p:cNvPr id="31" name="TextBox 30"/>
          <p:cNvSpPr txBox="1"/>
          <p:nvPr/>
        </p:nvSpPr>
        <p:spPr>
          <a:xfrm>
            <a:off x="3794760" y="2258567"/>
            <a:ext cx="1920240" cy="320040"/>
          </a:xfrm>
          <a:prstGeom prst="rect">
            <a:avLst/>
          </a:prstGeom>
          <a:noFill/>
        </p:spPr>
        <p:txBody>
          <a:bodyPr wrap="square">
            <a:spAutoFit/>
          </a:bodyPr>
          <a:lstStyle/>
          <a:p>
            <a:pPr algn="l"/>
            <a:r>
              <a:rPr sz="1100" b="1" i="0">
                <a:solidFill>
                  <a:srgbClr val="404040"/>
                </a:solidFill>
              </a:rPr>
              <a:t>SAR 14,117M</a:t>
            </a:r>
          </a:p>
        </p:txBody>
      </p:sp>
      <p:sp>
        <p:nvSpPr>
          <p:cNvPr id="32" name="Rectangle 31"/>
          <p:cNvSpPr/>
          <p:nvPr/>
        </p:nvSpPr>
        <p:spPr>
          <a:xfrm>
            <a:off x="3154680" y="2743200"/>
            <a:ext cx="26517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54680" y="2761488"/>
            <a:ext cx="2651760" cy="219456"/>
          </a:xfrm>
          <a:prstGeom prst="rect">
            <a:avLst/>
          </a:prstGeom>
          <a:noFill/>
        </p:spPr>
        <p:txBody>
          <a:bodyPr wrap="square">
            <a:spAutoFit/>
          </a:bodyPr>
          <a:lstStyle/>
          <a:p>
            <a:pPr algn="ctr"/>
            <a:r>
              <a:rPr sz="900" b="1" i="0">
                <a:solidFill>
                  <a:srgbClr val="FFFFFF"/>
                </a:solidFill>
              </a:rPr>
              <a:t>3–8x EV/Revenue</a:t>
            </a:r>
          </a:p>
        </p:txBody>
      </p:sp>
      <p:sp>
        <p:nvSpPr>
          <p:cNvPr id="34" name="TextBox 33"/>
          <p:cNvSpPr txBox="1"/>
          <p:nvPr/>
        </p:nvSpPr>
        <p:spPr>
          <a:xfrm>
            <a:off x="3154680" y="3063240"/>
            <a:ext cx="2651760" cy="640080"/>
          </a:xfrm>
          <a:prstGeom prst="rect">
            <a:avLst/>
          </a:prstGeom>
          <a:noFill/>
        </p:spPr>
        <p:txBody>
          <a:bodyPr wrap="square">
            <a:spAutoFit/>
          </a:bodyPr>
          <a:lstStyle/>
          <a:p>
            <a:pPr algn="l"/>
            <a:r>
              <a:rPr sz="800" b="0" i="1">
                <a:solidFill>
                  <a:srgbClr val="404040"/>
                </a:solidFill>
              </a:rPr>
              <a:t>34% revenue growth. MENA's leading Arabic streaming. Not yet EBITDA positive.</a:t>
            </a:r>
          </a:p>
        </p:txBody>
      </p:sp>
      <p:sp>
        <p:nvSpPr>
          <p:cNvPr id="35" name="Rectangle 34"/>
          <p:cNvSpPr/>
          <p:nvPr/>
        </p:nvSpPr>
        <p:spPr>
          <a:xfrm>
            <a:off x="6035040" y="960120"/>
            <a:ext cx="2651760" cy="32004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08192" y="978408"/>
            <a:ext cx="1371600" cy="274320"/>
          </a:xfrm>
          <a:prstGeom prst="rect">
            <a:avLst/>
          </a:prstGeom>
          <a:noFill/>
        </p:spPr>
        <p:txBody>
          <a:bodyPr wrap="square">
            <a:spAutoFit/>
          </a:bodyPr>
          <a:lstStyle/>
          <a:p>
            <a:pPr algn="l"/>
            <a:r>
              <a:rPr sz="1300" b="1" i="0">
                <a:solidFill>
                  <a:srgbClr val="FFFFFF"/>
                </a:solidFill>
              </a:rPr>
              <a:t>M&amp;E</a:t>
            </a:r>
          </a:p>
        </p:txBody>
      </p:sp>
      <p:sp>
        <p:nvSpPr>
          <p:cNvPr id="37" name="TextBox 36"/>
          <p:cNvSpPr txBox="1"/>
          <p:nvPr/>
        </p:nvSpPr>
        <p:spPr>
          <a:xfrm>
            <a:off x="7498080" y="996696"/>
            <a:ext cx="1097280" cy="256032"/>
          </a:xfrm>
          <a:prstGeom prst="rect">
            <a:avLst/>
          </a:prstGeom>
          <a:noFill/>
        </p:spPr>
        <p:txBody>
          <a:bodyPr wrap="square">
            <a:spAutoFit/>
          </a:bodyPr>
          <a:lstStyle/>
          <a:p>
            <a:pPr algn="l"/>
            <a:r>
              <a:rPr sz="900" b="0" i="1">
                <a:solidFill>
                  <a:srgbClr val="FFFFFF"/>
                </a:solidFill>
              </a:rPr>
              <a:t>Media &amp; Events</a:t>
            </a:r>
          </a:p>
        </p:txBody>
      </p:sp>
      <p:sp>
        <p:nvSpPr>
          <p:cNvPr id="38" name="Rectangle 37"/>
          <p:cNvSpPr/>
          <p:nvPr/>
        </p:nvSpPr>
        <p:spPr>
          <a:xfrm>
            <a:off x="6035040" y="1307592"/>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08192" y="1344168"/>
            <a:ext cx="548640" cy="320040"/>
          </a:xfrm>
          <a:prstGeom prst="rect">
            <a:avLst/>
          </a:prstGeom>
          <a:noFill/>
        </p:spPr>
        <p:txBody>
          <a:bodyPr wrap="square">
            <a:spAutoFit/>
          </a:bodyPr>
          <a:lstStyle/>
          <a:p>
            <a:pPr algn="l"/>
            <a:r>
              <a:rPr sz="900" b="1" i="0">
                <a:solidFill>
                  <a:srgbClr val="C00000"/>
                </a:solidFill>
              </a:rPr>
              <a:t>Bear</a:t>
            </a:r>
          </a:p>
        </p:txBody>
      </p:sp>
      <p:sp>
        <p:nvSpPr>
          <p:cNvPr id="40" name="TextBox 39"/>
          <p:cNvSpPr txBox="1"/>
          <p:nvPr/>
        </p:nvSpPr>
        <p:spPr>
          <a:xfrm>
            <a:off x="6675120" y="1344168"/>
            <a:ext cx="1920240" cy="320040"/>
          </a:xfrm>
          <a:prstGeom prst="rect">
            <a:avLst/>
          </a:prstGeom>
          <a:noFill/>
        </p:spPr>
        <p:txBody>
          <a:bodyPr wrap="square">
            <a:spAutoFit/>
          </a:bodyPr>
          <a:lstStyle/>
          <a:p>
            <a:pPr algn="l"/>
            <a:r>
              <a:rPr sz="1100" b="1" i="0">
                <a:solidFill>
                  <a:srgbClr val="404040"/>
                </a:solidFill>
              </a:rPr>
              <a:t>SAR 149M</a:t>
            </a:r>
          </a:p>
        </p:txBody>
      </p:sp>
      <p:sp>
        <p:nvSpPr>
          <p:cNvPr id="41" name="Rectangle 40"/>
          <p:cNvSpPr/>
          <p:nvPr/>
        </p:nvSpPr>
        <p:spPr>
          <a:xfrm>
            <a:off x="6035040" y="1764792"/>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08192" y="1801368"/>
            <a:ext cx="548640" cy="320040"/>
          </a:xfrm>
          <a:prstGeom prst="rect">
            <a:avLst/>
          </a:prstGeom>
          <a:noFill/>
        </p:spPr>
        <p:txBody>
          <a:bodyPr wrap="square">
            <a:spAutoFit/>
          </a:bodyPr>
          <a:lstStyle/>
          <a:p>
            <a:pPr algn="l"/>
            <a:r>
              <a:rPr sz="900" b="1" i="0">
                <a:solidFill>
                  <a:srgbClr val="007030"/>
                </a:solidFill>
              </a:rPr>
              <a:t>Base</a:t>
            </a:r>
          </a:p>
        </p:txBody>
      </p:sp>
      <p:sp>
        <p:nvSpPr>
          <p:cNvPr id="43" name="TextBox 42"/>
          <p:cNvSpPr txBox="1"/>
          <p:nvPr/>
        </p:nvSpPr>
        <p:spPr>
          <a:xfrm>
            <a:off x="6675120" y="1801368"/>
            <a:ext cx="1920240" cy="320040"/>
          </a:xfrm>
          <a:prstGeom prst="rect">
            <a:avLst/>
          </a:prstGeom>
          <a:noFill/>
        </p:spPr>
        <p:txBody>
          <a:bodyPr wrap="square">
            <a:spAutoFit/>
          </a:bodyPr>
          <a:lstStyle/>
          <a:p>
            <a:pPr algn="l"/>
            <a:r>
              <a:rPr sz="1100" b="1" i="0">
                <a:solidFill>
                  <a:srgbClr val="404040"/>
                </a:solidFill>
              </a:rPr>
              <a:t>SAR 417M</a:t>
            </a:r>
          </a:p>
        </p:txBody>
      </p:sp>
      <p:sp>
        <p:nvSpPr>
          <p:cNvPr id="44" name="Rectangle 43"/>
          <p:cNvSpPr/>
          <p:nvPr/>
        </p:nvSpPr>
        <p:spPr>
          <a:xfrm>
            <a:off x="6035040" y="2221991"/>
            <a:ext cx="2651760" cy="4114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08192" y="2258567"/>
            <a:ext cx="548640" cy="320040"/>
          </a:xfrm>
          <a:prstGeom prst="rect">
            <a:avLst/>
          </a:prstGeom>
          <a:noFill/>
        </p:spPr>
        <p:txBody>
          <a:bodyPr wrap="square">
            <a:spAutoFit/>
          </a:bodyPr>
          <a:lstStyle/>
          <a:p>
            <a:pPr algn="l"/>
            <a:r>
              <a:rPr sz="900" b="1" i="0">
                <a:solidFill>
                  <a:srgbClr val="2E75B6"/>
                </a:solidFill>
              </a:rPr>
              <a:t>Bull</a:t>
            </a:r>
          </a:p>
        </p:txBody>
      </p:sp>
      <p:sp>
        <p:nvSpPr>
          <p:cNvPr id="46" name="TextBox 45"/>
          <p:cNvSpPr txBox="1"/>
          <p:nvPr/>
        </p:nvSpPr>
        <p:spPr>
          <a:xfrm>
            <a:off x="6675120" y="2258567"/>
            <a:ext cx="1920240" cy="320040"/>
          </a:xfrm>
          <a:prstGeom prst="rect">
            <a:avLst/>
          </a:prstGeom>
          <a:noFill/>
        </p:spPr>
        <p:txBody>
          <a:bodyPr wrap="square">
            <a:spAutoFit/>
          </a:bodyPr>
          <a:lstStyle/>
          <a:p>
            <a:pPr algn="l"/>
            <a:r>
              <a:rPr sz="1100" b="1" i="0">
                <a:solidFill>
                  <a:srgbClr val="404040"/>
                </a:solidFill>
              </a:rPr>
              <a:t>SAR 761M</a:t>
            </a:r>
          </a:p>
        </p:txBody>
      </p:sp>
      <p:sp>
        <p:nvSpPr>
          <p:cNvPr id="47" name="Rectangle 46"/>
          <p:cNvSpPr/>
          <p:nvPr/>
        </p:nvSpPr>
        <p:spPr>
          <a:xfrm>
            <a:off x="6035040" y="2743200"/>
            <a:ext cx="2651760" cy="256032"/>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35040" y="2761488"/>
            <a:ext cx="2651760" cy="219456"/>
          </a:xfrm>
          <a:prstGeom prst="rect">
            <a:avLst/>
          </a:prstGeom>
          <a:noFill/>
        </p:spPr>
        <p:txBody>
          <a:bodyPr wrap="square">
            <a:spAutoFit/>
          </a:bodyPr>
          <a:lstStyle/>
          <a:p>
            <a:pPr algn="ctr"/>
            <a:r>
              <a:rPr sz="900" b="1" i="0">
                <a:solidFill>
                  <a:srgbClr val="FFFFFF"/>
                </a:solidFill>
              </a:rPr>
              <a:t>8–12x EBITDA</a:t>
            </a:r>
          </a:p>
        </p:txBody>
      </p:sp>
      <p:sp>
        <p:nvSpPr>
          <p:cNvPr id="49" name="TextBox 48"/>
          <p:cNvSpPr txBox="1"/>
          <p:nvPr/>
        </p:nvSpPr>
        <p:spPr>
          <a:xfrm>
            <a:off x="6035040" y="3063240"/>
            <a:ext cx="2651760" cy="640080"/>
          </a:xfrm>
          <a:prstGeom prst="rect">
            <a:avLst/>
          </a:prstGeom>
          <a:noFill/>
        </p:spPr>
        <p:txBody>
          <a:bodyPr wrap="square">
            <a:spAutoFit/>
          </a:bodyPr>
          <a:lstStyle/>
          <a:p>
            <a:pPr algn="l"/>
            <a:r>
              <a:rPr sz="800" b="0" i="1">
                <a:solidFill>
                  <a:srgbClr val="404040"/>
                </a:solidFill>
              </a:rPr>
              <a:t>Production + events. Thin margins, cyclical. Benefits from Vision 2030 entertainment boom.</a:t>
            </a:r>
          </a:p>
        </p:txBody>
      </p:sp>
      <p:sp>
        <p:nvSpPr>
          <p:cNvPr id="50" name="TextBox 49"/>
          <p:cNvSpPr txBox="1"/>
          <p:nvPr/>
        </p:nvSpPr>
        <p:spPr>
          <a:xfrm>
            <a:off x="274320" y="3794760"/>
            <a:ext cx="8595360" cy="320040"/>
          </a:xfrm>
          <a:prstGeom prst="rect">
            <a:avLst/>
          </a:prstGeom>
          <a:noFill/>
        </p:spPr>
        <p:txBody>
          <a:bodyPr wrap="square">
            <a:spAutoFit/>
          </a:bodyPr>
          <a:lstStyle/>
          <a:p>
            <a:pPr algn="l"/>
            <a:r>
              <a:rPr sz="1400" b="1" i="0">
                <a:solidFill>
                  <a:srgbClr val="1F3864"/>
                </a:solidFill>
              </a:rPr>
              <a:t>SOTP Equity Summary</a:t>
            </a:r>
          </a:p>
        </p:txBody>
      </p:sp>
      <p:sp>
        <p:nvSpPr>
          <p:cNvPr id="51" name="Rectangle 50"/>
          <p:cNvSpPr/>
          <p:nvPr/>
        </p:nvSpPr>
        <p:spPr>
          <a:xfrm>
            <a:off x="274320" y="4160520"/>
            <a:ext cx="256032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0040" y="4187952"/>
            <a:ext cx="2560320" cy="228600"/>
          </a:xfrm>
          <a:prstGeom prst="rect">
            <a:avLst/>
          </a:prstGeom>
          <a:noFill/>
        </p:spPr>
        <p:txBody>
          <a:bodyPr wrap="square">
            <a:spAutoFit/>
          </a:bodyPr>
          <a:lstStyle/>
          <a:p>
            <a:pPr algn="l"/>
            <a:r>
              <a:rPr sz="900" b="1" i="0">
                <a:solidFill>
                  <a:srgbClr val="FFFFFF"/>
                </a:solidFill>
              </a:rPr>
              <a:t/>
            </a:r>
          </a:p>
        </p:txBody>
      </p:sp>
      <p:sp>
        <p:nvSpPr>
          <p:cNvPr id="53" name="Rectangle 52"/>
          <p:cNvSpPr/>
          <p:nvPr/>
        </p:nvSpPr>
        <p:spPr>
          <a:xfrm>
            <a:off x="2926080" y="4160520"/>
            <a:ext cx="13716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71800" y="4187952"/>
            <a:ext cx="1371600" cy="228600"/>
          </a:xfrm>
          <a:prstGeom prst="rect">
            <a:avLst/>
          </a:prstGeom>
          <a:noFill/>
        </p:spPr>
        <p:txBody>
          <a:bodyPr wrap="square">
            <a:spAutoFit/>
          </a:bodyPr>
          <a:lstStyle/>
          <a:p>
            <a:pPr algn="ctr"/>
            <a:r>
              <a:rPr sz="900" b="1" i="0">
                <a:solidFill>
                  <a:srgbClr val="FFFFFF"/>
                </a:solidFill>
              </a:rPr>
              <a:t>Bear</a:t>
            </a:r>
          </a:p>
        </p:txBody>
      </p:sp>
      <p:sp>
        <p:nvSpPr>
          <p:cNvPr id="55" name="Rectangle 54"/>
          <p:cNvSpPr/>
          <p:nvPr/>
        </p:nvSpPr>
        <p:spPr>
          <a:xfrm>
            <a:off x="4389120" y="4160520"/>
            <a:ext cx="13716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34840" y="4187952"/>
            <a:ext cx="1371600" cy="228600"/>
          </a:xfrm>
          <a:prstGeom prst="rect">
            <a:avLst/>
          </a:prstGeom>
          <a:noFill/>
        </p:spPr>
        <p:txBody>
          <a:bodyPr wrap="square">
            <a:spAutoFit/>
          </a:bodyPr>
          <a:lstStyle/>
          <a:p>
            <a:pPr algn="ctr"/>
            <a:r>
              <a:rPr sz="900" b="1" i="0">
                <a:solidFill>
                  <a:srgbClr val="FFFFFF"/>
                </a:solidFill>
              </a:rPr>
              <a:t>Base</a:t>
            </a:r>
          </a:p>
        </p:txBody>
      </p:sp>
      <p:sp>
        <p:nvSpPr>
          <p:cNvPr id="57" name="Rectangle 56"/>
          <p:cNvSpPr/>
          <p:nvPr/>
        </p:nvSpPr>
        <p:spPr>
          <a:xfrm>
            <a:off x="5852160" y="4160520"/>
            <a:ext cx="13716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97880" y="4187952"/>
            <a:ext cx="1371600" cy="228600"/>
          </a:xfrm>
          <a:prstGeom prst="rect">
            <a:avLst/>
          </a:prstGeom>
          <a:noFill/>
        </p:spPr>
        <p:txBody>
          <a:bodyPr wrap="square">
            <a:spAutoFit/>
          </a:bodyPr>
          <a:lstStyle/>
          <a:p>
            <a:pPr algn="ctr"/>
            <a:r>
              <a:rPr sz="900" b="1" i="0">
                <a:solidFill>
                  <a:srgbClr val="FFFFFF"/>
                </a:solidFill>
              </a:rPr>
              <a:t>Bull</a:t>
            </a:r>
          </a:p>
        </p:txBody>
      </p:sp>
      <p:sp>
        <p:nvSpPr>
          <p:cNvPr id="59" name="Rectangle 58"/>
          <p:cNvSpPr/>
          <p:nvPr/>
        </p:nvSpPr>
        <p:spPr>
          <a:xfrm>
            <a:off x="274320" y="4462272"/>
            <a:ext cx="25603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0040" y="4489704"/>
            <a:ext cx="2560320" cy="228600"/>
          </a:xfrm>
          <a:prstGeom prst="rect">
            <a:avLst/>
          </a:prstGeom>
          <a:noFill/>
        </p:spPr>
        <p:txBody>
          <a:bodyPr wrap="square">
            <a:spAutoFit/>
          </a:bodyPr>
          <a:lstStyle/>
          <a:p>
            <a:pPr algn="l"/>
            <a:r>
              <a:rPr sz="900" b="0" i="0">
                <a:solidFill>
                  <a:srgbClr val="404040"/>
                </a:solidFill>
              </a:rPr>
              <a:t>BOCA</a:t>
            </a:r>
          </a:p>
        </p:txBody>
      </p:sp>
      <p:sp>
        <p:nvSpPr>
          <p:cNvPr id="61" name="Rectangle 60"/>
          <p:cNvSpPr/>
          <p:nvPr/>
        </p:nvSpPr>
        <p:spPr>
          <a:xfrm>
            <a:off x="2926080" y="4462272"/>
            <a:ext cx="13716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71800" y="4489704"/>
            <a:ext cx="1371600" cy="228600"/>
          </a:xfrm>
          <a:prstGeom prst="rect">
            <a:avLst/>
          </a:prstGeom>
          <a:noFill/>
        </p:spPr>
        <p:txBody>
          <a:bodyPr wrap="square">
            <a:spAutoFit/>
          </a:bodyPr>
          <a:lstStyle/>
          <a:p>
            <a:pPr algn="ctr"/>
            <a:r>
              <a:rPr sz="900" b="0" i="0">
                <a:solidFill>
                  <a:srgbClr val="404040"/>
                </a:solidFill>
              </a:rPr>
              <a:t>6,245</a:t>
            </a:r>
          </a:p>
        </p:txBody>
      </p:sp>
      <p:sp>
        <p:nvSpPr>
          <p:cNvPr id="63" name="Rectangle 62"/>
          <p:cNvSpPr/>
          <p:nvPr/>
        </p:nvSpPr>
        <p:spPr>
          <a:xfrm>
            <a:off x="4389120" y="4462272"/>
            <a:ext cx="13716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434840" y="4489704"/>
            <a:ext cx="1371600" cy="228600"/>
          </a:xfrm>
          <a:prstGeom prst="rect">
            <a:avLst/>
          </a:prstGeom>
          <a:noFill/>
        </p:spPr>
        <p:txBody>
          <a:bodyPr wrap="square">
            <a:spAutoFit/>
          </a:bodyPr>
          <a:lstStyle/>
          <a:p>
            <a:pPr algn="ctr"/>
            <a:r>
              <a:rPr sz="900" b="0" i="0">
                <a:solidFill>
                  <a:srgbClr val="404040"/>
                </a:solidFill>
              </a:rPr>
              <a:t>8,057</a:t>
            </a:r>
          </a:p>
        </p:txBody>
      </p:sp>
      <p:sp>
        <p:nvSpPr>
          <p:cNvPr id="65" name="Rectangle 64"/>
          <p:cNvSpPr/>
          <p:nvPr/>
        </p:nvSpPr>
        <p:spPr>
          <a:xfrm>
            <a:off x="5852160" y="4462272"/>
            <a:ext cx="13716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97880" y="4489704"/>
            <a:ext cx="1371600" cy="228600"/>
          </a:xfrm>
          <a:prstGeom prst="rect">
            <a:avLst/>
          </a:prstGeom>
          <a:noFill/>
        </p:spPr>
        <p:txBody>
          <a:bodyPr wrap="square">
            <a:spAutoFit/>
          </a:bodyPr>
          <a:lstStyle/>
          <a:p>
            <a:pPr algn="ctr"/>
            <a:r>
              <a:rPr sz="900" b="0" i="0">
                <a:solidFill>
                  <a:srgbClr val="404040"/>
                </a:solidFill>
              </a:rPr>
              <a:t>10,169</a:t>
            </a:r>
          </a:p>
        </p:txBody>
      </p:sp>
      <p:sp>
        <p:nvSpPr>
          <p:cNvPr id="67" name="Rectangle 66"/>
          <p:cNvSpPr/>
          <p:nvPr/>
        </p:nvSpPr>
        <p:spPr>
          <a:xfrm>
            <a:off x="274320" y="4764024"/>
            <a:ext cx="256032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0040" y="4791456"/>
            <a:ext cx="2560320" cy="228600"/>
          </a:xfrm>
          <a:prstGeom prst="rect">
            <a:avLst/>
          </a:prstGeom>
          <a:noFill/>
        </p:spPr>
        <p:txBody>
          <a:bodyPr wrap="square">
            <a:spAutoFit/>
          </a:bodyPr>
          <a:lstStyle/>
          <a:p>
            <a:pPr algn="l"/>
            <a:r>
              <a:rPr sz="900" b="0" i="0">
                <a:solidFill>
                  <a:srgbClr val="404040"/>
                </a:solidFill>
              </a:rPr>
              <a:t>Shahid</a:t>
            </a:r>
          </a:p>
        </p:txBody>
      </p:sp>
      <p:sp>
        <p:nvSpPr>
          <p:cNvPr id="69" name="Rectangle 68"/>
          <p:cNvSpPr/>
          <p:nvPr/>
        </p:nvSpPr>
        <p:spPr>
          <a:xfrm>
            <a:off x="2926080" y="4764024"/>
            <a:ext cx="13716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71800" y="4791456"/>
            <a:ext cx="1371600" cy="228600"/>
          </a:xfrm>
          <a:prstGeom prst="rect">
            <a:avLst/>
          </a:prstGeom>
          <a:noFill/>
        </p:spPr>
        <p:txBody>
          <a:bodyPr wrap="square">
            <a:spAutoFit/>
          </a:bodyPr>
          <a:lstStyle/>
          <a:p>
            <a:pPr algn="ctr"/>
            <a:r>
              <a:rPr sz="900" b="0" i="0">
                <a:solidFill>
                  <a:srgbClr val="404040"/>
                </a:solidFill>
              </a:rPr>
              <a:t>4,217</a:t>
            </a:r>
          </a:p>
        </p:txBody>
      </p:sp>
      <p:sp>
        <p:nvSpPr>
          <p:cNvPr id="71" name="Rectangle 70"/>
          <p:cNvSpPr/>
          <p:nvPr/>
        </p:nvSpPr>
        <p:spPr>
          <a:xfrm>
            <a:off x="4389120" y="4764024"/>
            <a:ext cx="13716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434840" y="4791456"/>
            <a:ext cx="1371600" cy="228600"/>
          </a:xfrm>
          <a:prstGeom prst="rect">
            <a:avLst/>
          </a:prstGeom>
          <a:noFill/>
        </p:spPr>
        <p:txBody>
          <a:bodyPr wrap="square">
            <a:spAutoFit/>
          </a:bodyPr>
          <a:lstStyle/>
          <a:p>
            <a:pPr algn="ctr"/>
            <a:r>
              <a:rPr sz="900" b="0" i="0">
                <a:solidFill>
                  <a:srgbClr val="404040"/>
                </a:solidFill>
              </a:rPr>
              <a:t>7,967</a:t>
            </a:r>
          </a:p>
        </p:txBody>
      </p:sp>
      <p:sp>
        <p:nvSpPr>
          <p:cNvPr id="73" name="Rectangle 72"/>
          <p:cNvSpPr/>
          <p:nvPr/>
        </p:nvSpPr>
        <p:spPr>
          <a:xfrm>
            <a:off x="5852160" y="4764024"/>
            <a:ext cx="13716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897880" y="4791456"/>
            <a:ext cx="1371600" cy="228600"/>
          </a:xfrm>
          <a:prstGeom prst="rect">
            <a:avLst/>
          </a:prstGeom>
          <a:noFill/>
        </p:spPr>
        <p:txBody>
          <a:bodyPr wrap="square">
            <a:spAutoFit/>
          </a:bodyPr>
          <a:lstStyle/>
          <a:p>
            <a:pPr algn="ctr"/>
            <a:r>
              <a:rPr sz="900" b="0" i="0">
                <a:solidFill>
                  <a:srgbClr val="404040"/>
                </a:solidFill>
              </a:rPr>
              <a:t>14,117</a:t>
            </a:r>
          </a:p>
        </p:txBody>
      </p:sp>
      <p:sp>
        <p:nvSpPr>
          <p:cNvPr id="75" name="Rectangle 74"/>
          <p:cNvSpPr/>
          <p:nvPr/>
        </p:nvSpPr>
        <p:spPr>
          <a:xfrm>
            <a:off x="274320" y="5065776"/>
            <a:ext cx="25603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20040" y="5093208"/>
            <a:ext cx="2560320" cy="228600"/>
          </a:xfrm>
          <a:prstGeom prst="rect">
            <a:avLst/>
          </a:prstGeom>
          <a:noFill/>
        </p:spPr>
        <p:txBody>
          <a:bodyPr wrap="square">
            <a:spAutoFit/>
          </a:bodyPr>
          <a:lstStyle/>
          <a:p>
            <a:pPr algn="l"/>
            <a:r>
              <a:rPr sz="900" b="0" i="0">
                <a:solidFill>
                  <a:srgbClr val="404040"/>
                </a:solidFill>
              </a:rPr>
              <a:t>M&amp;E</a:t>
            </a:r>
          </a:p>
        </p:txBody>
      </p:sp>
      <p:sp>
        <p:nvSpPr>
          <p:cNvPr id="77" name="Rectangle 76"/>
          <p:cNvSpPr/>
          <p:nvPr/>
        </p:nvSpPr>
        <p:spPr>
          <a:xfrm>
            <a:off x="2926080" y="5065776"/>
            <a:ext cx="13716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971800" y="5093208"/>
            <a:ext cx="1371600" cy="228600"/>
          </a:xfrm>
          <a:prstGeom prst="rect">
            <a:avLst/>
          </a:prstGeom>
          <a:noFill/>
        </p:spPr>
        <p:txBody>
          <a:bodyPr wrap="square">
            <a:spAutoFit/>
          </a:bodyPr>
          <a:lstStyle/>
          <a:p>
            <a:pPr algn="ctr"/>
            <a:r>
              <a:rPr sz="900" b="0" i="0">
                <a:solidFill>
                  <a:srgbClr val="404040"/>
                </a:solidFill>
              </a:rPr>
              <a:t>149</a:t>
            </a:r>
          </a:p>
        </p:txBody>
      </p:sp>
      <p:sp>
        <p:nvSpPr>
          <p:cNvPr id="79" name="Rectangle 78"/>
          <p:cNvSpPr/>
          <p:nvPr/>
        </p:nvSpPr>
        <p:spPr>
          <a:xfrm>
            <a:off x="4389120" y="5065776"/>
            <a:ext cx="13716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434840" y="5093208"/>
            <a:ext cx="1371600" cy="228600"/>
          </a:xfrm>
          <a:prstGeom prst="rect">
            <a:avLst/>
          </a:prstGeom>
          <a:noFill/>
        </p:spPr>
        <p:txBody>
          <a:bodyPr wrap="square">
            <a:spAutoFit/>
          </a:bodyPr>
          <a:lstStyle/>
          <a:p>
            <a:pPr algn="ctr"/>
            <a:r>
              <a:rPr sz="900" b="0" i="0">
                <a:solidFill>
                  <a:srgbClr val="404040"/>
                </a:solidFill>
              </a:rPr>
              <a:t>417</a:t>
            </a:r>
          </a:p>
        </p:txBody>
      </p:sp>
      <p:sp>
        <p:nvSpPr>
          <p:cNvPr id="81" name="Rectangle 80"/>
          <p:cNvSpPr/>
          <p:nvPr/>
        </p:nvSpPr>
        <p:spPr>
          <a:xfrm>
            <a:off x="5852160" y="5065776"/>
            <a:ext cx="13716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897880" y="5093208"/>
            <a:ext cx="1371600" cy="228600"/>
          </a:xfrm>
          <a:prstGeom prst="rect">
            <a:avLst/>
          </a:prstGeom>
          <a:noFill/>
        </p:spPr>
        <p:txBody>
          <a:bodyPr wrap="square">
            <a:spAutoFit/>
          </a:bodyPr>
          <a:lstStyle/>
          <a:p>
            <a:pPr algn="ctr"/>
            <a:r>
              <a:rPr sz="900" b="0" i="0">
                <a:solidFill>
                  <a:srgbClr val="404040"/>
                </a:solidFill>
              </a:rPr>
              <a:t>761</a:t>
            </a:r>
          </a:p>
        </p:txBody>
      </p:sp>
      <p:sp>
        <p:nvSpPr>
          <p:cNvPr id="83" name="Rectangle 82"/>
          <p:cNvSpPr/>
          <p:nvPr/>
        </p:nvSpPr>
        <p:spPr>
          <a:xfrm>
            <a:off x="274320" y="5367528"/>
            <a:ext cx="2560320" cy="27432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0040" y="5394960"/>
            <a:ext cx="2560320" cy="228600"/>
          </a:xfrm>
          <a:prstGeom prst="rect">
            <a:avLst/>
          </a:prstGeom>
          <a:noFill/>
        </p:spPr>
        <p:txBody>
          <a:bodyPr wrap="square">
            <a:spAutoFit/>
          </a:bodyPr>
          <a:lstStyle/>
          <a:p>
            <a:pPr algn="l"/>
            <a:r>
              <a:rPr sz="900" b="1" i="0">
                <a:solidFill>
                  <a:srgbClr val="FFFFFF"/>
                </a:solidFill>
              </a:rPr>
              <a:t>Total Equity (SAR M)</a:t>
            </a:r>
          </a:p>
        </p:txBody>
      </p:sp>
      <p:sp>
        <p:nvSpPr>
          <p:cNvPr id="85" name="Rectangle 84"/>
          <p:cNvSpPr/>
          <p:nvPr/>
        </p:nvSpPr>
        <p:spPr>
          <a:xfrm>
            <a:off x="2926080" y="5367528"/>
            <a:ext cx="1371600" cy="27432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71800" y="5394960"/>
            <a:ext cx="1371600" cy="228600"/>
          </a:xfrm>
          <a:prstGeom prst="rect">
            <a:avLst/>
          </a:prstGeom>
          <a:noFill/>
        </p:spPr>
        <p:txBody>
          <a:bodyPr wrap="square">
            <a:spAutoFit/>
          </a:bodyPr>
          <a:lstStyle/>
          <a:p>
            <a:pPr algn="ctr"/>
            <a:r>
              <a:rPr sz="900" b="1" i="0">
                <a:solidFill>
                  <a:srgbClr val="FFFFFF"/>
                </a:solidFill>
              </a:rPr>
              <a:t>10,611</a:t>
            </a:r>
          </a:p>
        </p:txBody>
      </p:sp>
      <p:sp>
        <p:nvSpPr>
          <p:cNvPr id="87" name="Rectangle 86"/>
          <p:cNvSpPr/>
          <p:nvPr/>
        </p:nvSpPr>
        <p:spPr>
          <a:xfrm>
            <a:off x="4389120" y="5367528"/>
            <a:ext cx="1371600" cy="27432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434840" y="5394960"/>
            <a:ext cx="1371600" cy="228600"/>
          </a:xfrm>
          <a:prstGeom prst="rect">
            <a:avLst/>
          </a:prstGeom>
          <a:noFill/>
        </p:spPr>
        <p:txBody>
          <a:bodyPr wrap="square">
            <a:spAutoFit/>
          </a:bodyPr>
          <a:lstStyle/>
          <a:p>
            <a:pPr algn="ctr"/>
            <a:r>
              <a:rPr sz="900" b="1" i="0">
                <a:solidFill>
                  <a:srgbClr val="FFFFFF"/>
                </a:solidFill>
              </a:rPr>
              <a:t>16,441</a:t>
            </a:r>
          </a:p>
        </p:txBody>
      </p:sp>
      <p:sp>
        <p:nvSpPr>
          <p:cNvPr id="89" name="Rectangle 88"/>
          <p:cNvSpPr/>
          <p:nvPr/>
        </p:nvSpPr>
        <p:spPr>
          <a:xfrm>
            <a:off x="5852160" y="5367528"/>
            <a:ext cx="1371600" cy="27432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897880" y="5394960"/>
            <a:ext cx="1371600" cy="228600"/>
          </a:xfrm>
          <a:prstGeom prst="rect">
            <a:avLst/>
          </a:prstGeom>
          <a:noFill/>
        </p:spPr>
        <p:txBody>
          <a:bodyPr wrap="square">
            <a:spAutoFit/>
          </a:bodyPr>
          <a:lstStyle/>
          <a:p>
            <a:pPr algn="ctr"/>
            <a:r>
              <a:rPr sz="900" b="1" i="0">
                <a:solidFill>
                  <a:srgbClr val="FFFFFF"/>
                </a:solidFill>
              </a:rPr>
              <a:t>25,047</a:t>
            </a:r>
          </a:p>
        </p:txBody>
      </p:sp>
      <p:sp>
        <p:nvSpPr>
          <p:cNvPr id="91" name="Rectangle 90"/>
          <p:cNvSpPr/>
          <p:nvPr/>
        </p:nvSpPr>
        <p:spPr>
          <a:xfrm>
            <a:off x="274320" y="5669280"/>
            <a:ext cx="2560320" cy="27432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20040" y="5696712"/>
            <a:ext cx="2560320" cy="228600"/>
          </a:xfrm>
          <a:prstGeom prst="rect">
            <a:avLst/>
          </a:prstGeom>
          <a:noFill/>
        </p:spPr>
        <p:txBody>
          <a:bodyPr wrap="square">
            <a:spAutoFit/>
          </a:bodyPr>
          <a:lstStyle/>
          <a:p>
            <a:pPr algn="l"/>
            <a:r>
              <a:rPr sz="900" b="0" i="0">
                <a:solidFill>
                  <a:srgbClr val="1F3864"/>
                </a:solidFill>
              </a:rPr>
              <a:t>Share Price (SAR)</a:t>
            </a:r>
          </a:p>
        </p:txBody>
      </p:sp>
      <p:sp>
        <p:nvSpPr>
          <p:cNvPr id="93" name="Rectangle 92"/>
          <p:cNvSpPr/>
          <p:nvPr/>
        </p:nvSpPr>
        <p:spPr>
          <a:xfrm>
            <a:off x="2926080" y="5669280"/>
            <a:ext cx="1371600" cy="27432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971800" y="5696712"/>
            <a:ext cx="1371600" cy="228600"/>
          </a:xfrm>
          <a:prstGeom prst="rect">
            <a:avLst/>
          </a:prstGeom>
          <a:noFill/>
        </p:spPr>
        <p:txBody>
          <a:bodyPr wrap="square">
            <a:spAutoFit/>
          </a:bodyPr>
          <a:lstStyle/>
          <a:p>
            <a:pPr algn="ctr"/>
            <a:r>
              <a:rPr sz="900" b="0" i="0">
                <a:solidFill>
                  <a:srgbClr val="1F3864"/>
                </a:solidFill>
              </a:rPr>
              <a:t>31.9</a:t>
            </a:r>
          </a:p>
        </p:txBody>
      </p:sp>
      <p:sp>
        <p:nvSpPr>
          <p:cNvPr id="95" name="Rectangle 94"/>
          <p:cNvSpPr/>
          <p:nvPr/>
        </p:nvSpPr>
        <p:spPr>
          <a:xfrm>
            <a:off x="4389120" y="5669280"/>
            <a:ext cx="1371600" cy="27432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34840" y="5696712"/>
            <a:ext cx="1371600" cy="228600"/>
          </a:xfrm>
          <a:prstGeom prst="rect">
            <a:avLst/>
          </a:prstGeom>
          <a:noFill/>
        </p:spPr>
        <p:txBody>
          <a:bodyPr wrap="square">
            <a:spAutoFit/>
          </a:bodyPr>
          <a:lstStyle/>
          <a:p>
            <a:pPr algn="ctr"/>
            <a:r>
              <a:rPr sz="900" b="0" i="0">
                <a:solidFill>
                  <a:srgbClr val="1F3864"/>
                </a:solidFill>
              </a:rPr>
              <a:t>49.4</a:t>
            </a:r>
          </a:p>
        </p:txBody>
      </p:sp>
      <p:sp>
        <p:nvSpPr>
          <p:cNvPr id="97" name="Rectangle 96"/>
          <p:cNvSpPr/>
          <p:nvPr/>
        </p:nvSpPr>
        <p:spPr>
          <a:xfrm>
            <a:off x="5852160" y="5669280"/>
            <a:ext cx="1371600" cy="27432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897880" y="5696712"/>
            <a:ext cx="1371600" cy="228600"/>
          </a:xfrm>
          <a:prstGeom prst="rect">
            <a:avLst/>
          </a:prstGeom>
          <a:noFill/>
        </p:spPr>
        <p:txBody>
          <a:bodyPr wrap="square">
            <a:spAutoFit/>
          </a:bodyPr>
          <a:lstStyle/>
          <a:p>
            <a:pPr algn="ctr"/>
            <a:r>
              <a:rPr sz="900" b="0" i="0">
                <a:solidFill>
                  <a:srgbClr val="1F3864"/>
                </a:solidFill>
              </a:rPr>
              <a:t>75.3</a:t>
            </a:r>
          </a:p>
        </p:txBody>
      </p:sp>
      <p:sp>
        <p:nvSpPr>
          <p:cNvPr id="99" name="Rectangle 98"/>
          <p:cNvSpPr/>
          <p:nvPr/>
        </p:nvSpPr>
        <p:spPr>
          <a:xfrm>
            <a:off x="274320" y="5971031"/>
            <a:ext cx="256032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20040" y="5998463"/>
            <a:ext cx="2560320" cy="228600"/>
          </a:xfrm>
          <a:prstGeom prst="rect">
            <a:avLst/>
          </a:prstGeom>
          <a:noFill/>
        </p:spPr>
        <p:txBody>
          <a:bodyPr wrap="square">
            <a:spAutoFit/>
          </a:bodyPr>
          <a:lstStyle/>
          <a:p>
            <a:pPr algn="l"/>
            <a:r>
              <a:rPr sz="900" b="0" i="0">
                <a:solidFill>
                  <a:srgbClr val="404040"/>
                </a:solidFill>
              </a:rPr>
              <a:t>vs. Market</a:t>
            </a:r>
          </a:p>
        </p:txBody>
      </p:sp>
      <p:sp>
        <p:nvSpPr>
          <p:cNvPr id="101" name="Rectangle 100"/>
          <p:cNvSpPr/>
          <p:nvPr/>
        </p:nvSpPr>
        <p:spPr>
          <a:xfrm>
            <a:off x="2926080" y="5971031"/>
            <a:ext cx="13716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971800" y="5998463"/>
            <a:ext cx="1371600" cy="228600"/>
          </a:xfrm>
          <a:prstGeom prst="rect">
            <a:avLst/>
          </a:prstGeom>
          <a:noFill/>
        </p:spPr>
        <p:txBody>
          <a:bodyPr wrap="square">
            <a:spAutoFit/>
          </a:bodyPr>
          <a:lstStyle/>
          <a:p>
            <a:pPr algn="ctr"/>
            <a:r>
              <a:rPr sz="900" b="0" i="0">
                <a:solidFill>
                  <a:srgbClr val="404040"/>
                </a:solidFill>
              </a:rPr>
              <a:t>+21%</a:t>
            </a:r>
          </a:p>
        </p:txBody>
      </p:sp>
      <p:sp>
        <p:nvSpPr>
          <p:cNvPr id="103" name="Rectangle 102"/>
          <p:cNvSpPr/>
          <p:nvPr/>
        </p:nvSpPr>
        <p:spPr>
          <a:xfrm>
            <a:off x="4389120" y="5971031"/>
            <a:ext cx="13716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434840" y="5998463"/>
            <a:ext cx="1371600" cy="228600"/>
          </a:xfrm>
          <a:prstGeom prst="rect">
            <a:avLst/>
          </a:prstGeom>
          <a:noFill/>
        </p:spPr>
        <p:txBody>
          <a:bodyPr wrap="square">
            <a:spAutoFit/>
          </a:bodyPr>
          <a:lstStyle/>
          <a:p>
            <a:pPr algn="ctr"/>
            <a:r>
              <a:rPr sz="900" b="0" i="0">
                <a:solidFill>
                  <a:srgbClr val="404040"/>
                </a:solidFill>
              </a:rPr>
              <a:t>+88%</a:t>
            </a:r>
          </a:p>
        </p:txBody>
      </p:sp>
      <p:sp>
        <p:nvSpPr>
          <p:cNvPr id="105" name="Rectangle 104"/>
          <p:cNvSpPr/>
          <p:nvPr/>
        </p:nvSpPr>
        <p:spPr>
          <a:xfrm>
            <a:off x="5852160" y="5971031"/>
            <a:ext cx="1371600" cy="274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897880" y="5998463"/>
            <a:ext cx="1371600" cy="228600"/>
          </a:xfrm>
          <a:prstGeom prst="rect">
            <a:avLst/>
          </a:prstGeom>
          <a:noFill/>
        </p:spPr>
        <p:txBody>
          <a:bodyPr wrap="square">
            <a:spAutoFit/>
          </a:bodyPr>
          <a:lstStyle/>
          <a:p>
            <a:pPr algn="ctr"/>
            <a:r>
              <a:rPr sz="900" b="0" i="0">
                <a:solidFill>
                  <a:srgbClr val="404040"/>
                </a:solidFill>
              </a:rPr>
              <a:t>+187%</a:t>
            </a:r>
          </a:p>
        </p:txBody>
      </p:sp>
      <p:sp>
        <p:nvSpPr>
          <p:cNvPr id="107" name="Rectangle 106"/>
          <p:cNvSpPr/>
          <p:nvPr/>
        </p:nvSpPr>
        <p:spPr>
          <a:xfrm>
            <a:off x="274320" y="6400800"/>
            <a:ext cx="8595360" cy="365760"/>
          </a:xfrm>
          <a:prstGeom prst="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11480" y="6428232"/>
            <a:ext cx="8321040" cy="310896"/>
          </a:xfrm>
          <a:prstGeom prst="rect">
            <a:avLst/>
          </a:prstGeom>
          <a:noFill/>
        </p:spPr>
        <p:txBody>
          <a:bodyPr wrap="square">
            <a:spAutoFit/>
          </a:bodyPr>
          <a:lstStyle/>
          <a:p>
            <a:pPr algn="l"/>
            <a:r>
              <a:rPr sz="1000" b="1" i="0">
                <a:solidFill>
                  <a:srgbClr val="1F3864"/>
                </a:solidFill>
              </a:rPr>
              <a:t>BOCA alone (SAR 8,057M) ≈ MBC market cap (SAR 8,844M). Shahid + M&amp;E are essentially FREE. Market assigns near-zero value to streaming.</a:t>
            </a:r>
          </a:p>
        </p:txBody>
      </p:sp>
      <p:sp>
        <p:nvSpPr>
          <p:cNvPr id="109" name="TextBox 108"/>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110" name="TextBox 109"/>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VALUATION SYNTHESIS</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Cross-Method Comparison</a:t>
            </a:r>
          </a:p>
        </p:txBody>
      </p:sp>
      <p:graphicFrame>
        <p:nvGraphicFramePr>
          <p:cNvPr id="5" name="Chart 4"/>
          <p:cNvGraphicFramePr>
            <a:graphicFrameLocks noGrp="1"/>
          </p:cNvGraphicFramePr>
          <p:nvPr/>
        </p:nvGraphicFramePr>
        <p:xfrm>
          <a:off x="274320" y="960120"/>
          <a:ext cx="8595360" cy="2743200"/>
        </p:xfrm>
        <a:graphic>
          <a:graphicData uri="http://schemas.openxmlformats.org/drawingml/2006/chart">
            <c:chart xmlns:c="http://schemas.openxmlformats.org/drawingml/2006/chart" r:id="rId2"/>
          </a:graphicData>
        </a:graphic>
      </p:graphicFrame>
      <p:sp>
        <p:nvSpPr>
          <p:cNvPr id="6" name="TextBox 5"/>
          <p:cNvSpPr txBox="1"/>
          <p:nvPr/>
        </p:nvSpPr>
        <p:spPr>
          <a:xfrm>
            <a:off x="6400800" y="182880"/>
            <a:ext cx="2286000" cy="228600"/>
          </a:xfrm>
          <a:prstGeom prst="rect">
            <a:avLst/>
          </a:prstGeom>
          <a:noFill/>
        </p:spPr>
        <p:txBody>
          <a:bodyPr wrap="square">
            <a:spAutoFit/>
          </a:bodyPr>
          <a:lstStyle/>
          <a:p>
            <a:pPr algn="l"/>
            <a:r>
              <a:rPr sz="800" b="1" i="1">
                <a:solidFill>
                  <a:srgbClr val="C00000"/>
                </a:solidFill>
              </a:rPr>
              <a:t>Market Price: SAR 26.26</a:t>
            </a:r>
          </a:p>
        </p:txBody>
      </p:sp>
      <p:sp>
        <p:nvSpPr>
          <p:cNvPr id="7" name="Rectangle 6"/>
          <p:cNvSpPr/>
          <p:nvPr/>
        </p:nvSpPr>
        <p:spPr>
          <a:xfrm>
            <a:off x="274320" y="3840480"/>
            <a:ext cx="8595360" cy="731520"/>
          </a:xfrm>
          <a:prstGeom prst="rect">
            <a:avLst/>
          </a:prstGeom>
          <a:solidFill>
            <a:srgbClr val="BDD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886200"/>
            <a:ext cx="8321040" cy="640080"/>
          </a:xfrm>
          <a:prstGeom prst="rect">
            <a:avLst/>
          </a:prstGeom>
          <a:noFill/>
        </p:spPr>
        <p:txBody>
          <a:bodyPr wrap="square">
            <a:spAutoFit/>
          </a:bodyPr>
          <a:lstStyle/>
          <a:p>
            <a:pPr algn="l"/>
            <a:r>
              <a:rPr sz="1000" b="0" i="0">
                <a:solidFill>
                  <a:srgbClr val="1F3864"/>
                </a:solidFill>
              </a:rPr>
              <a:t>Notable: DCF (SAR 48.8) and SOTP (SAR 49.4) converge at SAR 48–50. Two completely independent methods — one projecting future cash flows, one benchmarking comparable businesses today — arriving at the same answer is a strong signal for this fair value range.</a:t>
            </a:r>
          </a:p>
        </p:txBody>
      </p:sp>
      <p:sp>
        <p:nvSpPr>
          <p:cNvPr id="9" name="TextBox 8"/>
          <p:cNvSpPr txBox="1"/>
          <p:nvPr/>
        </p:nvSpPr>
        <p:spPr>
          <a:xfrm>
            <a:off x="274320" y="4709160"/>
            <a:ext cx="8595360" cy="320040"/>
          </a:xfrm>
          <a:prstGeom prst="rect">
            <a:avLst/>
          </a:prstGeom>
          <a:noFill/>
        </p:spPr>
        <p:txBody>
          <a:bodyPr wrap="square">
            <a:spAutoFit/>
          </a:bodyPr>
          <a:lstStyle/>
          <a:p>
            <a:pPr algn="l"/>
            <a:r>
              <a:rPr sz="1400" b="1" i="0">
                <a:solidFill>
                  <a:srgbClr val="1F3864"/>
                </a:solidFill>
              </a:rPr>
              <a:t>Blended Central Estimate</a:t>
            </a:r>
          </a:p>
        </p:txBody>
      </p:sp>
      <p:sp>
        <p:nvSpPr>
          <p:cNvPr id="10" name="Rectangle 9"/>
          <p:cNvSpPr/>
          <p:nvPr/>
        </p:nvSpPr>
        <p:spPr>
          <a:xfrm>
            <a:off x="274320" y="5074920"/>
            <a:ext cx="265176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5093208"/>
            <a:ext cx="2651760" cy="219456"/>
          </a:xfrm>
          <a:prstGeom prst="rect">
            <a:avLst/>
          </a:prstGeom>
          <a:noFill/>
        </p:spPr>
        <p:txBody>
          <a:bodyPr wrap="square">
            <a:spAutoFit/>
          </a:bodyPr>
          <a:lstStyle/>
          <a:p>
            <a:pPr algn="ctr"/>
            <a:r>
              <a:rPr sz="900" b="1" i="0">
                <a:solidFill>
                  <a:srgbClr val="FFFFFF"/>
                </a:solidFill>
              </a:rPr>
              <a:t>Method</a:t>
            </a:r>
          </a:p>
        </p:txBody>
      </p:sp>
      <p:sp>
        <p:nvSpPr>
          <p:cNvPr id="12" name="Rectangle 11"/>
          <p:cNvSpPr/>
          <p:nvPr/>
        </p:nvSpPr>
        <p:spPr>
          <a:xfrm>
            <a:off x="3017520" y="5074920"/>
            <a:ext cx="118872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3240" y="5093208"/>
            <a:ext cx="1188720" cy="219456"/>
          </a:xfrm>
          <a:prstGeom prst="rect">
            <a:avLst/>
          </a:prstGeom>
          <a:noFill/>
        </p:spPr>
        <p:txBody>
          <a:bodyPr wrap="square">
            <a:spAutoFit/>
          </a:bodyPr>
          <a:lstStyle/>
          <a:p>
            <a:pPr algn="ctr"/>
            <a:r>
              <a:rPr sz="900" b="1" i="0">
                <a:solidFill>
                  <a:srgbClr val="FFFFFF"/>
                </a:solidFill>
              </a:rPr>
              <a:t>Weight</a:t>
            </a:r>
          </a:p>
        </p:txBody>
      </p:sp>
      <p:sp>
        <p:nvSpPr>
          <p:cNvPr id="14" name="Rectangle 13"/>
          <p:cNvSpPr/>
          <p:nvPr/>
        </p:nvSpPr>
        <p:spPr>
          <a:xfrm>
            <a:off x="4297680" y="5074920"/>
            <a:ext cx="109728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5093208"/>
            <a:ext cx="1097280" cy="219456"/>
          </a:xfrm>
          <a:prstGeom prst="rect">
            <a:avLst/>
          </a:prstGeom>
          <a:noFill/>
        </p:spPr>
        <p:txBody>
          <a:bodyPr wrap="square">
            <a:spAutoFit/>
          </a:bodyPr>
          <a:lstStyle/>
          <a:p>
            <a:pPr algn="ctr"/>
            <a:r>
              <a:rPr sz="900" b="1" i="0">
                <a:solidFill>
                  <a:srgbClr val="FFFFFF"/>
                </a:solidFill>
              </a:rPr>
              <a:t>Price</a:t>
            </a:r>
          </a:p>
        </p:txBody>
      </p:sp>
      <p:sp>
        <p:nvSpPr>
          <p:cNvPr id="16" name="Rectangle 15"/>
          <p:cNvSpPr/>
          <p:nvPr/>
        </p:nvSpPr>
        <p:spPr>
          <a:xfrm>
            <a:off x="5486400" y="5074920"/>
            <a:ext cx="1188720" cy="25603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32120" y="5093208"/>
            <a:ext cx="1188720" cy="219456"/>
          </a:xfrm>
          <a:prstGeom prst="rect">
            <a:avLst/>
          </a:prstGeom>
          <a:noFill/>
        </p:spPr>
        <p:txBody>
          <a:bodyPr wrap="square">
            <a:spAutoFit/>
          </a:bodyPr>
          <a:lstStyle/>
          <a:p>
            <a:pPr algn="ctr"/>
            <a:r>
              <a:rPr sz="900" b="1" i="0">
                <a:solidFill>
                  <a:srgbClr val="FFFFFF"/>
                </a:solidFill>
              </a:rPr>
              <a:t>Weighted</a:t>
            </a:r>
          </a:p>
        </p:txBody>
      </p:sp>
      <p:sp>
        <p:nvSpPr>
          <p:cNvPr id="18" name="Rectangle 17"/>
          <p:cNvSpPr/>
          <p:nvPr/>
        </p:nvSpPr>
        <p:spPr>
          <a:xfrm>
            <a:off x="274320" y="5358384"/>
            <a:ext cx="26517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5394960"/>
            <a:ext cx="2651760" cy="219456"/>
          </a:xfrm>
          <a:prstGeom prst="rect">
            <a:avLst/>
          </a:prstGeom>
          <a:noFill/>
        </p:spPr>
        <p:txBody>
          <a:bodyPr wrap="square">
            <a:spAutoFit/>
          </a:bodyPr>
          <a:lstStyle/>
          <a:p>
            <a:pPr algn="l"/>
            <a:r>
              <a:rPr sz="900" b="0" i="0">
                <a:solidFill>
                  <a:srgbClr val="404040"/>
                </a:solidFill>
              </a:rPr>
              <a:t>DCF Base Case</a:t>
            </a:r>
          </a:p>
        </p:txBody>
      </p:sp>
      <p:sp>
        <p:nvSpPr>
          <p:cNvPr id="20" name="Rectangle 19"/>
          <p:cNvSpPr/>
          <p:nvPr/>
        </p:nvSpPr>
        <p:spPr>
          <a:xfrm>
            <a:off x="3017520" y="5358384"/>
            <a:ext cx="118872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63240" y="5394960"/>
            <a:ext cx="1188720" cy="219456"/>
          </a:xfrm>
          <a:prstGeom prst="rect">
            <a:avLst/>
          </a:prstGeom>
          <a:noFill/>
        </p:spPr>
        <p:txBody>
          <a:bodyPr wrap="square">
            <a:spAutoFit/>
          </a:bodyPr>
          <a:lstStyle/>
          <a:p>
            <a:pPr algn="ctr"/>
            <a:r>
              <a:rPr sz="900" b="0" i="0">
                <a:solidFill>
                  <a:srgbClr val="404040"/>
                </a:solidFill>
              </a:rPr>
              <a:t>35%</a:t>
            </a:r>
          </a:p>
        </p:txBody>
      </p:sp>
      <p:sp>
        <p:nvSpPr>
          <p:cNvPr id="22" name="Rectangle 21"/>
          <p:cNvSpPr/>
          <p:nvPr/>
        </p:nvSpPr>
        <p:spPr>
          <a:xfrm>
            <a:off x="4297680" y="5358384"/>
            <a:ext cx="109728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5394960"/>
            <a:ext cx="1097280" cy="219456"/>
          </a:xfrm>
          <a:prstGeom prst="rect">
            <a:avLst/>
          </a:prstGeom>
          <a:noFill/>
        </p:spPr>
        <p:txBody>
          <a:bodyPr wrap="square">
            <a:spAutoFit/>
          </a:bodyPr>
          <a:lstStyle/>
          <a:p>
            <a:pPr algn="ctr"/>
            <a:r>
              <a:rPr sz="900" b="0" i="0">
                <a:solidFill>
                  <a:srgbClr val="404040"/>
                </a:solidFill>
              </a:rPr>
              <a:t>48.8</a:t>
            </a:r>
          </a:p>
        </p:txBody>
      </p:sp>
      <p:sp>
        <p:nvSpPr>
          <p:cNvPr id="24" name="Rectangle 23"/>
          <p:cNvSpPr/>
          <p:nvPr/>
        </p:nvSpPr>
        <p:spPr>
          <a:xfrm>
            <a:off x="5486400" y="5358384"/>
            <a:ext cx="118872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32120" y="5394960"/>
            <a:ext cx="1188720" cy="219456"/>
          </a:xfrm>
          <a:prstGeom prst="rect">
            <a:avLst/>
          </a:prstGeom>
          <a:noFill/>
        </p:spPr>
        <p:txBody>
          <a:bodyPr wrap="square">
            <a:spAutoFit/>
          </a:bodyPr>
          <a:lstStyle/>
          <a:p>
            <a:pPr algn="ctr"/>
            <a:r>
              <a:rPr sz="900" b="1" i="0">
                <a:solidFill>
                  <a:srgbClr val="404040"/>
                </a:solidFill>
              </a:rPr>
              <a:t>17.1</a:t>
            </a:r>
          </a:p>
        </p:txBody>
      </p:sp>
      <p:sp>
        <p:nvSpPr>
          <p:cNvPr id="26" name="Rectangle 25"/>
          <p:cNvSpPr/>
          <p:nvPr/>
        </p:nvSpPr>
        <p:spPr>
          <a:xfrm>
            <a:off x="274320" y="5650992"/>
            <a:ext cx="26517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5687568"/>
            <a:ext cx="2651760" cy="219456"/>
          </a:xfrm>
          <a:prstGeom prst="rect">
            <a:avLst/>
          </a:prstGeom>
          <a:noFill/>
        </p:spPr>
        <p:txBody>
          <a:bodyPr wrap="square">
            <a:spAutoFit/>
          </a:bodyPr>
          <a:lstStyle/>
          <a:p>
            <a:pPr algn="l"/>
            <a:r>
              <a:rPr sz="900" b="0" i="0">
                <a:solidFill>
                  <a:srgbClr val="404040"/>
                </a:solidFill>
              </a:rPr>
              <a:t>SOTP Base Case</a:t>
            </a:r>
          </a:p>
        </p:txBody>
      </p:sp>
      <p:sp>
        <p:nvSpPr>
          <p:cNvPr id="28" name="Rectangle 27"/>
          <p:cNvSpPr/>
          <p:nvPr/>
        </p:nvSpPr>
        <p:spPr>
          <a:xfrm>
            <a:off x="3017520" y="5650992"/>
            <a:ext cx="118872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63240" y="5687568"/>
            <a:ext cx="1188720" cy="219456"/>
          </a:xfrm>
          <a:prstGeom prst="rect">
            <a:avLst/>
          </a:prstGeom>
          <a:noFill/>
        </p:spPr>
        <p:txBody>
          <a:bodyPr wrap="square">
            <a:spAutoFit/>
          </a:bodyPr>
          <a:lstStyle/>
          <a:p>
            <a:pPr algn="ctr"/>
            <a:r>
              <a:rPr sz="900" b="0" i="0">
                <a:solidFill>
                  <a:srgbClr val="404040"/>
                </a:solidFill>
              </a:rPr>
              <a:t>35%</a:t>
            </a:r>
          </a:p>
        </p:txBody>
      </p:sp>
      <p:sp>
        <p:nvSpPr>
          <p:cNvPr id="30" name="Rectangle 29"/>
          <p:cNvSpPr/>
          <p:nvPr/>
        </p:nvSpPr>
        <p:spPr>
          <a:xfrm>
            <a:off x="4297680" y="5650992"/>
            <a:ext cx="109728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5687568"/>
            <a:ext cx="1097280" cy="219456"/>
          </a:xfrm>
          <a:prstGeom prst="rect">
            <a:avLst/>
          </a:prstGeom>
          <a:noFill/>
        </p:spPr>
        <p:txBody>
          <a:bodyPr wrap="square">
            <a:spAutoFit/>
          </a:bodyPr>
          <a:lstStyle/>
          <a:p>
            <a:pPr algn="ctr"/>
            <a:r>
              <a:rPr sz="900" b="0" i="0">
                <a:solidFill>
                  <a:srgbClr val="404040"/>
                </a:solidFill>
              </a:rPr>
              <a:t>49.4</a:t>
            </a:r>
          </a:p>
        </p:txBody>
      </p:sp>
      <p:sp>
        <p:nvSpPr>
          <p:cNvPr id="32" name="Rectangle 31"/>
          <p:cNvSpPr/>
          <p:nvPr/>
        </p:nvSpPr>
        <p:spPr>
          <a:xfrm>
            <a:off x="5486400" y="5650992"/>
            <a:ext cx="118872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5687568"/>
            <a:ext cx="1188720" cy="219456"/>
          </a:xfrm>
          <a:prstGeom prst="rect">
            <a:avLst/>
          </a:prstGeom>
          <a:noFill/>
        </p:spPr>
        <p:txBody>
          <a:bodyPr wrap="square">
            <a:spAutoFit/>
          </a:bodyPr>
          <a:lstStyle/>
          <a:p>
            <a:pPr algn="ctr"/>
            <a:r>
              <a:rPr sz="900" b="1" i="0">
                <a:solidFill>
                  <a:srgbClr val="404040"/>
                </a:solidFill>
              </a:rPr>
              <a:t>17.3</a:t>
            </a:r>
          </a:p>
        </p:txBody>
      </p:sp>
      <p:sp>
        <p:nvSpPr>
          <p:cNvPr id="34" name="Rectangle 33"/>
          <p:cNvSpPr/>
          <p:nvPr/>
        </p:nvSpPr>
        <p:spPr>
          <a:xfrm>
            <a:off x="274320" y="5943600"/>
            <a:ext cx="26517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5980176"/>
            <a:ext cx="2651760" cy="219456"/>
          </a:xfrm>
          <a:prstGeom prst="rect">
            <a:avLst/>
          </a:prstGeom>
          <a:noFill/>
        </p:spPr>
        <p:txBody>
          <a:bodyPr wrap="square">
            <a:spAutoFit/>
          </a:bodyPr>
          <a:lstStyle/>
          <a:p>
            <a:pPr algn="l"/>
            <a:r>
              <a:rPr sz="900" b="0" i="0">
                <a:solidFill>
                  <a:srgbClr val="404040"/>
                </a:solidFill>
              </a:rPr>
              <a:t>Comparable Companies</a:t>
            </a:r>
          </a:p>
        </p:txBody>
      </p:sp>
      <p:sp>
        <p:nvSpPr>
          <p:cNvPr id="36" name="Rectangle 35"/>
          <p:cNvSpPr/>
          <p:nvPr/>
        </p:nvSpPr>
        <p:spPr>
          <a:xfrm>
            <a:off x="3017520" y="5943600"/>
            <a:ext cx="118872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63240" y="5980176"/>
            <a:ext cx="1188720" cy="219456"/>
          </a:xfrm>
          <a:prstGeom prst="rect">
            <a:avLst/>
          </a:prstGeom>
          <a:noFill/>
        </p:spPr>
        <p:txBody>
          <a:bodyPr wrap="square">
            <a:spAutoFit/>
          </a:bodyPr>
          <a:lstStyle/>
          <a:p>
            <a:pPr algn="ctr"/>
            <a:r>
              <a:rPr sz="900" b="0" i="0">
                <a:solidFill>
                  <a:srgbClr val="404040"/>
                </a:solidFill>
              </a:rPr>
              <a:t>20%</a:t>
            </a:r>
          </a:p>
        </p:txBody>
      </p:sp>
      <p:sp>
        <p:nvSpPr>
          <p:cNvPr id="38" name="Rectangle 37"/>
          <p:cNvSpPr/>
          <p:nvPr/>
        </p:nvSpPr>
        <p:spPr>
          <a:xfrm>
            <a:off x="4297680" y="5943600"/>
            <a:ext cx="109728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5980176"/>
            <a:ext cx="1097280" cy="219456"/>
          </a:xfrm>
          <a:prstGeom prst="rect">
            <a:avLst/>
          </a:prstGeom>
          <a:noFill/>
        </p:spPr>
        <p:txBody>
          <a:bodyPr wrap="square">
            <a:spAutoFit/>
          </a:bodyPr>
          <a:lstStyle/>
          <a:p>
            <a:pPr algn="ctr"/>
            <a:r>
              <a:rPr sz="900" b="0" i="0">
                <a:solidFill>
                  <a:srgbClr val="404040"/>
                </a:solidFill>
              </a:rPr>
              <a:t>35–50</a:t>
            </a:r>
          </a:p>
        </p:txBody>
      </p:sp>
      <p:sp>
        <p:nvSpPr>
          <p:cNvPr id="40" name="Rectangle 39"/>
          <p:cNvSpPr/>
          <p:nvPr/>
        </p:nvSpPr>
        <p:spPr>
          <a:xfrm>
            <a:off x="5486400" y="5943600"/>
            <a:ext cx="118872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32120" y="5980176"/>
            <a:ext cx="1188720" cy="219456"/>
          </a:xfrm>
          <a:prstGeom prst="rect">
            <a:avLst/>
          </a:prstGeom>
          <a:noFill/>
        </p:spPr>
        <p:txBody>
          <a:bodyPr wrap="square">
            <a:spAutoFit/>
          </a:bodyPr>
          <a:lstStyle/>
          <a:p>
            <a:pPr algn="ctr"/>
            <a:r>
              <a:rPr sz="900" b="1" i="0">
                <a:solidFill>
                  <a:srgbClr val="404040"/>
                </a:solidFill>
              </a:rPr>
              <a:t>8.5</a:t>
            </a:r>
          </a:p>
        </p:txBody>
      </p:sp>
      <p:sp>
        <p:nvSpPr>
          <p:cNvPr id="42" name="Rectangle 41"/>
          <p:cNvSpPr/>
          <p:nvPr/>
        </p:nvSpPr>
        <p:spPr>
          <a:xfrm>
            <a:off x="274320" y="6236208"/>
            <a:ext cx="26517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272784"/>
            <a:ext cx="2651760" cy="219456"/>
          </a:xfrm>
          <a:prstGeom prst="rect">
            <a:avLst/>
          </a:prstGeom>
          <a:noFill/>
        </p:spPr>
        <p:txBody>
          <a:bodyPr wrap="square">
            <a:spAutoFit/>
          </a:bodyPr>
          <a:lstStyle/>
          <a:p>
            <a:pPr algn="l"/>
            <a:r>
              <a:rPr sz="900" b="0" i="0">
                <a:solidFill>
                  <a:srgbClr val="404040"/>
                </a:solidFill>
              </a:rPr>
              <a:t>Paramount Precedent</a:t>
            </a:r>
          </a:p>
        </p:txBody>
      </p:sp>
      <p:sp>
        <p:nvSpPr>
          <p:cNvPr id="44" name="Rectangle 43"/>
          <p:cNvSpPr/>
          <p:nvPr/>
        </p:nvSpPr>
        <p:spPr>
          <a:xfrm>
            <a:off x="3017520" y="6236208"/>
            <a:ext cx="118872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63240" y="6272784"/>
            <a:ext cx="1188720" cy="219456"/>
          </a:xfrm>
          <a:prstGeom prst="rect">
            <a:avLst/>
          </a:prstGeom>
          <a:noFill/>
        </p:spPr>
        <p:txBody>
          <a:bodyPr wrap="square">
            <a:spAutoFit/>
          </a:bodyPr>
          <a:lstStyle/>
          <a:p>
            <a:pPr algn="ctr"/>
            <a:r>
              <a:rPr sz="900" b="0" i="0">
                <a:solidFill>
                  <a:srgbClr val="404040"/>
                </a:solidFill>
              </a:rPr>
              <a:t>10%</a:t>
            </a:r>
          </a:p>
        </p:txBody>
      </p:sp>
      <p:sp>
        <p:nvSpPr>
          <p:cNvPr id="46" name="Rectangle 45"/>
          <p:cNvSpPr/>
          <p:nvPr/>
        </p:nvSpPr>
        <p:spPr>
          <a:xfrm>
            <a:off x="4297680" y="6236208"/>
            <a:ext cx="109728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43400" y="6272784"/>
            <a:ext cx="1097280" cy="219456"/>
          </a:xfrm>
          <a:prstGeom prst="rect">
            <a:avLst/>
          </a:prstGeom>
          <a:noFill/>
        </p:spPr>
        <p:txBody>
          <a:bodyPr wrap="square">
            <a:spAutoFit/>
          </a:bodyPr>
          <a:lstStyle/>
          <a:p>
            <a:pPr algn="ctr"/>
            <a:r>
              <a:rPr sz="900" b="0" i="0">
                <a:solidFill>
                  <a:srgbClr val="404040"/>
                </a:solidFill>
              </a:rPr>
              <a:t>16.3</a:t>
            </a:r>
          </a:p>
        </p:txBody>
      </p:sp>
      <p:sp>
        <p:nvSpPr>
          <p:cNvPr id="48" name="Rectangle 47"/>
          <p:cNvSpPr/>
          <p:nvPr/>
        </p:nvSpPr>
        <p:spPr>
          <a:xfrm>
            <a:off x="5486400" y="6236208"/>
            <a:ext cx="118872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2120" y="6272784"/>
            <a:ext cx="1188720" cy="219456"/>
          </a:xfrm>
          <a:prstGeom prst="rect">
            <a:avLst/>
          </a:prstGeom>
          <a:noFill/>
        </p:spPr>
        <p:txBody>
          <a:bodyPr wrap="square">
            <a:spAutoFit/>
          </a:bodyPr>
          <a:lstStyle/>
          <a:p>
            <a:pPr algn="ctr"/>
            <a:r>
              <a:rPr sz="900" b="1" i="0">
                <a:solidFill>
                  <a:srgbClr val="404040"/>
                </a:solidFill>
              </a:rPr>
              <a:t>1.6</a:t>
            </a:r>
          </a:p>
        </p:txBody>
      </p:sp>
      <p:sp>
        <p:nvSpPr>
          <p:cNvPr id="50" name="Rectangle 49"/>
          <p:cNvSpPr/>
          <p:nvPr/>
        </p:nvSpPr>
        <p:spPr>
          <a:xfrm>
            <a:off x="274320" y="6528816"/>
            <a:ext cx="8595360" cy="32004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5760" y="6574536"/>
            <a:ext cx="2560320" cy="256032"/>
          </a:xfrm>
          <a:prstGeom prst="rect">
            <a:avLst/>
          </a:prstGeom>
          <a:noFill/>
        </p:spPr>
        <p:txBody>
          <a:bodyPr wrap="square">
            <a:spAutoFit/>
          </a:bodyPr>
          <a:lstStyle/>
          <a:p>
            <a:pPr algn="l"/>
            <a:r>
              <a:rPr sz="1000" b="1" i="0">
                <a:solidFill>
                  <a:srgbClr val="FFFFFF"/>
                </a:solidFill>
              </a:rPr>
              <a:t>Blended Central Estimate</a:t>
            </a:r>
          </a:p>
        </p:txBody>
      </p:sp>
      <p:sp>
        <p:nvSpPr>
          <p:cNvPr id="52" name="TextBox 51"/>
          <p:cNvSpPr txBox="1"/>
          <p:nvPr/>
        </p:nvSpPr>
        <p:spPr>
          <a:xfrm>
            <a:off x="5486400" y="6565392"/>
            <a:ext cx="1097280" cy="256032"/>
          </a:xfrm>
          <a:prstGeom prst="rect">
            <a:avLst/>
          </a:prstGeom>
          <a:noFill/>
        </p:spPr>
        <p:txBody>
          <a:bodyPr wrap="square">
            <a:spAutoFit/>
          </a:bodyPr>
          <a:lstStyle/>
          <a:p>
            <a:pPr algn="l"/>
            <a:r>
              <a:rPr sz="1100" b="1" i="0">
                <a:solidFill>
                  <a:srgbClr val="FFFFFF"/>
                </a:solidFill>
              </a:rPr>
              <a:t>SAR 44–47</a:t>
            </a:r>
          </a:p>
        </p:txBody>
      </p:sp>
      <p:sp>
        <p:nvSpPr>
          <p:cNvPr id="53" name="TextBox 52"/>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54" name="TextBox 53"/>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INVESTMENT RECOMMENDATION</a:t>
            </a:r>
          </a:p>
        </p:txBody>
      </p:sp>
      <p:sp>
        <p:nvSpPr>
          <p:cNvPr id="4" name="Rectangle 3"/>
          <p:cNvSpPr/>
          <p:nvPr/>
        </p:nvSpPr>
        <p:spPr>
          <a:xfrm>
            <a:off x="274320" y="594360"/>
            <a:ext cx="8595360"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0080"/>
            <a:ext cx="2286000" cy="731520"/>
          </a:xfrm>
          <a:prstGeom prst="rect">
            <a:avLst/>
          </a:prstGeom>
          <a:noFill/>
        </p:spPr>
        <p:txBody>
          <a:bodyPr wrap="square">
            <a:spAutoFit/>
          </a:bodyPr>
          <a:lstStyle/>
          <a:p>
            <a:pPr algn="l"/>
            <a:r>
              <a:rPr sz="4800" b="1" i="0">
                <a:solidFill>
                  <a:srgbClr val="007030"/>
                </a:solidFill>
              </a:rPr>
              <a:t>BUY</a:t>
            </a:r>
          </a:p>
        </p:txBody>
      </p:sp>
      <p:sp>
        <p:nvSpPr>
          <p:cNvPr id="6" name="TextBox 5"/>
          <p:cNvSpPr txBox="1"/>
          <p:nvPr/>
        </p:nvSpPr>
        <p:spPr>
          <a:xfrm>
            <a:off x="2743200" y="685800"/>
            <a:ext cx="5943600" cy="365760"/>
          </a:xfrm>
          <a:prstGeom prst="rect">
            <a:avLst/>
          </a:prstGeom>
          <a:noFill/>
        </p:spPr>
        <p:txBody>
          <a:bodyPr wrap="square">
            <a:spAutoFit/>
          </a:bodyPr>
          <a:lstStyle/>
          <a:p>
            <a:pPr algn="l"/>
            <a:r>
              <a:rPr sz="1600" b="1" i="0">
                <a:solidFill>
                  <a:srgbClr val="FFFFFF"/>
                </a:solidFill>
              </a:rPr>
              <a:t>MBC Group  |  4072.SR</a:t>
            </a:r>
          </a:p>
        </p:txBody>
      </p:sp>
      <p:sp>
        <p:nvSpPr>
          <p:cNvPr id="7" name="Rectangle 6"/>
          <p:cNvSpPr/>
          <p:nvPr/>
        </p:nvSpPr>
        <p:spPr>
          <a:xfrm>
            <a:off x="274320" y="1828800"/>
            <a:ext cx="2011680" cy="6858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856231"/>
            <a:ext cx="1828800" cy="201168"/>
          </a:xfrm>
          <a:prstGeom prst="rect">
            <a:avLst/>
          </a:prstGeom>
          <a:noFill/>
        </p:spPr>
        <p:txBody>
          <a:bodyPr wrap="square">
            <a:spAutoFit/>
          </a:bodyPr>
          <a:lstStyle/>
          <a:p>
            <a:pPr algn="l"/>
            <a:r>
              <a:rPr sz="800" b="0" i="0">
                <a:solidFill>
                  <a:srgbClr val="BDD7EE"/>
                </a:solidFill>
              </a:rPr>
              <a:t>Current Price</a:t>
            </a:r>
          </a:p>
        </p:txBody>
      </p:sp>
      <p:sp>
        <p:nvSpPr>
          <p:cNvPr id="9" name="TextBox 8"/>
          <p:cNvSpPr txBox="1"/>
          <p:nvPr/>
        </p:nvSpPr>
        <p:spPr>
          <a:xfrm>
            <a:off x="365760" y="2057400"/>
            <a:ext cx="1828800" cy="274320"/>
          </a:xfrm>
          <a:prstGeom prst="rect">
            <a:avLst/>
          </a:prstGeom>
          <a:noFill/>
        </p:spPr>
        <p:txBody>
          <a:bodyPr wrap="square">
            <a:spAutoFit/>
          </a:bodyPr>
          <a:lstStyle/>
          <a:p>
            <a:pPr algn="l"/>
            <a:r>
              <a:rPr sz="1400" b="1" i="0">
                <a:solidFill>
                  <a:srgbClr val="FFFFFF"/>
                </a:solidFill>
              </a:rPr>
              <a:t>SAR 26.26</a:t>
            </a:r>
          </a:p>
        </p:txBody>
      </p:sp>
      <p:sp>
        <p:nvSpPr>
          <p:cNvPr id="10" name="TextBox 9"/>
          <p:cNvSpPr txBox="1"/>
          <p:nvPr/>
        </p:nvSpPr>
        <p:spPr>
          <a:xfrm>
            <a:off x="365760" y="2331720"/>
            <a:ext cx="1828800" cy="182880"/>
          </a:xfrm>
          <a:prstGeom prst="rect">
            <a:avLst/>
          </a:prstGeom>
          <a:noFill/>
        </p:spPr>
        <p:txBody>
          <a:bodyPr wrap="square">
            <a:spAutoFit/>
          </a:bodyPr>
          <a:lstStyle/>
          <a:p>
            <a:pPr algn="l"/>
            <a:r>
              <a:rPr sz="800" b="0" i="1">
                <a:solidFill>
                  <a:srgbClr val="BDD7EE"/>
                </a:solidFill>
              </a:rPr>
              <a:t>April 21, 2026</a:t>
            </a:r>
          </a:p>
        </p:txBody>
      </p:sp>
      <p:sp>
        <p:nvSpPr>
          <p:cNvPr id="11" name="Rectangle 10"/>
          <p:cNvSpPr/>
          <p:nvPr/>
        </p:nvSpPr>
        <p:spPr>
          <a:xfrm>
            <a:off x="2423160" y="1828800"/>
            <a:ext cx="2011680" cy="6858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1856231"/>
            <a:ext cx="1828800" cy="201168"/>
          </a:xfrm>
          <a:prstGeom prst="rect">
            <a:avLst/>
          </a:prstGeom>
          <a:noFill/>
        </p:spPr>
        <p:txBody>
          <a:bodyPr wrap="square">
            <a:spAutoFit/>
          </a:bodyPr>
          <a:lstStyle/>
          <a:p>
            <a:pPr algn="l"/>
            <a:r>
              <a:rPr sz="800" b="0" i="0">
                <a:solidFill>
                  <a:srgbClr val="BDD7EE"/>
                </a:solidFill>
              </a:rPr>
              <a:t>Target Range</a:t>
            </a:r>
          </a:p>
        </p:txBody>
      </p:sp>
      <p:sp>
        <p:nvSpPr>
          <p:cNvPr id="13" name="TextBox 12"/>
          <p:cNvSpPr txBox="1"/>
          <p:nvPr/>
        </p:nvSpPr>
        <p:spPr>
          <a:xfrm>
            <a:off x="2514600" y="2057400"/>
            <a:ext cx="1828800" cy="274320"/>
          </a:xfrm>
          <a:prstGeom prst="rect">
            <a:avLst/>
          </a:prstGeom>
          <a:noFill/>
        </p:spPr>
        <p:txBody>
          <a:bodyPr wrap="square">
            <a:spAutoFit/>
          </a:bodyPr>
          <a:lstStyle/>
          <a:p>
            <a:pPr algn="l"/>
            <a:r>
              <a:rPr sz="1400" b="1" i="0">
                <a:solidFill>
                  <a:srgbClr val="FFFFFF"/>
                </a:solidFill>
              </a:rPr>
              <a:t>SAR 42–52</a:t>
            </a:r>
          </a:p>
        </p:txBody>
      </p:sp>
      <p:sp>
        <p:nvSpPr>
          <p:cNvPr id="14" name="TextBox 13"/>
          <p:cNvSpPr txBox="1"/>
          <p:nvPr/>
        </p:nvSpPr>
        <p:spPr>
          <a:xfrm>
            <a:off x="2514600" y="2331720"/>
            <a:ext cx="1828800" cy="182880"/>
          </a:xfrm>
          <a:prstGeom prst="rect">
            <a:avLst/>
          </a:prstGeom>
          <a:noFill/>
        </p:spPr>
        <p:txBody>
          <a:bodyPr wrap="square">
            <a:spAutoFit/>
          </a:bodyPr>
          <a:lstStyle/>
          <a:p>
            <a:pPr algn="l"/>
            <a:r>
              <a:rPr sz="800" b="0" i="1">
                <a:solidFill>
                  <a:srgbClr val="BDD7EE"/>
                </a:solidFill>
              </a:rPr>
              <a:t>60–98% upside</a:t>
            </a:r>
          </a:p>
        </p:txBody>
      </p:sp>
      <p:sp>
        <p:nvSpPr>
          <p:cNvPr id="15" name="Rectangle 14"/>
          <p:cNvSpPr/>
          <p:nvPr/>
        </p:nvSpPr>
        <p:spPr>
          <a:xfrm>
            <a:off x="4572000" y="1828800"/>
            <a:ext cx="2011680" cy="6858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1856231"/>
            <a:ext cx="1828800" cy="201168"/>
          </a:xfrm>
          <a:prstGeom prst="rect">
            <a:avLst/>
          </a:prstGeom>
          <a:noFill/>
        </p:spPr>
        <p:txBody>
          <a:bodyPr wrap="square">
            <a:spAutoFit/>
          </a:bodyPr>
          <a:lstStyle/>
          <a:p>
            <a:pPr algn="l"/>
            <a:r>
              <a:rPr sz="800" b="0" i="0">
                <a:solidFill>
                  <a:srgbClr val="BDD7EE"/>
                </a:solidFill>
              </a:rPr>
              <a:t>Central Target</a:t>
            </a:r>
          </a:p>
        </p:txBody>
      </p:sp>
      <p:sp>
        <p:nvSpPr>
          <p:cNvPr id="17" name="TextBox 16"/>
          <p:cNvSpPr txBox="1"/>
          <p:nvPr/>
        </p:nvSpPr>
        <p:spPr>
          <a:xfrm>
            <a:off x="4663440" y="2057400"/>
            <a:ext cx="1828800" cy="274320"/>
          </a:xfrm>
          <a:prstGeom prst="rect">
            <a:avLst/>
          </a:prstGeom>
          <a:noFill/>
        </p:spPr>
        <p:txBody>
          <a:bodyPr wrap="square">
            <a:spAutoFit/>
          </a:bodyPr>
          <a:lstStyle/>
          <a:p>
            <a:pPr algn="l"/>
            <a:r>
              <a:rPr sz="1400" b="1" i="0">
                <a:solidFill>
                  <a:srgbClr val="FFFFFF"/>
                </a:solidFill>
              </a:rPr>
              <a:t>SAR 47</a:t>
            </a:r>
          </a:p>
        </p:txBody>
      </p:sp>
      <p:sp>
        <p:nvSpPr>
          <p:cNvPr id="18" name="TextBox 17"/>
          <p:cNvSpPr txBox="1"/>
          <p:nvPr/>
        </p:nvSpPr>
        <p:spPr>
          <a:xfrm>
            <a:off x="4663440" y="2331720"/>
            <a:ext cx="1828800" cy="182880"/>
          </a:xfrm>
          <a:prstGeom prst="rect">
            <a:avLst/>
          </a:prstGeom>
          <a:noFill/>
        </p:spPr>
        <p:txBody>
          <a:bodyPr wrap="square">
            <a:spAutoFit/>
          </a:bodyPr>
          <a:lstStyle/>
          <a:p>
            <a:pPr algn="l"/>
            <a:r>
              <a:rPr sz="800" b="0" i="1">
                <a:solidFill>
                  <a:srgbClr val="BDD7EE"/>
                </a:solidFill>
              </a:rPr>
              <a:t>Blended central estimate</a:t>
            </a:r>
          </a:p>
        </p:txBody>
      </p:sp>
      <p:sp>
        <p:nvSpPr>
          <p:cNvPr id="19" name="Rectangle 18"/>
          <p:cNvSpPr/>
          <p:nvPr/>
        </p:nvSpPr>
        <p:spPr>
          <a:xfrm>
            <a:off x="6720840" y="1828800"/>
            <a:ext cx="201168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1856231"/>
            <a:ext cx="1828800" cy="201168"/>
          </a:xfrm>
          <a:prstGeom prst="rect">
            <a:avLst/>
          </a:prstGeom>
          <a:noFill/>
        </p:spPr>
        <p:txBody>
          <a:bodyPr wrap="square">
            <a:spAutoFit/>
          </a:bodyPr>
          <a:lstStyle/>
          <a:p>
            <a:pPr algn="l"/>
            <a:r>
              <a:rPr sz="800" b="0" i="0">
                <a:solidFill>
                  <a:srgbClr val="404040"/>
                </a:solidFill>
              </a:rPr>
              <a:t>Market Implied</a:t>
            </a:r>
          </a:p>
        </p:txBody>
      </p:sp>
      <p:sp>
        <p:nvSpPr>
          <p:cNvPr id="21" name="TextBox 20"/>
          <p:cNvSpPr txBox="1"/>
          <p:nvPr/>
        </p:nvSpPr>
        <p:spPr>
          <a:xfrm>
            <a:off x="6812280" y="2057400"/>
            <a:ext cx="1828800" cy="274320"/>
          </a:xfrm>
          <a:prstGeom prst="rect">
            <a:avLst/>
          </a:prstGeom>
          <a:noFill/>
        </p:spPr>
        <p:txBody>
          <a:bodyPr wrap="square">
            <a:spAutoFit/>
          </a:bodyPr>
          <a:lstStyle/>
          <a:p>
            <a:pPr algn="l"/>
            <a:r>
              <a:rPr sz="1400" b="1" i="0">
                <a:solidFill>
                  <a:srgbClr val="1F3864"/>
                </a:solidFill>
              </a:rPr>
              <a:t>11x NTM EBITDA</a:t>
            </a:r>
          </a:p>
        </p:txBody>
      </p:sp>
      <p:sp>
        <p:nvSpPr>
          <p:cNvPr id="22" name="TextBox 21"/>
          <p:cNvSpPr txBox="1"/>
          <p:nvPr/>
        </p:nvSpPr>
        <p:spPr>
          <a:xfrm>
            <a:off x="6812280" y="2331720"/>
            <a:ext cx="1828800" cy="182880"/>
          </a:xfrm>
          <a:prstGeom prst="rect">
            <a:avLst/>
          </a:prstGeom>
          <a:noFill/>
        </p:spPr>
        <p:txBody>
          <a:bodyPr wrap="square">
            <a:spAutoFit/>
          </a:bodyPr>
          <a:lstStyle/>
          <a:p>
            <a:pPr algn="l"/>
            <a:r>
              <a:rPr sz="800" b="0" i="1">
                <a:solidFill>
                  <a:srgbClr val="808080"/>
                </a:solidFill>
              </a:rPr>
              <a:t>vs. Netflix 26x, Disney 20x</a:t>
            </a:r>
          </a:p>
        </p:txBody>
      </p:sp>
      <p:sp>
        <p:nvSpPr>
          <p:cNvPr id="23" name="TextBox 22"/>
          <p:cNvSpPr txBox="1"/>
          <p:nvPr/>
        </p:nvSpPr>
        <p:spPr>
          <a:xfrm>
            <a:off x="274320" y="2743200"/>
            <a:ext cx="8595360" cy="320040"/>
          </a:xfrm>
          <a:prstGeom prst="rect">
            <a:avLst/>
          </a:prstGeom>
          <a:noFill/>
        </p:spPr>
        <p:txBody>
          <a:bodyPr wrap="square">
            <a:spAutoFit/>
          </a:bodyPr>
          <a:lstStyle/>
          <a:p>
            <a:pPr algn="l"/>
            <a:r>
              <a:rPr sz="1400" b="1" i="0">
                <a:solidFill>
                  <a:srgbClr val="1F3864"/>
                </a:solidFill>
              </a:rPr>
              <a:t>Investment Thesis</a:t>
            </a:r>
          </a:p>
        </p:txBody>
      </p:sp>
      <p:sp>
        <p:nvSpPr>
          <p:cNvPr id="24" name="Rectangle 23"/>
          <p:cNvSpPr/>
          <p:nvPr/>
        </p:nvSpPr>
        <p:spPr>
          <a:xfrm>
            <a:off x="274320" y="3108960"/>
            <a:ext cx="228600" cy="5943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108960"/>
            <a:ext cx="8138160" cy="228600"/>
          </a:xfrm>
          <a:prstGeom prst="rect">
            <a:avLst/>
          </a:prstGeom>
          <a:noFill/>
        </p:spPr>
        <p:txBody>
          <a:bodyPr wrap="square">
            <a:spAutoFit/>
          </a:bodyPr>
          <a:lstStyle/>
          <a:p>
            <a:pPr algn="l"/>
            <a:r>
              <a:rPr sz="1000" b="1" i="0">
                <a:solidFill>
                  <a:srgbClr val="1F3864"/>
                </a:solidFill>
              </a:rPr>
              <a:t>BOCA finances Shahid for free</a:t>
            </a:r>
          </a:p>
        </p:txBody>
      </p:sp>
      <p:sp>
        <p:nvSpPr>
          <p:cNvPr id="26" name="TextBox 25"/>
          <p:cNvSpPr txBox="1"/>
          <p:nvPr/>
        </p:nvSpPr>
        <p:spPr>
          <a:xfrm>
            <a:off x="640080" y="3337560"/>
            <a:ext cx="8138160" cy="411480"/>
          </a:xfrm>
          <a:prstGeom prst="rect">
            <a:avLst/>
          </a:prstGeom>
          <a:noFill/>
        </p:spPr>
        <p:txBody>
          <a:bodyPr wrap="square">
            <a:spAutoFit/>
          </a:bodyPr>
          <a:lstStyle/>
          <a:p>
            <a:pPr algn="l"/>
            <a:r>
              <a:rPr sz="850" b="0" i="0">
                <a:solidFill>
                  <a:srgbClr val="404040"/>
                </a:solidFill>
              </a:rPr>
              <a:t>BOCA (54% of revenue) alone is worth SAR 8,057M — nearly equal to MBC's entire market cap of SAR 8,844M. The market is assigning zero value to Shahid and M&amp;E, which together contributed SAR 8,384M in our SOTP base case.</a:t>
            </a:r>
          </a:p>
        </p:txBody>
      </p:sp>
      <p:sp>
        <p:nvSpPr>
          <p:cNvPr id="27" name="Rectangle 26"/>
          <p:cNvSpPr/>
          <p:nvPr/>
        </p:nvSpPr>
        <p:spPr>
          <a:xfrm>
            <a:off x="274320" y="3822191"/>
            <a:ext cx="228600" cy="5943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822191"/>
            <a:ext cx="8138160" cy="228600"/>
          </a:xfrm>
          <a:prstGeom prst="rect">
            <a:avLst/>
          </a:prstGeom>
          <a:noFill/>
        </p:spPr>
        <p:txBody>
          <a:bodyPr wrap="square">
            <a:spAutoFit/>
          </a:bodyPr>
          <a:lstStyle/>
          <a:p>
            <a:pPr algn="l"/>
            <a:r>
              <a:rPr sz="1000" b="1" i="0">
                <a:solidFill>
                  <a:srgbClr val="1F3864"/>
                </a:solidFill>
              </a:rPr>
              <a:t>Streaming call option at a discount</a:t>
            </a:r>
          </a:p>
        </p:txBody>
      </p:sp>
      <p:sp>
        <p:nvSpPr>
          <p:cNvPr id="29" name="TextBox 28"/>
          <p:cNvSpPr txBox="1"/>
          <p:nvPr/>
        </p:nvSpPr>
        <p:spPr>
          <a:xfrm>
            <a:off x="640080" y="4050791"/>
            <a:ext cx="8138160" cy="411480"/>
          </a:xfrm>
          <a:prstGeom prst="rect">
            <a:avLst/>
          </a:prstGeom>
          <a:noFill/>
        </p:spPr>
        <p:txBody>
          <a:bodyPr wrap="square">
            <a:spAutoFit/>
          </a:bodyPr>
          <a:lstStyle/>
          <a:p>
            <a:pPr algn="l"/>
            <a:r>
              <a:rPr sz="850" b="0" i="0">
                <a:solidFill>
                  <a:srgbClr val="404040"/>
                </a:solidFill>
              </a:rPr>
              <a:t>Shahid is the MENA's leading Arabic streaming platform with 34% revenue growth. At current prices, investors get Shahid's growth option for free. If Shahid reaches Netflix-like margins (20%+ EBITDA), the equity value could double from current levels.</a:t>
            </a:r>
          </a:p>
        </p:txBody>
      </p:sp>
      <p:sp>
        <p:nvSpPr>
          <p:cNvPr id="30" name="Rectangle 29"/>
          <p:cNvSpPr/>
          <p:nvPr/>
        </p:nvSpPr>
        <p:spPr>
          <a:xfrm>
            <a:off x="274320" y="4535424"/>
            <a:ext cx="228600" cy="5943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535424"/>
            <a:ext cx="8138160" cy="228600"/>
          </a:xfrm>
          <a:prstGeom prst="rect">
            <a:avLst/>
          </a:prstGeom>
          <a:noFill/>
        </p:spPr>
        <p:txBody>
          <a:bodyPr wrap="square">
            <a:spAutoFit/>
          </a:bodyPr>
          <a:lstStyle/>
          <a:p>
            <a:pPr algn="l"/>
            <a:r>
              <a:rPr sz="1000" b="1" i="0">
                <a:solidFill>
                  <a:srgbClr val="1F3864"/>
                </a:solidFill>
              </a:rPr>
              <a:t>Two methods, one answer</a:t>
            </a:r>
          </a:p>
        </p:txBody>
      </p:sp>
      <p:sp>
        <p:nvSpPr>
          <p:cNvPr id="32" name="TextBox 31"/>
          <p:cNvSpPr txBox="1"/>
          <p:nvPr/>
        </p:nvSpPr>
        <p:spPr>
          <a:xfrm>
            <a:off x="640080" y="4764024"/>
            <a:ext cx="8138160" cy="411480"/>
          </a:xfrm>
          <a:prstGeom prst="rect">
            <a:avLst/>
          </a:prstGeom>
          <a:noFill/>
        </p:spPr>
        <p:txBody>
          <a:bodyPr wrap="square">
            <a:spAutoFit/>
          </a:bodyPr>
          <a:lstStyle/>
          <a:p>
            <a:pPr algn="l"/>
            <a:r>
              <a:rPr sz="850" b="0" i="0">
                <a:solidFill>
                  <a:srgbClr val="404040"/>
                </a:solidFill>
              </a:rPr>
              <a:t>DCF (SAR 48.8) and SOTP (SAR 49.4) converge at SAR 48–50. This convergence — using completely independent methodologies — is a strong validation signal and substantially de-risks the estimate.</a:t>
            </a:r>
          </a:p>
        </p:txBody>
      </p:sp>
      <p:sp>
        <p:nvSpPr>
          <p:cNvPr id="33" name="Rectangle 32"/>
          <p:cNvSpPr/>
          <p:nvPr/>
        </p:nvSpPr>
        <p:spPr>
          <a:xfrm>
            <a:off x="274320" y="5248656"/>
            <a:ext cx="228600" cy="59436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248656"/>
            <a:ext cx="8138160" cy="228600"/>
          </a:xfrm>
          <a:prstGeom prst="rect">
            <a:avLst/>
          </a:prstGeom>
          <a:noFill/>
        </p:spPr>
        <p:txBody>
          <a:bodyPr wrap="square">
            <a:spAutoFit/>
          </a:bodyPr>
          <a:lstStyle/>
          <a:p>
            <a:pPr algn="l"/>
            <a:r>
              <a:rPr sz="1000" b="1" i="0">
                <a:solidFill>
                  <a:srgbClr val="1F3864"/>
                </a:solidFill>
              </a:rPr>
              <a:t>Strategic optionality</a:t>
            </a:r>
          </a:p>
        </p:txBody>
      </p:sp>
      <p:sp>
        <p:nvSpPr>
          <p:cNvPr id="35" name="TextBox 34"/>
          <p:cNvSpPr txBox="1"/>
          <p:nvPr/>
        </p:nvSpPr>
        <p:spPr>
          <a:xfrm>
            <a:off x="640080" y="5477256"/>
            <a:ext cx="8138160" cy="411480"/>
          </a:xfrm>
          <a:prstGeom prst="rect">
            <a:avLst/>
          </a:prstGeom>
          <a:noFill/>
        </p:spPr>
        <p:txBody>
          <a:bodyPr wrap="square">
            <a:spAutoFit/>
          </a:bodyPr>
          <a:lstStyle/>
          <a:p>
            <a:pPr algn="l"/>
            <a:r>
              <a:rPr sz="850" b="0" i="0">
                <a:solidFill>
                  <a:srgbClr val="404040"/>
                </a:solidFill>
              </a:rPr>
              <a:t>Paramount was acquired at 7.5x EBITDA. MBC's balance sheet (net cash SAR 1.2B) is far stronger than Paramount's. A strategic buyer (PIF or regional media group) could justify SAR 35–50 in an acquisition.</a:t>
            </a:r>
          </a:p>
        </p:txBody>
      </p:sp>
      <p:sp>
        <p:nvSpPr>
          <p:cNvPr id="36" name="TextBox 35"/>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37" name="TextBox 36"/>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KEY RISKS</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Risk Matrix</a:t>
            </a:r>
          </a:p>
        </p:txBody>
      </p:sp>
      <p:sp>
        <p:nvSpPr>
          <p:cNvPr id="5" name="Rectangle 4"/>
          <p:cNvSpPr/>
          <p:nvPr/>
        </p:nvSpPr>
        <p:spPr>
          <a:xfrm>
            <a:off x="274320" y="960120"/>
            <a:ext cx="502920"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2608" y="1234440"/>
            <a:ext cx="457200" cy="256032"/>
          </a:xfrm>
          <a:prstGeom prst="rect">
            <a:avLst/>
          </a:prstGeom>
          <a:noFill/>
        </p:spPr>
        <p:txBody>
          <a:bodyPr wrap="square">
            <a:spAutoFit/>
          </a:bodyPr>
          <a:lstStyle/>
          <a:p>
            <a:pPr algn="ctr"/>
            <a:r>
              <a:rPr sz="700" b="1" i="0">
                <a:solidFill>
                  <a:srgbClr val="FFFFFF"/>
                </a:solidFill>
              </a:rPr>
              <a:t>HIGH</a:t>
            </a:r>
          </a:p>
        </p:txBody>
      </p:sp>
      <p:sp>
        <p:nvSpPr>
          <p:cNvPr id="7" name="TextBox 6"/>
          <p:cNvSpPr txBox="1"/>
          <p:nvPr/>
        </p:nvSpPr>
        <p:spPr>
          <a:xfrm>
            <a:off x="914400" y="960120"/>
            <a:ext cx="7955279" cy="228600"/>
          </a:xfrm>
          <a:prstGeom prst="rect">
            <a:avLst/>
          </a:prstGeom>
          <a:noFill/>
        </p:spPr>
        <p:txBody>
          <a:bodyPr wrap="square">
            <a:spAutoFit/>
          </a:bodyPr>
          <a:lstStyle/>
          <a:p>
            <a:pPr algn="l"/>
            <a:r>
              <a:rPr sz="1000" b="1" i="0">
                <a:solidFill>
                  <a:srgbClr val="404040"/>
                </a:solidFill>
              </a:rPr>
              <a:t>Streaming margin expansion slower than modeled</a:t>
            </a:r>
          </a:p>
        </p:txBody>
      </p:sp>
      <p:sp>
        <p:nvSpPr>
          <p:cNvPr id="8" name="TextBox 7"/>
          <p:cNvSpPr txBox="1"/>
          <p:nvPr/>
        </p:nvSpPr>
        <p:spPr>
          <a:xfrm>
            <a:off x="914400" y="1188720"/>
            <a:ext cx="5303520" cy="457200"/>
          </a:xfrm>
          <a:prstGeom prst="rect">
            <a:avLst/>
          </a:prstGeom>
          <a:noFill/>
        </p:spPr>
        <p:txBody>
          <a:bodyPr wrap="square">
            <a:spAutoFit/>
          </a:bodyPr>
          <a:lstStyle/>
          <a:p>
            <a:pPr algn="l"/>
            <a:r>
              <a:rPr sz="800" b="0" i="0">
                <a:solidFill>
                  <a:srgbClr val="404040"/>
                </a:solidFill>
              </a:rPr>
              <a:t>Capital IQ consensus projects FY2026 EBITDA margin of 12.6% vs. FY2025 actual 5.0%. If Shahid content costs remain elevated, margin expansion stalls and DCF/SOTP estimates compress significantly.</a:t>
            </a:r>
          </a:p>
        </p:txBody>
      </p:sp>
      <p:sp>
        <p:nvSpPr>
          <p:cNvPr id="9" name="TextBox 8"/>
          <p:cNvSpPr txBox="1"/>
          <p:nvPr/>
        </p:nvSpPr>
        <p:spPr>
          <a:xfrm>
            <a:off x="6309360" y="1188720"/>
            <a:ext cx="2560320" cy="201168"/>
          </a:xfrm>
          <a:prstGeom prst="rect">
            <a:avLst/>
          </a:prstGeom>
          <a:noFill/>
        </p:spPr>
        <p:txBody>
          <a:bodyPr wrap="square">
            <a:spAutoFit/>
          </a:bodyPr>
          <a:lstStyle/>
          <a:p>
            <a:pPr algn="l"/>
            <a:r>
              <a:rPr sz="800" b="1" i="0">
                <a:solidFill>
                  <a:srgbClr val="808080"/>
                </a:solidFill>
              </a:rPr>
              <a:t>Likelihood: Medium</a:t>
            </a:r>
          </a:p>
        </p:txBody>
      </p:sp>
      <p:sp>
        <p:nvSpPr>
          <p:cNvPr id="10" name="TextBox 9"/>
          <p:cNvSpPr txBox="1"/>
          <p:nvPr/>
        </p:nvSpPr>
        <p:spPr>
          <a:xfrm>
            <a:off x="6309360" y="1399032"/>
            <a:ext cx="2560320" cy="365760"/>
          </a:xfrm>
          <a:prstGeom prst="rect">
            <a:avLst/>
          </a:prstGeom>
          <a:noFill/>
        </p:spPr>
        <p:txBody>
          <a:bodyPr wrap="square">
            <a:spAutoFit/>
          </a:bodyPr>
          <a:lstStyle/>
          <a:p>
            <a:pPr algn="l"/>
            <a:r>
              <a:rPr sz="750" b="0" i="1">
                <a:solidFill>
                  <a:srgbClr val="007030"/>
                </a:solidFill>
              </a:rPr>
              <a:t>Base case DCF, SOTP both assume Shahid scale economics; compression = −30–40% to valuation</a:t>
            </a:r>
          </a:p>
        </p:txBody>
      </p:sp>
      <p:sp>
        <p:nvSpPr>
          <p:cNvPr id="11" name="Rectangle 10"/>
          <p:cNvSpPr/>
          <p:nvPr/>
        </p:nvSpPr>
        <p:spPr>
          <a:xfrm>
            <a:off x="274320" y="1920240"/>
            <a:ext cx="502920"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2194560"/>
            <a:ext cx="457200" cy="256032"/>
          </a:xfrm>
          <a:prstGeom prst="rect">
            <a:avLst/>
          </a:prstGeom>
          <a:noFill/>
        </p:spPr>
        <p:txBody>
          <a:bodyPr wrap="square">
            <a:spAutoFit/>
          </a:bodyPr>
          <a:lstStyle/>
          <a:p>
            <a:pPr algn="ctr"/>
            <a:r>
              <a:rPr sz="700" b="1" i="0">
                <a:solidFill>
                  <a:srgbClr val="FFFFFF"/>
                </a:solidFill>
              </a:rPr>
              <a:t>HIGH</a:t>
            </a:r>
          </a:p>
        </p:txBody>
      </p:sp>
      <p:sp>
        <p:nvSpPr>
          <p:cNvPr id="13" name="TextBox 12"/>
          <p:cNvSpPr txBox="1"/>
          <p:nvPr/>
        </p:nvSpPr>
        <p:spPr>
          <a:xfrm>
            <a:off x="914400" y="1920240"/>
            <a:ext cx="7955279" cy="228600"/>
          </a:xfrm>
          <a:prstGeom prst="rect">
            <a:avLst/>
          </a:prstGeom>
          <a:noFill/>
        </p:spPr>
        <p:txBody>
          <a:bodyPr wrap="square">
            <a:spAutoFit/>
          </a:bodyPr>
          <a:lstStyle/>
          <a:p>
            <a:pPr algn="l"/>
            <a:r>
              <a:rPr sz="1000" b="1" i="0">
                <a:solidFill>
                  <a:srgbClr val="404040"/>
                </a:solidFill>
              </a:rPr>
              <a:t>Linear TV advertising decline accelerates</a:t>
            </a:r>
          </a:p>
        </p:txBody>
      </p:sp>
      <p:sp>
        <p:nvSpPr>
          <p:cNvPr id="14" name="TextBox 13"/>
          <p:cNvSpPr txBox="1"/>
          <p:nvPr/>
        </p:nvSpPr>
        <p:spPr>
          <a:xfrm>
            <a:off x="914400" y="2148840"/>
            <a:ext cx="5303520" cy="457200"/>
          </a:xfrm>
          <a:prstGeom prst="rect">
            <a:avLst/>
          </a:prstGeom>
          <a:noFill/>
        </p:spPr>
        <p:txBody>
          <a:bodyPr wrap="square">
            <a:spAutoFit/>
          </a:bodyPr>
          <a:lstStyle/>
          <a:p>
            <a:pPr algn="l"/>
            <a:r>
              <a:rPr sz="800" b="0" i="0">
                <a:solidFill>
                  <a:srgbClr val="404040"/>
                </a:solidFill>
              </a:rPr>
              <a:t>BOCA (54% of revenue) depends on pan-Arab TV advertising. Global secular decline in linear TV viewing may accelerate in MENA faster than expected, compressing BOCA's cash generation.</a:t>
            </a:r>
          </a:p>
        </p:txBody>
      </p:sp>
      <p:sp>
        <p:nvSpPr>
          <p:cNvPr id="15" name="TextBox 14"/>
          <p:cNvSpPr txBox="1"/>
          <p:nvPr/>
        </p:nvSpPr>
        <p:spPr>
          <a:xfrm>
            <a:off x="6309360" y="2148840"/>
            <a:ext cx="2560320" cy="201168"/>
          </a:xfrm>
          <a:prstGeom prst="rect">
            <a:avLst/>
          </a:prstGeom>
          <a:noFill/>
        </p:spPr>
        <p:txBody>
          <a:bodyPr wrap="square">
            <a:spAutoFit/>
          </a:bodyPr>
          <a:lstStyle/>
          <a:p>
            <a:pPr algn="l"/>
            <a:r>
              <a:rPr sz="800" b="1" i="0">
                <a:solidFill>
                  <a:srgbClr val="808080"/>
                </a:solidFill>
              </a:rPr>
              <a:t>Likelihood: Low–Medium</a:t>
            </a:r>
          </a:p>
        </p:txBody>
      </p:sp>
      <p:sp>
        <p:nvSpPr>
          <p:cNvPr id="16" name="TextBox 15"/>
          <p:cNvSpPr txBox="1"/>
          <p:nvPr/>
        </p:nvSpPr>
        <p:spPr>
          <a:xfrm>
            <a:off x="6309360" y="2359152"/>
            <a:ext cx="2560320" cy="365760"/>
          </a:xfrm>
          <a:prstGeom prst="rect">
            <a:avLst/>
          </a:prstGeom>
          <a:noFill/>
        </p:spPr>
        <p:txBody>
          <a:bodyPr wrap="square">
            <a:spAutoFit/>
          </a:bodyPr>
          <a:lstStyle/>
          <a:p>
            <a:pPr algn="l"/>
            <a:r>
              <a:rPr sz="750" b="0" i="1">
                <a:solidFill>
                  <a:srgbClr val="007030"/>
                </a:solidFill>
              </a:rPr>
              <a:t>BOCA generates SAR 650M+ EBITDA; even at 15% decline, still cash generative</a:t>
            </a:r>
          </a:p>
        </p:txBody>
      </p:sp>
      <p:sp>
        <p:nvSpPr>
          <p:cNvPr id="17" name="Rectangle 16"/>
          <p:cNvSpPr/>
          <p:nvPr/>
        </p:nvSpPr>
        <p:spPr>
          <a:xfrm>
            <a:off x="274320" y="2880360"/>
            <a:ext cx="50292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3154680"/>
            <a:ext cx="457200" cy="256032"/>
          </a:xfrm>
          <a:prstGeom prst="rect">
            <a:avLst/>
          </a:prstGeom>
          <a:noFill/>
        </p:spPr>
        <p:txBody>
          <a:bodyPr wrap="square">
            <a:spAutoFit/>
          </a:bodyPr>
          <a:lstStyle/>
          <a:p>
            <a:pPr algn="ctr"/>
            <a:r>
              <a:rPr sz="700" b="1" i="0">
                <a:solidFill>
                  <a:srgbClr val="FFFFFF"/>
                </a:solidFill>
              </a:rPr>
              <a:t>MEDIUM</a:t>
            </a:r>
          </a:p>
        </p:txBody>
      </p:sp>
      <p:sp>
        <p:nvSpPr>
          <p:cNvPr id="19" name="TextBox 18"/>
          <p:cNvSpPr txBox="1"/>
          <p:nvPr/>
        </p:nvSpPr>
        <p:spPr>
          <a:xfrm>
            <a:off x="914400" y="2880360"/>
            <a:ext cx="7955279" cy="228600"/>
          </a:xfrm>
          <a:prstGeom prst="rect">
            <a:avLst/>
          </a:prstGeom>
          <a:noFill/>
        </p:spPr>
        <p:txBody>
          <a:bodyPr wrap="square">
            <a:spAutoFit/>
          </a:bodyPr>
          <a:lstStyle/>
          <a:p>
            <a:pPr algn="l"/>
            <a:r>
              <a:rPr sz="1000" b="1" i="0">
                <a:solidFill>
                  <a:srgbClr val="404040"/>
                </a:solidFill>
              </a:rPr>
              <a:t>Netflix / Disney+ MENA expansion intensifies</a:t>
            </a:r>
          </a:p>
        </p:txBody>
      </p:sp>
      <p:sp>
        <p:nvSpPr>
          <p:cNvPr id="20" name="TextBox 19"/>
          <p:cNvSpPr txBox="1"/>
          <p:nvPr/>
        </p:nvSpPr>
        <p:spPr>
          <a:xfrm>
            <a:off x="914400" y="3108960"/>
            <a:ext cx="5303520" cy="457200"/>
          </a:xfrm>
          <a:prstGeom prst="rect">
            <a:avLst/>
          </a:prstGeom>
          <a:noFill/>
        </p:spPr>
        <p:txBody>
          <a:bodyPr wrap="square">
            <a:spAutoFit/>
          </a:bodyPr>
          <a:lstStyle/>
          <a:p>
            <a:pPr algn="l"/>
            <a:r>
              <a:rPr sz="800" b="0" i="0">
                <a:solidFill>
                  <a:srgbClr val="404040"/>
                </a:solidFill>
              </a:rPr>
              <a:t>Netflix has ~4M MENA subscribers; Disney+ is expanding. Aggressive pricing or content investment by global players could slow Shahid's subscriber growth and margin path.</a:t>
            </a:r>
          </a:p>
        </p:txBody>
      </p:sp>
      <p:sp>
        <p:nvSpPr>
          <p:cNvPr id="21" name="TextBox 20"/>
          <p:cNvSpPr txBox="1"/>
          <p:nvPr/>
        </p:nvSpPr>
        <p:spPr>
          <a:xfrm>
            <a:off x="6309360" y="3108960"/>
            <a:ext cx="2560320" cy="201168"/>
          </a:xfrm>
          <a:prstGeom prst="rect">
            <a:avLst/>
          </a:prstGeom>
          <a:noFill/>
        </p:spPr>
        <p:txBody>
          <a:bodyPr wrap="square">
            <a:spAutoFit/>
          </a:bodyPr>
          <a:lstStyle/>
          <a:p>
            <a:pPr algn="l"/>
            <a:r>
              <a:rPr sz="800" b="1" i="0">
                <a:solidFill>
                  <a:srgbClr val="808080"/>
                </a:solidFill>
              </a:rPr>
              <a:t>Likelihood: Medium</a:t>
            </a:r>
          </a:p>
        </p:txBody>
      </p:sp>
      <p:sp>
        <p:nvSpPr>
          <p:cNvPr id="22" name="TextBox 21"/>
          <p:cNvSpPr txBox="1"/>
          <p:nvPr/>
        </p:nvSpPr>
        <p:spPr>
          <a:xfrm>
            <a:off x="6309360" y="3319272"/>
            <a:ext cx="2560320" cy="365760"/>
          </a:xfrm>
          <a:prstGeom prst="rect">
            <a:avLst/>
          </a:prstGeom>
          <a:noFill/>
        </p:spPr>
        <p:txBody>
          <a:bodyPr wrap="square">
            <a:spAutoFit/>
          </a:bodyPr>
          <a:lstStyle/>
          <a:p>
            <a:pPr algn="l"/>
            <a:r>
              <a:rPr sz="750" b="0" i="1">
                <a:solidFill>
                  <a:srgbClr val="007030"/>
                </a:solidFill>
              </a:rPr>
              <a:t>Shahid's Arabic-language moat (local content, Arabic UI) provides some protection</a:t>
            </a:r>
          </a:p>
        </p:txBody>
      </p:sp>
      <p:sp>
        <p:nvSpPr>
          <p:cNvPr id="23" name="Rectangle 22"/>
          <p:cNvSpPr/>
          <p:nvPr/>
        </p:nvSpPr>
        <p:spPr>
          <a:xfrm>
            <a:off x="274320" y="3840480"/>
            <a:ext cx="502920" cy="822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4114800"/>
            <a:ext cx="457200" cy="256032"/>
          </a:xfrm>
          <a:prstGeom prst="rect">
            <a:avLst/>
          </a:prstGeom>
          <a:noFill/>
        </p:spPr>
        <p:txBody>
          <a:bodyPr wrap="square">
            <a:spAutoFit/>
          </a:bodyPr>
          <a:lstStyle/>
          <a:p>
            <a:pPr algn="ctr"/>
            <a:r>
              <a:rPr sz="700" b="1" i="0">
                <a:solidFill>
                  <a:srgbClr val="FFFFFF"/>
                </a:solidFill>
              </a:rPr>
              <a:t>HIGH</a:t>
            </a:r>
          </a:p>
        </p:txBody>
      </p:sp>
      <p:sp>
        <p:nvSpPr>
          <p:cNvPr id="25" name="TextBox 24"/>
          <p:cNvSpPr txBox="1"/>
          <p:nvPr/>
        </p:nvSpPr>
        <p:spPr>
          <a:xfrm>
            <a:off x="914400" y="3840480"/>
            <a:ext cx="7955279" cy="228600"/>
          </a:xfrm>
          <a:prstGeom prst="rect">
            <a:avLst/>
          </a:prstGeom>
          <a:noFill/>
        </p:spPr>
        <p:txBody>
          <a:bodyPr wrap="square">
            <a:spAutoFit/>
          </a:bodyPr>
          <a:lstStyle/>
          <a:p>
            <a:pPr algn="l"/>
            <a:r>
              <a:rPr sz="1000" b="1" i="0">
                <a:solidFill>
                  <a:srgbClr val="404040"/>
                </a:solidFill>
              </a:rPr>
              <a:t>FY2026 EBITDA misses Capital IQ consensus</a:t>
            </a:r>
          </a:p>
        </p:txBody>
      </p:sp>
      <p:sp>
        <p:nvSpPr>
          <p:cNvPr id="26" name="TextBox 25"/>
          <p:cNvSpPr txBox="1"/>
          <p:nvPr/>
        </p:nvSpPr>
        <p:spPr>
          <a:xfrm>
            <a:off x="914400" y="4069080"/>
            <a:ext cx="5303520" cy="457200"/>
          </a:xfrm>
          <a:prstGeom prst="rect">
            <a:avLst/>
          </a:prstGeom>
          <a:noFill/>
        </p:spPr>
        <p:txBody>
          <a:bodyPr wrap="square">
            <a:spAutoFit/>
          </a:bodyPr>
          <a:lstStyle/>
          <a:p>
            <a:pPr algn="l"/>
            <a:r>
              <a:rPr sz="800" b="0" i="0">
                <a:solidFill>
                  <a:srgbClr val="404040"/>
                </a:solidFill>
              </a:rPr>
              <a:t>Consensus estimates SAR 692.8M EBITDA (12.6% margin). If actual comes in at SAR 400–500M (8–9% margin), the market re-rates lower and valuation multiples compress.</a:t>
            </a:r>
          </a:p>
        </p:txBody>
      </p:sp>
      <p:sp>
        <p:nvSpPr>
          <p:cNvPr id="27" name="TextBox 26"/>
          <p:cNvSpPr txBox="1"/>
          <p:nvPr/>
        </p:nvSpPr>
        <p:spPr>
          <a:xfrm>
            <a:off x="6309360" y="4069080"/>
            <a:ext cx="2560320" cy="201168"/>
          </a:xfrm>
          <a:prstGeom prst="rect">
            <a:avLst/>
          </a:prstGeom>
          <a:noFill/>
        </p:spPr>
        <p:txBody>
          <a:bodyPr wrap="square">
            <a:spAutoFit/>
          </a:bodyPr>
          <a:lstStyle/>
          <a:p>
            <a:pPr algn="l"/>
            <a:r>
              <a:rPr sz="800" b="1" i="0">
                <a:solidFill>
                  <a:srgbClr val="808080"/>
                </a:solidFill>
              </a:rPr>
              <a:t>Likelihood: Medium</a:t>
            </a:r>
          </a:p>
        </p:txBody>
      </p:sp>
      <p:sp>
        <p:nvSpPr>
          <p:cNvPr id="28" name="TextBox 27"/>
          <p:cNvSpPr txBox="1"/>
          <p:nvPr/>
        </p:nvSpPr>
        <p:spPr>
          <a:xfrm>
            <a:off x="6309360" y="4279392"/>
            <a:ext cx="2560320" cy="365760"/>
          </a:xfrm>
          <a:prstGeom prst="rect">
            <a:avLst/>
          </a:prstGeom>
          <a:noFill/>
        </p:spPr>
        <p:txBody>
          <a:bodyPr wrap="square">
            <a:spAutoFit/>
          </a:bodyPr>
          <a:lstStyle/>
          <a:p>
            <a:pPr algn="l"/>
            <a:r>
              <a:rPr sz="750" b="0" i="1">
                <a:solidFill>
                  <a:srgbClr val="007030"/>
                </a:solidFill>
              </a:rPr>
              <a:t>Capital IQ consensus from 8 brokers; track record unknown for newly listed company</a:t>
            </a:r>
          </a:p>
        </p:txBody>
      </p:sp>
      <p:sp>
        <p:nvSpPr>
          <p:cNvPr id="29" name="Rectangle 28"/>
          <p:cNvSpPr/>
          <p:nvPr/>
        </p:nvSpPr>
        <p:spPr>
          <a:xfrm>
            <a:off x="274320" y="4800600"/>
            <a:ext cx="50292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074920"/>
            <a:ext cx="457200" cy="256032"/>
          </a:xfrm>
          <a:prstGeom prst="rect">
            <a:avLst/>
          </a:prstGeom>
          <a:noFill/>
        </p:spPr>
        <p:txBody>
          <a:bodyPr wrap="square">
            <a:spAutoFit/>
          </a:bodyPr>
          <a:lstStyle/>
          <a:p>
            <a:pPr algn="ctr"/>
            <a:r>
              <a:rPr sz="700" b="1" i="0">
                <a:solidFill>
                  <a:srgbClr val="FFFFFF"/>
                </a:solidFill>
              </a:rPr>
              <a:t>MEDIUM</a:t>
            </a:r>
          </a:p>
        </p:txBody>
      </p:sp>
      <p:sp>
        <p:nvSpPr>
          <p:cNvPr id="31" name="TextBox 30"/>
          <p:cNvSpPr txBox="1"/>
          <p:nvPr/>
        </p:nvSpPr>
        <p:spPr>
          <a:xfrm>
            <a:off x="914400" y="4800600"/>
            <a:ext cx="7955279" cy="228600"/>
          </a:xfrm>
          <a:prstGeom prst="rect">
            <a:avLst/>
          </a:prstGeom>
          <a:noFill/>
        </p:spPr>
        <p:txBody>
          <a:bodyPr wrap="square">
            <a:spAutoFit/>
          </a:bodyPr>
          <a:lstStyle/>
          <a:p>
            <a:pPr algn="l"/>
            <a:r>
              <a:rPr sz="1000" b="1" i="0">
                <a:solidFill>
                  <a:srgbClr val="404040"/>
                </a:solidFill>
              </a:rPr>
              <a:t>Working capital volatility obscures FCF</a:t>
            </a:r>
          </a:p>
        </p:txBody>
      </p:sp>
      <p:sp>
        <p:nvSpPr>
          <p:cNvPr id="32" name="TextBox 31"/>
          <p:cNvSpPr txBox="1"/>
          <p:nvPr/>
        </p:nvSpPr>
        <p:spPr>
          <a:xfrm>
            <a:off x="914400" y="5029200"/>
            <a:ext cx="5303520" cy="457200"/>
          </a:xfrm>
          <a:prstGeom prst="rect">
            <a:avLst/>
          </a:prstGeom>
          <a:noFill/>
        </p:spPr>
        <p:txBody>
          <a:bodyPr wrap="square">
            <a:spAutoFit/>
          </a:bodyPr>
          <a:lstStyle/>
          <a:p>
            <a:pPr algn="l"/>
            <a:r>
              <a:rPr sz="800" b="0" i="0">
                <a:solidFill>
                  <a:srgbClr val="404040"/>
                </a:solidFill>
              </a:rPr>
              <a:t>FY2025 had SAR −180.7M levered FCF despite positive EBITDA — driven by SAR 550M AR build. This pattern may repeat, creating FCF volatility that doesn't reflect business quality.</a:t>
            </a:r>
          </a:p>
        </p:txBody>
      </p:sp>
      <p:sp>
        <p:nvSpPr>
          <p:cNvPr id="33" name="TextBox 32"/>
          <p:cNvSpPr txBox="1"/>
          <p:nvPr/>
        </p:nvSpPr>
        <p:spPr>
          <a:xfrm>
            <a:off x="6309360" y="5029200"/>
            <a:ext cx="2560320" cy="201168"/>
          </a:xfrm>
          <a:prstGeom prst="rect">
            <a:avLst/>
          </a:prstGeom>
          <a:noFill/>
        </p:spPr>
        <p:txBody>
          <a:bodyPr wrap="square">
            <a:spAutoFit/>
          </a:bodyPr>
          <a:lstStyle/>
          <a:p>
            <a:pPr algn="l"/>
            <a:r>
              <a:rPr sz="800" b="1" i="0">
                <a:solidFill>
                  <a:srgbClr val="808080"/>
                </a:solidFill>
              </a:rPr>
              <a:t>Likelihood: Low</a:t>
            </a:r>
          </a:p>
        </p:txBody>
      </p:sp>
      <p:sp>
        <p:nvSpPr>
          <p:cNvPr id="34" name="TextBox 33"/>
          <p:cNvSpPr txBox="1"/>
          <p:nvPr/>
        </p:nvSpPr>
        <p:spPr>
          <a:xfrm>
            <a:off x="6309360" y="5239512"/>
            <a:ext cx="2560320" cy="365760"/>
          </a:xfrm>
          <a:prstGeom prst="rect">
            <a:avLst/>
          </a:prstGeom>
          <a:noFill/>
        </p:spPr>
        <p:txBody>
          <a:bodyPr wrap="square">
            <a:spAutoFit/>
          </a:bodyPr>
          <a:lstStyle/>
          <a:p>
            <a:pPr algn="l"/>
            <a:r>
              <a:rPr sz="750" b="0" i="1">
                <a:solidFill>
                  <a:srgbClr val="007030"/>
                </a:solidFill>
              </a:rPr>
              <a:t>Net cash position (SAR 1.2B) provides cushion; one-time content investment cycle</a:t>
            </a:r>
          </a:p>
        </p:txBody>
      </p:sp>
      <p:sp>
        <p:nvSpPr>
          <p:cNvPr id="35" name="Rectangle 34"/>
          <p:cNvSpPr/>
          <p:nvPr/>
        </p:nvSpPr>
        <p:spPr>
          <a:xfrm>
            <a:off x="274320" y="5760720"/>
            <a:ext cx="502920" cy="8229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2608" y="6035040"/>
            <a:ext cx="457200" cy="256032"/>
          </a:xfrm>
          <a:prstGeom prst="rect">
            <a:avLst/>
          </a:prstGeom>
          <a:noFill/>
        </p:spPr>
        <p:txBody>
          <a:bodyPr wrap="square">
            <a:spAutoFit/>
          </a:bodyPr>
          <a:lstStyle/>
          <a:p>
            <a:pPr algn="ctr"/>
            <a:r>
              <a:rPr sz="700" b="1" i="0">
                <a:solidFill>
                  <a:srgbClr val="FFFFFF"/>
                </a:solidFill>
              </a:rPr>
              <a:t>MEDIUM</a:t>
            </a:r>
          </a:p>
        </p:txBody>
      </p:sp>
      <p:sp>
        <p:nvSpPr>
          <p:cNvPr id="37" name="TextBox 36"/>
          <p:cNvSpPr txBox="1"/>
          <p:nvPr/>
        </p:nvSpPr>
        <p:spPr>
          <a:xfrm>
            <a:off x="914400" y="5760720"/>
            <a:ext cx="7955279" cy="228600"/>
          </a:xfrm>
          <a:prstGeom prst="rect">
            <a:avLst/>
          </a:prstGeom>
          <a:noFill/>
        </p:spPr>
        <p:txBody>
          <a:bodyPr wrap="square">
            <a:spAutoFit/>
          </a:bodyPr>
          <a:lstStyle/>
          <a:p>
            <a:pPr algn="l"/>
            <a:r>
              <a:rPr sz="1000" b="1" i="0">
                <a:solidFill>
                  <a:srgbClr val="404040"/>
                </a:solidFill>
              </a:rPr>
              <a:t>Saudi FX / currency risk</a:t>
            </a:r>
          </a:p>
        </p:txBody>
      </p:sp>
      <p:sp>
        <p:nvSpPr>
          <p:cNvPr id="38" name="TextBox 37"/>
          <p:cNvSpPr txBox="1"/>
          <p:nvPr/>
        </p:nvSpPr>
        <p:spPr>
          <a:xfrm>
            <a:off x="914400" y="5989320"/>
            <a:ext cx="5303520" cy="457200"/>
          </a:xfrm>
          <a:prstGeom prst="rect">
            <a:avLst/>
          </a:prstGeom>
          <a:noFill/>
        </p:spPr>
        <p:txBody>
          <a:bodyPr wrap="square">
            <a:spAutoFit/>
          </a:bodyPr>
          <a:lstStyle/>
          <a:p>
            <a:pPr algn="l"/>
            <a:r>
              <a:rPr sz="800" b="0" i="0">
                <a:solidFill>
                  <a:srgbClr val="404040"/>
                </a:solidFill>
              </a:rPr>
              <a:t>All MBC revenues are in SAR. USD/SAR peg is stable, but any devaluation risk would affect USD-denominated investor returns.</a:t>
            </a:r>
          </a:p>
        </p:txBody>
      </p:sp>
      <p:sp>
        <p:nvSpPr>
          <p:cNvPr id="39" name="TextBox 38"/>
          <p:cNvSpPr txBox="1"/>
          <p:nvPr/>
        </p:nvSpPr>
        <p:spPr>
          <a:xfrm>
            <a:off x="6309360" y="5989320"/>
            <a:ext cx="2560320" cy="201168"/>
          </a:xfrm>
          <a:prstGeom prst="rect">
            <a:avLst/>
          </a:prstGeom>
          <a:noFill/>
        </p:spPr>
        <p:txBody>
          <a:bodyPr wrap="square">
            <a:spAutoFit/>
          </a:bodyPr>
          <a:lstStyle/>
          <a:p>
            <a:pPr algn="l"/>
            <a:r>
              <a:rPr sz="800" b="1" i="0">
                <a:solidFill>
                  <a:srgbClr val="808080"/>
                </a:solidFill>
              </a:rPr>
              <a:t>Likelihood: Very Low</a:t>
            </a:r>
          </a:p>
        </p:txBody>
      </p:sp>
      <p:sp>
        <p:nvSpPr>
          <p:cNvPr id="40" name="TextBox 39"/>
          <p:cNvSpPr txBox="1"/>
          <p:nvPr/>
        </p:nvSpPr>
        <p:spPr>
          <a:xfrm>
            <a:off x="6309360" y="6199632"/>
            <a:ext cx="2560320" cy="365760"/>
          </a:xfrm>
          <a:prstGeom prst="rect">
            <a:avLst/>
          </a:prstGeom>
          <a:noFill/>
        </p:spPr>
        <p:txBody>
          <a:bodyPr wrap="square">
            <a:spAutoFit/>
          </a:bodyPr>
          <a:lstStyle/>
          <a:p>
            <a:pPr algn="l"/>
            <a:r>
              <a:rPr sz="750" b="0" i="1">
                <a:solidFill>
                  <a:srgbClr val="007030"/>
                </a:solidFill>
              </a:rPr>
              <a:t>Peg has been stable for 40+ years; not a meaningful near-term risk</a:t>
            </a:r>
          </a:p>
        </p:txBody>
      </p:sp>
      <p:sp>
        <p:nvSpPr>
          <p:cNvPr id="41" name="TextBox 40"/>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42" name="TextBox 41"/>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VALUATION FLOOR &amp; BULL CASE</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Paramount Precedent — Acquisition Floor</a:t>
            </a:r>
          </a:p>
        </p:txBody>
      </p:sp>
      <p:sp>
        <p:nvSpPr>
          <p:cNvPr id="5" name="Rectangle 4"/>
          <p:cNvSpPr/>
          <p:nvPr/>
        </p:nvSpPr>
        <p:spPr>
          <a:xfrm>
            <a:off x="274320" y="960120"/>
            <a:ext cx="859536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05840"/>
            <a:ext cx="8321040" cy="914400"/>
          </a:xfrm>
          <a:prstGeom prst="rect">
            <a:avLst/>
          </a:prstGeom>
          <a:noFill/>
        </p:spPr>
        <p:txBody>
          <a:bodyPr wrap="square">
            <a:spAutoFit/>
          </a:bodyPr>
          <a:lstStyle/>
          <a:p>
            <a:pPr algn="l"/>
            <a:r>
              <a:rPr sz="1000" b="0" i="0">
                <a:solidFill>
                  <a:srgbClr val="404040"/>
                </a:solidFill>
              </a:rPr>
              <a:t>Skydance / National Media acquired Paramount Global at 7.5x fully synergized 2026E EBITDA (February 2026). Deal terms: control premium, synergy assumptions. MBC's balance sheet (net cash SAR 1.2B) is far stronger than Paramount's (net debt). MBC should deserve a higher multiple than Paramount as a standalone public market asset.</a:t>
            </a:r>
          </a:p>
        </p:txBody>
      </p:sp>
      <p:sp>
        <p:nvSpPr>
          <p:cNvPr id="7" name="Rectangle 6"/>
          <p:cNvSpPr/>
          <p:nvPr/>
        </p:nvSpPr>
        <p:spPr>
          <a:xfrm>
            <a:off x="274320" y="2057400"/>
            <a:ext cx="21945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2075688"/>
            <a:ext cx="2194560" cy="219456"/>
          </a:xfrm>
          <a:prstGeom prst="rect">
            <a:avLst/>
          </a:prstGeom>
          <a:noFill/>
        </p:spPr>
        <p:txBody>
          <a:bodyPr wrap="square">
            <a:spAutoFit/>
          </a:bodyPr>
          <a:lstStyle/>
          <a:p>
            <a:pPr algn="ctr"/>
            <a:r>
              <a:rPr sz="900" b="1" i="0">
                <a:solidFill>
                  <a:srgbClr val="FFFFFF"/>
                </a:solidFill>
              </a:rPr>
              <a:t>Multiple</a:t>
            </a:r>
          </a:p>
        </p:txBody>
      </p:sp>
      <p:sp>
        <p:nvSpPr>
          <p:cNvPr id="9" name="Rectangle 8"/>
          <p:cNvSpPr/>
          <p:nvPr/>
        </p:nvSpPr>
        <p:spPr>
          <a:xfrm>
            <a:off x="2560320" y="2057400"/>
            <a:ext cx="164592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2075688"/>
            <a:ext cx="1645920" cy="219456"/>
          </a:xfrm>
          <a:prstGeom prst="rect">
            <a:avLst/>
          </a:prstGeom>
          <a:noFill/>
        </p:spPr>
        <p:txBody>
          <a:bodyPr wrap="square">
            <a:spAutoFit/>
          </a:bodyPr>
          <a:lstStyle/>
          <a:p>
            <a:pPr algn="ctr"/>
            <a:r>
              <a:rPr sz="900" b="1" i="0">
                <a:solidFill>
                  <a:srgbClr val="FFFFFF"/>
                </a:solidFill>
              </a:rPr>
              <a:t>Applied EV</a:t>
            </a:r>
          </a:p>
        </p:txBody>
      </p:sp>
      <p:sp>
        <p:nvSpPr>
          <p:cNvPr id="11" name="Rectangle 10"/>
          <p:cNvSpPr/>
          <p:nvPr/>
        </p:nvSpPr>
        <p:spPr>
          <a:xfrm>
            <a:off x="4297680" y="2057400"/>
            <a:ext cx="12801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2075688"/>
            <a:ext cx="1280160" cy="219456"/>
          </a:xfrm>
          <a:prstGeom prst="rect">
            <a:avLst/>
          </a:prstGeom>
          <a:noFill/>
        </p:spPr>
        <p:txBody>
          <a:bodyPr wrap="square">
            <a:spAutoFit/>
          </a:bodyPr>
          <a:lstStyle/>
          <a:p>
            <a:pPr algn="ctr"/>
            <a:r>
              <a:rPr sz="900" b="1" i="0">
                <a:solidFill>
                  <a:srgbClr val="FFFFFF"/>
                </a:solidFill>
              </a:rPr>
              <a:t>Equity Value</a:t>
            </a:r>
          </a:p>
        </p:txBody>
      </p:sp>
      <p:sp>
        <p:nvSpPr>
          <p:cNvPr id="13" name="Rectangle 12"/>
          <p:cNvSpPr/>
          <p:nvPr/>
        </p:nvSpPr>
        <p:spPr>
          <a:xfrm>
            <a:off x="5669280" y="2057400"/>
            <a:ext cx="128016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15000" y="2075688"/>
            <a:ext cx="1280160" cy="219456"/>
          </a:xfrm>
          <a:prstGeom prst="rect">
            <a:avLst/>
          </a:prstGeom>
          <a:noFill/>
        </p:spPr>
        <p:txBody>
          <a:bodyPr wrap="square">
            <a:spAutoFit/>
          </a:bodyPr>
          <a:lstStyle/>
          <a:p>
            <a:pPr algn="ctr"/>
            <a:r>
              <a:rPr sz="900" b="1" i="0">
                <a:solidFill>
                  <a:srgbClr val="FFFFFF"/>
                </a:solidFill>
              </a:rPr>
              <a:t>Share Price</a:t>
            </a:r>
          </a:p>
        </p:txBody>
      </p:sp>
      <p:sp>
        <p:nvSpPr>
          <p:cNvPr id="15" name="Rectangle 14"/>
          <p:cNvSpPr/>
          <p:nvPr/>
        </p:nvSpPr>
        <p:spPr>
          <a:xfrm>
            <a:off x="7040880" y="2057400"/>
            <a:ext cx="18288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2075688"/>
            <a:ext cx="1828800" cy="219456"/>
          </a:xfrm>
          <a:prstGeom prst="rect">
            <a:avLst/>
          </a:prstGeom>
          <a:noFill/>
        </p:spPr>
        <p:txBody>
          <a:bodyPr wrap="square">
            <a:spAutoFit/>
          </a:bodyPr>
          <a:lstStyle/>
          <a:p>
            <a:pPr algn="ctr"/>
            <a:r>
              <a:rPr sz="900" b="1" i="0">
                <a:solidFill>
                  <a:srgbClr val="FFFFFF"/>
                </a:solidFill>
              </a:rPr>
              <a:t>vs. Market</a:t>
            </a:r>
          </a:p>
        </p:txBody>
      </p:sp>
      <p:sp>
        <p:nvSpPr>
          <p:cNvPr id="17" name="Rectangle 16"/>
          <p:cNvSpPr/>
          <p:nvPr/>
        </p:nvSpPr>
        <p:spPr>
          <a:xfrm>
            <a:off x="274320" y="2340864"/>
            <a:ext cx="21945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368296"/>
            <a:ext cx="2194560" cy="219456"/>
          </a:xfrm>
          <a:prstGeom prst="rect">
            <a:avLst/>
          </a:prstGeom>
          <a:noFill/>
        </p:spPr>
        <p:txBody>
          <a:bodyPr wrap="square">
            <a:spAutoFit/>
          </a:bodyPr>
          <a:lstStyle/>
          <a:p>
            <a:pPr algn="l"/>
            <a:r>
              <a:rPr sz="900" b="0" i="0">
                <a:solidFill>
                  <a:srgbClr val="404040"/>
                </a:solidFill>
              </a:rPr>
              <a:t>7.5x (Paramount)</a:t>
            </a:r>
          </a:p>
        </p:txBody>
      </p:sp>
      <p:sp>
        <p:nvSpPr>
          <p:cNvPr id="19" name="Rectangle 18"/>
          <p:cNvSpPr/>
          <p:nvPr/>
        </p:nvSpPr>
        <p:spPr>
          <a:xfrm>
            <a:off x="2560320" y="2340864"/>
            <a:ext cx="164592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6040" y="2368296"/>
            <a:ext cx="1645920" cy="219456"/>
          </a:xfrm>
          <a:prstGeom prst="rect">
            <a:avLst/>
          </a:prstGeom>
          <a:noFill/>
        </p:spPr>
        <p:txBody>
          <a:bodyPr wrap="square">
            <a:spAutoFit/>
          </a:bodyPr>
          <a:lstStyle/>
          <a:p>
            <a:pPr algn="ctr"/>
            <a:r>
              <a:rPr sz="900" b="0" i="0">
                <a:solidFill>
                  <a:srgbClr val="404040"/>
                </a:solidFill>
              </a:rPr>
              <a:t>SAR 5,196M</a:t>
            </a:r>
          </a:p>
        </p:txBody>
      </p:sp>
      <p:sp>
        <p:nvSpPr>
          <p:cNvPr id="21" name="Rectangle 20"/>
          <p:cNvSpPr/>
          <p:nvPr/>
        </p:nvSpPr>
        <p:spPr>
          <a:xfrm>
            <a:off x="4297680" y="2340864"/>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2368296"/>
            <a:ext cx="1280160" cy="219456"/>
          </a:xfrm>
          <a:prstGeom prst="rect">
            <a:avLst/>
          </a:prstGeom>
          <a:noFill/>
        </p:spPr>
        <p:txBody>
          <a:bodyPr wrap="square">
            <a:spAutoFit/>
          </a:bodyPr>
          <a:lstStyle/>
          <a:p>
            <a:pPr algn="ctr"/>
            <a:r>
              <a:rPr sz="900" b="0" i="0">
                <a:solidFill>
                  <a:srgbClr val="404040"/>
                </a:solidFill>
              </a:rPr>
              <a:t>SAR 5,427M</a:t>
            </a:r>
          </a:p>
        </p:txBody>
      </p:sp>
      <p:sp>
        <p:nvSpPr>
          <p:cNvPr id="23" name="Rectangle 22"/>
          <p:cNvSpPr/>
          <p:nvPr/>
        </p:nvSpPr>
        <p:spPr>
          <a:xfrm>
            <a:off x="5669280" y="2340864"/>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5000" y="2368296"/>
            <a:ext cx="1280160" cy="219456"/>
          </a:xfrm>
          <a:prstGeom prst="rect">
            <a:avLst/>
          </a:prstGeom>
          <a:noFill/>
        </p:spPr>
        <p:txBody>
          <a:bodyPr wrap="square">
            <a:spAutoFit/>
          </a:bodyPr>
          <a:lstStyle/>
          <a:p>
            <a:pPr algn="ctr"/>
            <a:r>
              <a:rPr sz="900" b="1" i="0">
                <a:solidFill>
                  <a:srgbClr val="404040"/>
                </a:solidFill>
              </a:rPr>
              <a:t>SAR 16.3</a:t>
            </a:r>
          </a:p>
        </p:txBody>
      </p:sp>
      <p:sp>
        <p:nvSpPr>
          <p:cNvPr id="25" name="Rectangle 24"/>
          <p:cNvSpPr/>
          <p:nvPr/>
        </p:nvSpPr>
        <p:spPr>
          <a:xfrm>
            <a:off x="7040880" y="2340864"/>
            <a:ext cx="182880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86600" y="2368296"/>
            <a:ext cx="1828800" cy="219456"/>
          </a:xfrm>
          <a:prstGeom prst="rect">
            <a:avLst/>
          </a:prstGeom>
          <a:noFill/>
        </p:spPr>
        <p:txBody>
          <a:bodyPr wrap="square">
            <a:spAutoFit/>
          </a:bodyPr>
          <a:lstStyle/>
          <a:p>
            <a:pPr algn="ctr"/>
            <a:r>
              <a:rPr sz="900" b="0" i="0">
                <a:solidFill>
                  <a:srgbClr val="404040"/>
                </a:solidFill>
              </a:rPr>
              <a:t>−38%</a:t>
            </a:r>
          </a:p>
        </p:txBody>
      </p:sp>
      <p:sp>
        <p:nvSpPr>
          <p:cNvPr id="27" name="Rectangle 26"/>
          <p:cNvSpPr/>
          <p:nvPr/>
        </p:nvSpPr>
        <p:spPr>
          <a:xfrm>
            <a:off x="274320" y="2633472"/>
            <a:ext cx="21945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2660904"/>
            <a:ext cx="2194560" cy="219456"/>
          </a:xfrm>
          <a:prstGeom prst="rect">
            <a:avLst/>
          </a:prstGeom>
          <a:noFill/>
        </p:spPr>
        <p:txBody>
          <a:bodyPr wrap="square">
            <a:spAutoFit/>
          </a:bodyPr>
          <a:lstStyle/>
          <a:p>
            <a:pPr algn="l"/>
            <a:r>
              <a:rPr sz="900" b="0" i="0">
                <a:solidFill>
                  <a:srgbClr val="404040"/>
                </a:solidFill>
              </a:rPr>
              <a:t>10x</a:t>
            </a:r>
          </a:p>
        </p:txBody>
      </p:sp>
      <p:sp>
        <p:nvSpPr>
          <p:cNvPr id="29" name="Rectangle 28"/>
          <p:cNvSpPr/>
          <p:nvPr/>
        </p:nvSpPr>
        <p:spPr>
          <a:xfrm>
            <a:off x="2560320" y="2633472"/>
            <a:ext cx="164592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06040" y="2660904"/>
            <a:ext cx="1645920" cy="219456"/>
          </a:xfrm>
          <a:prstGeom prst="rect">
            <a:avLst/>
          </a:prstGeom>
          <a:noFill/>
        </p:spPr>
        <p:txBody>
          <a:bodyPr wrap="square">
            <a:spAutoFit/>
          </a:bodyPr>
          <a:lstStyle/>
          <a:p>
            <a:pPr algn="ctr"/>
            <a:r>
              <a:rPr sz="900" b="0" i="0">
                <a:solidFill>
                  <a:srgbClr val="404040"/>
                </a:solidFill>
              </a:rPr>
              <a:t>SAR 6,928M</a:t>
            </a:r>
          </a:p>
        </p:txBody>
      </p:sp>
      <p:sp>
        <p:nvSpPr>
          <p:cNvPr id="31" name="Rectangle 30"/>
          <p:cNvSpPr/>
          <p:nvPr/>
        </p:nvSpPr>
        <p:spPr>
          <a:xfrm>
            <a:off x="4297680" y="2633472"/>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43400" y="2660904"/>
            <a:ext cx="1280160" cy="219456"/>
          </a:xfrm>
          <a:prstGeom prst="rect">
            <a:avLst/>
          </a:prstGeom>
          <a:noFill/>
        </p:spPr>
        <p:txBody>
          <a:bodyPr wrap="square">
            <a:spAutoFit/>
          </a:bodyPr>
          <a:lstStyle/>
          <a:p>
            <a:pPr algn="ctr"/>
            <a:r>
              <a:rPr sz="900" b="0" i="0">
                <a:solidFill>
                  <a:srgbClr val="404040"/>
                </a:solidFill>
              </a:rPr>
              <a:t>SAR 7,159M</a:t>
            </a:r>
          </a:p>
        </p:txBody>
      </p:sp>
      <p:sp>
        <p:nvSpPr>
          <p:cNvPr id="33" name="Rectangle 32"/>
          <p:cNvSpPr/>
          <p:nvPr/>
        </p:nvSpPr>
        <p:spPr>
          <a:xfrm>
            <a:off x="5669280" y="2633472"/>
            <a:ext cx="128016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15000" y="2660904"/>
            <a:ext cx="1280160" cy="219456"/>
          </a:xfrm>
          <a:prstGeom prst="rect">
            <a:avLst/>
          </a:prstGeom>
          <a:noFill/>
        </p:spPr>
        <p:txBody>
          <a:bodyPr wrap="square">
            <a:spAutoFit/>
          </a:bodyPr>
          <a:lstStyle/>
          <a:p>
            <a:pPr algn="ctr"/>
            <a:r>
              <a:rPr sz="900" b="1" i="0">
                <a:solidFill>
                  <a:srgbClr val="404040"/>
                </a:solidFill>
              </a:rPr>
              <a:t>SAR 21.5</a:t>
            </a:r>
          </a:p>
        </p:txBody>
      </p:sp>
      <p:sp>
        <p:nvSpPr>
          <p:cNvPr id="35" name="Rectangle 34"/>
          <p:cNvSpPr/>
          <p:nvPr/>
        </p:nvSpPr>
        <p:spPr>
          <a:xfrm>
            <a:off x="7040880" y="2633472"/>
            <a:ext cx="1828800" cy="2651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86600" y="2660904"/>
            <a:ext cx="1828800" cy="219456"/>
          </a:xfrm>
          <a:prstGeom prst="rect">
            <a:avLst/>
          </a:prstGeom>
          <a:noFill/>
        </p:spPr>
        <p:txBody>
          <a:bodyPr wrap="square">
            <a:spAutoFit/>
          </a:bodyPr>
          <a:lstStyle/>
          <a:p>
            <a:pPr algn="ctr"/>
            <a:r>
              <a:rPr sz="900" b="0" i="0">
                <a:solidFill>
                  <a:srgbClr val="404040"/>
                </a:solidFill>
              </a:rPr>
              <a:t>−18%</a:t>
            </a:r>
          </a:p>
        </p:txBody>
      </p:sp>
      <p:sp>
        <p:nvSpPr>
          <p:cNvPr id="37" name="Rectangle 36"/>
          <p:cNvSpPr/>
          <p:nvPr/>
        </p:nvSpPr>
        <p:spPr>
          <a:xfrm>
            <a:off x="274320" y="2926080"/>
            <a:ext cx="21945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2953512"/>
            <a:ext cx="2194560" cy="219456"/>
          </a:xfrm>
          <a:prstGeom prst="rect">
            <a:avLst/>
          </a:prstGeom>
          <a:noFill/>
        </p:spPr>
        <p:txBody>
          <a:bodyPr wrap="square">
            <a:spAutoFit/>
          </a:bodyPr>
          <a:lstStyle/>
          <a:p>
            <a:pPr algn="l"/>
            <a:r>
              <a:rPr sz="900" b="0" i="0">
                <a:solidFill>
                  <a:srgbClr val="404040"/>
                </a:solidFill>
              </a:rPr>
              <a:t>12x</a:t>
            </a:r>
          </a:p>
        </p:txBody>
      </p:sp>
      <p:sp>
        <p:nvSpPr>
          <p:cNvPr id="39" name="Rectangle 38"/>
          <p:cNvSpPr/>
          <p:nvPr/>
        </p:nvSpPr>
        <p:spPr>
          <a:xfrm>
            <a:off x="2560320" y="2926080"/>
            <a:ext cx="164592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06040" y="2953512"/>
            <a:ext cx="1645920" cy="219456"/>
          </a:xfrm>
          <a:prstGeom prst="rect">
            <a:avLst/>
          </a:prstGeom>
          <a:noFill/>
        </p:spPr>
        <p:txBody>
          <a:bodyPr wrap="square">
            <a:spAutoFit/>
          </a:bodyPr>
          <a:lstStyle/>
          <a:p>
            <a:pPr algn="ctr"/>
            <a:r>
              <a:rPr sz="900" b="0" i="0">
                <a:solidFill>
                  <a:srgbClr val="404040"/>
                </a:solidFill>
              </a:rPr>
              <a:t>SAR 8,314M</a:t>
            </a:r>
          </a:p>
        </p:txBody>
      </p:sp>
      <p:sp>
        <p:nvSpPr>
          <p:cNvPr id="41" name="Rectangle 40"/>
          <p:cNvSpPr/>
          <p:nvPr/>
        </p:nvSpPr>
        <p:spPr>
          <a:xfrm>
            <a:off x="4297680" y="2926080"/>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43400" y="2953512"/>
            <a:ext cx="1280160" cy="219456"/>
          </a:xfrm>
          <a:prstGeom prst="rect">
            <a:avLst/>
          </a:prstGeom>
          <a:noFill/>
        </p:spPr>
        <p:txBody>
          <a:bodyPr wrap="square">
            <a:spAutoFit/>
          </a:bodyPr>
          <a:lstStyle/>
          <a:p>
            <a:pPr algn="ctr"/>
            <a:r>
              <a:rPr sz="900" b="0" i="0">
                <a:solidFill>
                  <a:srgbClr val="404040"/>
                </a:solidFill>
              </a:rPr>
              <a:t>SAR 9,545M</a:t>
            </a:r>
          </a:p>
        </p:txBody>
      </p:sp>
      <p:sp>
        <p:nvSpPr>
          <p:cNvPr id="43" name="Rectangle 42"/>
          <p:cNvSpPr/>
          <p:nvPr/>
        </p:nvSpPr>
        <p:spPr>
          <a:xfrm>
            <a:off x="5669280" y="2926080"/>
            <a:ext cx="128016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15000" y="2953512"/>
            <a:ext cx="1280160" cy="219456"/>
          </a:xfrm>
          <a:prstGeom prst="rect">
            <a:avLst/>
          </a:prstGeom>
          <a:noFill/>
        </p:spPr>
        <p:txBody>
          <a:bodyPr wrap="square">
            <a:spAutoFit/>
          </a:bodyPr>
          <a:lstStyle/>
          <a:p>
            <a:pPr algn="ctr"/>
            <a:r>
              <a:rPr sz="900" b="1" i="0">
                <a:solidFill>
                  <a:srgbClr val="404040"/>
                </a:solidFill>
              </a:rPr>
              <a:t>SAR 28.7</a:t>
            </a:r>
          </a:p>
        </p:txBody>
      </p:sp>
      <p:sp>
        <p:nvSpPr>
          <p:cNvPr id="45" name="Rectangle 44"/>
          <p:cNvSpPr/>
          <p:nvPr/>
        </p:nvSpPr>
        <p:spPr>
          <a:xfrm>
            <a:off x="7040880" y="2926080"/>
            <a:ext cx="1828800" cy="265176"/>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86600" y="2953512"/>
            <a:ext cx="1828800" cy="219456"/>
          </a:xfrm>
          <a:prstGeom prst="rect">
            <a:avLst/>
          </a:prstGeom>
          <a:noFill/>
        </p:spPr>
        <p:txBody>
          <a:bodyPr wrap="square">
            <a:spAutoFit/>
          </a:bodyPr>
          <a:lstStyle/>
          <a:p>
            <a:pPr algn="ctr"/>
            <a:r>
              <a:rPr sz="900" b="0" i="0">
                <a:solidFill>
                  <a:srgbClr val="404040"/>
                </a:solidFill>
              </a:rPr>
              <a:t>+9%</a:t>
            </a:r>
          </a:p>
        </p:txBody>
      </p:sp>
      <p:sp>
        <p:nvSpPr>
          <p:cNvPr id="47" name="TextBox 46"/>
          <p:cNvSpPr txBox="1"/>
          <p:nvPr/>
        </p:nvSpPr>
        <p:spPr>
          <a:xfrm>
            <a:off x="274320" y="3108960"/>
            <a:ext cx="8595360" cy="320040"/>
          </a:xfrm>
          <a:prstGeom prst="rect">
            <a:avLst/>
          </a:prstGeom>
          <a:noFill/>
        </p:spPr>
        <p:txBody>
          <a:bodyPr wrap="square">
            <a:spAutoFit/>
          </a:bodyPr>
          <a:lstStyle/>
          <a:p>
            <a:pPr algn="l"/>
            <a:r>
              <a:rPr sz="1400" b="1" i="0">
                <a:solidFill>
                  <a:srgbClr val="1F3864"/>
                </a:solidFill>
              </a:rPr>
              <a:t>Bull Case — Path to SAR 65–75</a:t>
            </a:r>
          </a:p>
        </p:txBody>
      </p:sp>
      <p:sp>
        <p:nvSpPr>
          <p:cNvPr id="48" name="Rectangle 47"/>
          <p:cNvSpPr/>
          <p:nvPr/>
        </p:nvSpPr>
        <p:spPr>
          <a:xfrm>
            <a:off x="274320" y="3520440"/>
            <a:ext cx="228600" cy="4572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3520440"/>
            <a:ext cx="8138160" cy="228600"/>
          </a:xfrm>
          <a:prstGeom prst="rect">
            <a:avLst/>
          </a:prstGeom>
          <a:noFill/>
        </p:spPr>
        <p:txBody>
          <a:bodyPr wrap="square">
            <a:spAutoFit/>
          </a:bodyPr>
          <a:lstStyle/>
          <a:p>
            <a:pPr algn="l"/>
            <a:r>
              <a:rPr sz="1000" b="1" i="0">
                <a:solidFill>
                  <a:srgbClr val="404040"/>
                </a:solidFill>
              </a:rPr>
              <a:t>Shahid reaches Netflix-like scale</a:t>
            </a:r>
          </a:p>
        </p:txBody>
      </p:sp>
      <p:sp>
        <p:nvSpPr>
          <p:cNvPr id="50" name="TextBox 49"/>
          <p:cNvSpPr txBox="1"/>
          <p:nvPr/>
        </p:nvSpPr>
        <p:spPr>
          <a:xfrm>
            <a:off x="640080" y="3749040"/>
            <a:ext cx="8138160" cy="274320"/>
          </a:xfrm>
          <a:prstGeom prst="rect">
            <a:avLst/>
          </a:prstGeom>
          <a:noFill/>
        </p:spPr>
        <p:txBody>
          <a:bodyPr wrap="square">
            <a:spAutoFit/>
          </a:bodyPr>
          <a:lstStyle/>
          <a:p>
            <a:pPr algn="l"/>
            <a:r>
              <a:rPr sz="900" b="0" i="0">
                <a:solidFill>
                  <a:srgbClr val="808080"/>
                </a:solidFill>
              </a:rPr>
              <a:t>5M+ subscribers, 25%+ EBITDA margins, valued at 8x+ EV/Revenue → Shahid equity SAR 14,000M+</a:t>
            </a:r>
          </a:p>
        </p:txBody>
      </p:sp>
      <p:sp>
        <p:nvSpPr>
          <p:cNvPr id="51" name="Rectangle 50"/>
          <p:cNvSpPr/>
          <p:nvPr/>
        </p:nvSpPr>
        <p:spPr>
          <a:xfrm>
            <a:off x="274320" y="4050791"/>
            <a:ext cx="228600" cy="4572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4050791"/>
            <a:ext cx="8138160" cy="228600"/>
          </a:xfrm>
          <a:prstGeom prst="rect">
            <a:avLst/>
          </a:prstGeom>
          <a:noFill/>
        </p:spPr>
        <p:txBody>
          <a:bodyPr wrap="square">
            <a:spAutoFit/>
          </a:bodyPr>
          <a:lstStyle/>
          <a:p>
            <a:pPr algn="l"/>
            <a:r>
              <a:rPr sz="1000" b="1" i="0">
                <a:solidFill>
                  <a:srgbClr val="404040"/>
                </a:solidFill>
              </a:rPr>
              <a:t>BOCA holds margins at 22%+</a:t>
            </a:r>
          </a:p>
        </p:txBody>
      </p:sp>
      <p:sp>
        <p:nvSpPr>
          <p:cNvPr id="53" name="TextBox 52"/>
          <p:cNvSpPr txBox="1"/>
          <p:nvPr/>
        </p:nvSpPr>
        <p:spPr>
          <a:xfrm>
            <a:off x="640080" y="4279391"/>
            <a:ext cx="8138160" cy="274320"/>
          </a:xfrm>
          <a:prstGeom prst="rect">
            <a:avLst/>
          </a:prstGeom>
          <a:noFill/>
        </p:spPr>
        <p:txBody>
          <a:bodyPr wrap="square">
            <a:spAutoFit/>
          </a:bodyPr>
          <a:lstStyle/>
          <a:p>
            <a:pPr algn="l"/>
            <a:r>
              <a:rPr sz="900" b="0" i="0">
                <a:solidFill>
                  <a:srgbClr val="808080"/>
                </a:solidFill>
              </a:rPr>
              <a:t>Saudi advertising market stays robust; BOCA remains dominant platform; SAR 9,500M+ equity</a:t>
            </a:r>
          </a:p>
        </p:txBody>
      </p:sp>
      <p:sp>
        <p:nvSpPr>
          <p:cNvPr id="54" name="Rectangle 53"/>
          <p:cNvSpPr/>
          <p:nvPr/>
        </p:nvSpPr>
        <p:spPr>
          <a:xfrm>
            <a:off x="274320" y="4581144"/>
            <a:ext cx="228600" cy="4572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 y="4581144"/>
            <a:ext cx="8138160" cy="228600"/>
          </a:xfrm>
          <a:prstGeom prst="rect">
            <a:avLst/>
          </a:prstGeom>
          <a:noFill/>
        </p:spPr>
        <p:txBody>
          <a:bodyPr wrap="square">
            <a:spAutoFit/>
          </a:bodyPr>
          <a:lstStyle/>
          <a:p>
            <a:pPr algn="l"/>
            <a:r>
              <a:rPr sz="1000" b="1" i="0">
                <a:solidFill>
                  <a:srgbClr val="404040"/>
                </a:solidFill>
              </a:rPr>
              <a:t>DCF terminal growth 5%</a:t>
            </a:r>
          </a:p>
        </p:txBody>
      </p:sp>
      <p:sp>
        <p:nvSpPr>
          <p:cNvPr id="56" name="TextBox 55"/>
          <p:cNvSpPr txBox="1"/>
          <p:nvPr/>
        </p:nvSpPr>
        <p:spPr>
          <a:xfrm>
            <a:off x="640080" y="4809744"/>
            <a:ext cx="8138160" cy="274320"/>
          </a:xfrm>
          <a:prstGeom prst="rect">
            <a:avLst/>
          </a:prstGeom>
          <a:noFill/>
        </p:spPr>
        <p:txBody>
          <a:bodyPr wrap="square">
            <a:spAutoFit/>
          </a:bodyPr>
          <a:lstStyle/>
          <a:p>
            <a:pPr algn="l"/>
            <a:r>
              <a:rPr sz="900" b="0" i="0">
                <a:solidFill>
                  <a:srgbClr val="808080"/>
                </a:solidFill>
              </a:rPr>
              <a:t>Saudi digitalization premium embedded; WACC 8% (country risk premium compresses)</a:t>
            </a:r>
          </a:p>
        </p:txBody>
      </p:sp>
      <p:sp>
        <p:nvSpPr>
          <p:cNvPr id="57" name="Rectangle 56"/>
          <p:cNvSpPr/>
          <p:nvPr/>
        </p:nvSpPr>
        <p:spPr>
          <a:xfrm>
            <a:off x="274320" y="5111496"/>
            <a:ext cx="228600" cy="4572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5111496"/>
            <a:ext cx="8138160" cy="228600"/>
          </a:xfrm>
          <a:prstGeom prst="rect">
            <a:avLst/>
          </a:prstGeom>
          <a:noFill/>
        </p:spPr>
        <p:txBody>
          <a:bodyPr wrap="square">
            <a:spAutoFit/>
          </a:bodyPr>
          <a:lstStyle/>
          <a:p>
            <a:pPr algn="l"/>
            <a:r>
              <a:rPr sz="1000" b="1" i="0">
                <a:solidFill>
                  <a:srgbClr val="404040"/>
                </a:solidFill>
              </a:rPr>
              <a:t>International analyst coverage initiates</a:t>
            </a:r>
          </a:p>
        </p:txBody>
      </p:sp>
      <p:sp>
        <p:nvSpPr>
          <p:cNvPr id="59" name="TextBox 58"/>
          <p:cNvSpPr txBox="1"/>
          <p:nvPr/>
        </p:nvSpPr>
        <p:spPr>
          <a:xfrm>
            <a:off x="640080" y="5340096"/>
            <a:ext cx="8138160" cy="274320"/>
          </a:xfrm>
          <a:prstGeom prst="rect">
            <a:avLst/>
          </a:prstGeom>
          <a:noFill/>
        </p:spPr>
        <p:txBody>
          <a:bodyPr wrap="square">
            <a:spAutoFit/>
          </a:bodyPr>
          <a:lstStyle/>
          <a:p>
            <a:pPr algn="l"/>
            <a:r>
              <a:rPr sz="900" b="0" i="0">
                <a:solidFill>
                  <a:srgbClr val="808080"/>
                </a:solidFill>
              </a:rPr>
              <a:t>Coverage by MSCI EM media analysts raises visibility; institutional ownership increases → multiple re-rating</a:t>
            </a:r>
          </a:p>
        </p:txBody>
      </p:sp>
      <p:sp>
        <p:nvSpPr>
          <p:cNvPr id="60" name="Rectangle 59"/>
          <p:cNvSpPr/>
          <p:nvPr/>
        </p:nvSpPr>
        <p:spPr>
          <a:xfrm>
            <a:off x="274320" y="5641848"/>
            <a:ext cx="228600" cy="457200"/>
          </a:xfrm>
          <a:prstGeom prst="rect">
            <a:avLst/>
          </a:prstGeom>
          <a:solidFill>
            <a:srgbClr val="0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0080" y="5641848"/>
            <a:ext cx="8138160" cy="228600"/>
          </a:xfrm>
          <a:prstGeom prst="rect">
            <a:avLst/>
          </a:prstGeom>
          <a:noFill/>
        </p:spPr>
        <p:txBody>
          <a:bodyPr wrap="square">
            <a:spAutoFit/>
          </a:bodyPr>
          <a:lstStyle/>
          <a:p>
            <a:pPr algn="l"/>
            <a:r>
              <a:rPr sz="1000" b="1" i="0">
                <a:solidFill>
                  <a:srgbClr val="404040"/>
                </a:solidFill>
              </a:rPr>
              <a:t>Strategic transaction</a:t>
            </a:r>
          </a:p>
        </p:txBody>
      </p:sp>
      <p:sp>
        <p:nvSpPr>
          <p:cNvPr id="62" name="TextBox 61"/>
          <p:cNvSpPr txBox="1"/>
          <p:nvPr/>
        </p:nvSpPr>
        <p:spPr>
          <a:xfrm>
            <a:off x="640080" y="5870448"/>
            <a:ext cx="8138160" cy="274320"/>
          </a:xfrm>
          <a:prstGeom prst="rect">
            <a:avLst/>
          </a:prstGeom>
          <a:noFill/>
        </p:spPr>
        <p:txBody>
          <a:bodyPr wrap="square">
            <a:spAutoFit/>
          </a:bodyPr>
          <a:lstStyle/>
          <a:p>
            <a:pPr algn="l"/>
            <a:r>
              <a:rPr sz="900" b="0" i="0">
                <a:solidFill>
                  <a:srgbClr val="808080"/>
                </a:solidFill>
              </a:rPr>
              <a:t>PIF or regional media group acquires MBC at control premium (10–12x EBITDA) → SAR 50–65 per share</a:t>
            </a:r>
          </a:p>
        </p:txBody>
      </p:sp>
      <p:sp>
        <p:nvSpPr>
          <p:cNvPr id="63" name="TextBox 62"/>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64" name="TextBox 63"/>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DISCUSSION QUESTIONS</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Three Questions for the Class</a:t>
            </a:r>
          </a:p>
        </p:txBody>
      </p:sp>
      <p:sp>
        <p:nvSpPr>
          <p:cNvPr id="5" name="Rectangle 4"/>
          <p:cNvSpPr/>
          <p:nvPr/>
        </p:nvSpPr>
        <p:spPr>
          <a:xfrm>
            <a:off x="274320" y="1005840"/>
            <a:ext cx="502920" cy="1600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2608" y="1554480"/>
            <a:ext cx="457200" cy="457200"/>
          </a:xfrm>
          <a:prstGeom prst="rect">
            <a:avLst/>
          </a:prstGeom>
          <a:noFill/>
        </p:spPr>
        <p:txBody>
          <a:bodyPr wrap="square">
            <a:spAutoFit/>
          </a:bodyPr>
          <a:lstStyle/>
          <a:p>
            <a:pPr algn="ctr"/>
            <a:r>
              <a:rPr sz="1600" b="1" i="0">
                <a:solidFill>
                  <a:srgbClr val="FFFFFF"/>
                </a:solidFill>
              </a:rPr>
              <a:t>Q1</a:t>
            </a:r>
          </a:p>
        </p:txBody>
      </p:sp>
      <p:sp>
        <p:nvSpPr>
          <p:cNvPr id="7" name="TextBox 6"/>
          <p:cNvSpPr txBox="1"/>
          <p:nvPr/>
        </p:nvSpPr>
        <p:spPr>
          <a:xfrm>
            <a:off x="914400" y="1005840"/>
            <a:ext cx="7955279" cy="914400"/>
          </a:xfrm>
          <a:prstGeom prst="rect">
            <a:avLst/>
          </a:prstGeom>
          <a:noFill/>
        </p:spPr>
        <p:txBody>
          <a:bodyPr wrap="square">
            <a:spAutoFit/>
          </a:bodyPr>
          <a:lstStyle/>
          <a:p>
            <a:pPr algn="l"/>
            <a:r>
              <a:rPr sz="1100" b="1" i="0">
                <a:solidFill>
                  <a:srgbClr val="404040"/>
                </a:solidFill>
              </a:rPr>
              <a:t>The market prices MBC at 11x NTM EBITDA while Netflix trades at 26x. Does that gap reflect genuine business quality differences — or does it reflect that MBC isn't widely covered by international analysts yet (it listed January 2024)?</a:t>
            </a:r>
          </a:p>
        </p:txBody>
      </p:sp>
      <p:sp>
        <p:nvSpPr>
          <p:cNvPr id="8" name="TextBox 7"/>
          <p:cNvSpPr txBox="1"/>
          <p:nvPr/>
        </p:nvSpPr>
        <p:spPr>
          <a:xfrm>
            <a:off x="914400" y="1965960"/>
            <a:ext cx="7955279" cy="594360"/>
          </a:xfrm>
          <a:prstGeom prst="rect">
            <a:avLst/>
          </a:prstGeom>
          <a:noFill/>
        </p:spPr>
        <p:txBody>
          <a:bodyPr wrap="square">
            <a:spAutoFit/>
          </a:bodyPr>
          <a:lstStyle/>
          <a:p>
            <a:pPr algn="l"/>
            <a:r>
              <a:rPr sz="900" b="0" i="1">
                <a:solidFill>
                  <a:srgbClr val="808080"/>
                </a:solidFill>
              </a:rPr>
              <a:t>What would it take for MBC to re-rate to Netflix-like multiples? Is analyst coverage the missing catalyst, or is there a structural reason the market will never price MBC at 26x?</a:t>
            </a:r>
          </a:p>
        </p:txBody>
      </p:sp>
      <p:sp>
        <p:nvSpPr>
          <p:cNvPr id="9" name="Rectangle 8"/>
          <p:cNvSpPr/>
          <p:nvPr/>
        </p:nvSpPr>
        <p:spPr>
          <a:xfrm>
            <a:off x="274320" y="2834640"/>
            <a:ext cx="502920" cy="1600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383280"/>
            <a:ext cx="457200" cy="457200"/>
          </a:xfrm>
          <a:prstGeom prst="rect">
            <a:avLst/>
          </a:prstGeom>
          <a:noFill/>
        </p:spPr>
        <p:txBody>
          <a:bodyPr wrap="square">
            <a:spAutoFit/>
          </a:bodyPr>
          <a:lstStyle/>
          <a:p>
            <a:pPr algn="ctr"/>
            <a:r>
              <a:rPr sz="1600" b="1" i="0">
                <a:solidFill>
                  <a:srgbClr val="FFFFFF"/>
                </a:solidFill>
              </a:rPr>
              <a:t>Q2</a:t>
            </a:r>
          </a:p>
        </p:txBody>
      </p:sp>
      <p:sp>
        <p:nvSpPr>
          <p:cNvPr id="11" name="TextBox 10"/>
          <p:cNvSpPr txBox="1"/>
          <p:nvPr/>
        </p:nvSpPr>
        <p:spPr>
          <a:xfrm>
            <a:off x="914400" y="2834640"/>
            <a:ext cx="7955279" cy="914400"/>
          </a:xfrm>
          <a:prstGeom prst="rect">
            <a:avLst/>
          </a:prstGeom>
          <a:noFill/>
        </p:spPr>
        <p:txBody>
          <a:bodyPr wrap="square">
            <a:spAutoFit/>
          </a:bodyPr>
          <a:lstStyle/>
          <a:p>
            <a:pPr algn="l"/>
            <a:r>
              <a:rPr sz="1100" b="1" i="0">
                <a:solidFill>
                  <a:srgbClr val="404040"/>
                </a:solidFill>
              </a:rPr>
              <a:t>Our DCF (SAR 48.8) and SOTP (SAR 49.4) converge almost exactly. Is this convergence meaningful — does it give you more confidence in the SAR 48–50 fair value range? Or could both methods be systematically wrong in the same direction?</a:t>
            </a:r>
          </a:p>
        </p:txBody>
      </p:sp>
      <p:sp>
        <p:nvSpPr>
          <p:cNvPr id="12" name="TextBox 11"/>
          <p:cNvSpPr txBox="1"/>
          <p:nvPr/>
        </p:nvSpPr>
        <p:spPr>
          <a:xfrm>
            <a:off x="914400" y="3794760"/>
            <a:ext cx="7955279" cy="594360"/>
          </a:xfrm>
          <a:prstGeom prst="rect">
            <a:avLst/>
          </a:prstGeom>
          <a:noFill/>
        </p:spPr>
        <p:txBody>
          <a:bodyPr wrap="square">
            <a:spAutoFit/>
          </a:bodyPr>
          <a:lstStyle/>
          <a:p>
            <a:pPr algn="l"/>
            <a:r>
              <a:rPr sz="900" b="0" i="1">
                <a:solidFill>
                  <a:srgbClr val="808080"/>
                </a:solidFill>
              </a:rPr>
              <a:t>Both methods assume Shahid reaches streaming scale. What single assumption, if wrong, would most compress the valuation? Could that assumption be validated or invalidated with one more year of data?</a:t>
            </a:r>
          </a:p>
        </p:txBody>
      </p:sp>
      <p:sp>
        <p:nvSpPr>
          <p:cNvPr id="13" name="Rectangle 12"/>
          <p:cNvSpPr/>
          <p:nvPr/>
        </p:nvSpPr>
        <p:spPr>
          <a:xfrm>
            <a:off x="274320" y="4663440"/>
            <a:ext cx="502920" cy="1600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5212080"/>
            <a:ext cx="457200" cy="457200"/>
          </a:xfrm>
          <a:prstGeom prst="rect">
            <a:avLst/>
          </a:prstGeom>
          <a:noFill/>
        </p:spPr>
        <p:txBody>
          <a:bodyPr wrap="square">
            <a:spAutoFit/>
          </a:bodyPr>
          <a:lstStyle/>
          <a:p>
            <a:pPr algn="ctr"/>
            <a:r>
              <a:rPr sz="1600" b="1" i="0">
                <a:solidFill>
                  <a:srgbClr val="FFFFFF"/>
                </a:solidFill>
              </a:rPr>
              <a:t>Q3</a:t>
            </a:r>
          </a:p>
        </p:txBody>
      </p:sp>
      <p:sp>
        <p:nvSpPr>
          <p:cNvPr id="15" name="TextBox 14"/>
          <p:cNvSpPr txBox="1"/>
          <p:nvPr/>
        </p:nvSpPr>
        <p:spPr>
          <a:xfrm>
            <a:off x="914400" y="4663440"/>
            <a:ext cx="7955279" cy="914400"/>
          </a:xfrm>
          <a:prstGeom prst="rect">
            <a:avLst/>
          </a:prstGeom>
          <a:noFill/>
        </p:spPr>
        <p:txBody>
          <a:bodyPr wrap="square">
            <a:spAutoFit/>
          </a:bodyPr>
          <a:lstStyle/>
          <a:p>
            <a:pPr algn="l"/>
            <a:r>
              <a:rPr sz="1100" b="1" i="0">
                <a:solidFill>
                  <a:srgbClr val="404040"/>
                </a:solidFill>
              </a:rPr>
              <a:t>The Paramount acquisition happened at 7.5x EBITDA. MBC is in a stronger financial position (net cash SAR 1.2B vs. Paramount's net debt). Should MBC deserve a higher multiple than 7.5x as a public market standalone — or does the strategic premium in that deal mean the public market simply doesn't care about fundamental quality?</a:t>
            </a:r>
          </a:p>
        </p:txBody>
      </p:sp>
      <p:sp>
        <p:nvSpPr>
          <p:cNvPr id="16" name="TextBox 15"/>
          <p:cNvSpPr txBox="1"/>
          <p:nvPr/>
        </p:nvSpPr>
        <p:spPr>
          <a:xfrm>
            <a:off x="914400" y="5623560"/>
            <a:ext cx="7955279" cy="594360"/>
          </a:xfrm>
          <a:prstGeom prst="rect">
            <a:avLst/>
          </a:prstGeom>
          <a:noFill/>
        </p:spPr>
        <p:txBody>
          <a:bodyPr wrap="square">
            <a:spAutoFit/>
          </a:bodyPr>
          <a:lstStyle/>
          <a:p>
            <a:pPr algn="l"/>
            <a:r>
              <a:rPr sz="900" b="0" i="1">
                <a:solidFill>
                  <a:srgbClr val="808080"/>
                </a:solidFill>
              </a:rPr>
              <a:t>If you were advising MBC's board: would you recommend a share buyback program, a strategic acquisition, or maintaining the net cash balance as a war chest?</a:t>
            </a:r>
          </a:p>
        </p:txBody>
      </p:sp>
      <p:sp>
        <p:nvSpPr>
          <p:cNvPr id="17" name="TextBox 16"/>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18" name="TextBox 17"/>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APPENDIX</a:t>
            </a:r>
          </a:p>
        </p:txBody>
      </p:sp>
      <p:sp>
        <p:nvSpPr>
          <p:cNvPr id="4" name="TextBox 3"/>
          <p:cNvSpPr txBox="1"/>
          <p:nvPr/>
        </p:nvSpPr>
        <p:spPr>
          <a:xfrm>
            <a:off x="274320" y="594360"/>
            <a:ext cx="8595360" cy="320040"/>
          </a:xfrm>
          <a:prstGeom prst="rect">
            <a:avLst/>
          </a:prstGeom>
          <a:noFill/>
        </p:spPr>
        <p:txBody>
          <a:bodyPr wrap="square">
            <a:spAutoFit/>
          </a:bodyPr>
          <a:lstStyle/>
          <a:p>
            <a:pPr algn="l"/>
            <a:r>
              <a:rPr sz="1400" b="1" i="0">
                <a:solidFill>
                  <a:srgbClr val="1F3864"/>
                </a:solidFill>
              </a:rPr>
              <a:t>Data Sources &amp; Methodology Notes</a:t>
            </a:r>
          </a:p>
        </p:txBody>
      </p:sp>
      <p:sp>
        <p:nvSpPr>
          <p:cNvPr id="5" name="Rectangle 4"/>
          <p:cNvSpPr/>
          <p:nvPr/>
        </p:nvSpPr>
        <p:spPr>
          <a:xfrm>
            <a:off x="274320" y="960120"/>
            <a:ext cx="1645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234440"/>
            <a:ext cx="1554480" cy="365760"/>
          </a:xfrm>
          <a:prstGeom prst="rect">
            <a:avLst/>
          </a:prstGeom>
          <a:noFill/>
        </p:spPr>
        <p:txBody>
          <a:bodyPr wrap="square">
            <a:spAutoFit/>
          </a:bodyPr>
          <a:lstStyle/>
          <a:p>
            <a:pPr algn="l"/>
            <a:r>
              <a:rPr sz="900" b="1" i="0">
                <a:solidFill>
                  <a:srgbClr val="FFFFFF"/>
                </a:solidFill>
              </a:rPr>
              <a:t>Primary Data</a:t>
            </a:r>
          </a:p>
        </p:txBody>
      </p:sp>
      <p:sp>
        <p:nvSpPr>
          <p:cNvPr id="7" name="TextBox 6"/>
          <p:cNvSpPr txBox="1"/>
          <p:nvPr/>
        </p:nvSpPr>
        <p:spPr>
          <a:xfrm>
            <a:off x="2011680" y="960120"/>
            <a:ext cx="6858000" cy="960120"/>
          </a:xfrm>
          <a:prstGeom prst="rect">
            <a:avLst/>
          </a:prstGeom>
          <a:noFill/>
        </p:spPr>
        <p:txBody>
          <a:bodyPr wrap="square">
            <a:spAutoFit/>
          </a:bodyPr>
          <a:lstStyle/>
          <a:p>
            <a:pPr algn="l"/>
            <a:r>
              <a:rPr sz="850" b="0" i="0">
                <a:solidFill>
                  <a:srgbClr val="404040"/>
                </a:solidFill>
              </a:rPr>
              <a:t>Capital IQ Excel (MBC Group SASE 4072 Financials.xls) — 14 sheets of standardized data including income statement (FY2020–2025), balance sheet, cash flow, key stats, multiples, ratios, capital structure, segments. Capital IQ consensus estimates for FY2026E and FY2027E.</a:t>
            </a:r>
          </a:p>
        </p:txBody>
      </p:sp>
      <p:sp>
        <p:nvSpPr>
          <p:cNvPr id="8" name="Rectangle 7"/>
          <p:cNvSpPr/>
          <p:nvPr/>
        </p:nvSpPr>
        <p:spPr>
          <a:xfrm>
            <a:off x="274320" y="2057400"/>
            <a:ext cx="1645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331720"/>
            <a:ext cx="1554480" cy="365760"/>
          </a:xfrm>
          <a:prstGeom prst="rect">
            <a:avLst/>
          </a:prstGeom>
          <a:noFill/>
        </p:spPr>
        <p:txBody>
          <a:bodyPr wrap="square">
            <a:spAutoFit/>
          </a:bodyPr>
          <a:lstStyle/>
          <a:p>
            <a:pPr algn="l"/>
            <a:r>
              <a:rPr sz="900" b="1" i="0">
                <a:solidFill>
                  <a:srgbClr val="FFFFFF"/>
                </a:solidFill>
              </a:rPr>
              <a:t>Annual Report</a:t>
            </a:r>
          </a:p>
        </p:txBody>
      </p:sp>
      <p:sp>
        <p:nvSpPr>
          <p:cNvPr id="10" name="TextBox 9"/>
          <p:cNvSpPr txBox="1"/>
          <p:nvPr/>
        </p:nvSpPr>
        <p:spPr>
          <a:xfrm>
            <a:off x="2011680" y="2057400"/>
            <a:ext cx="6858000" cy="960120"/>
          </a:xfrm>
          <a:prstGeom prst="rect">
            <a:avLst/>
          </a:prstGeom>
          <a:noFill/>
        </p:spPr>
        <p:txBody>
          <a:bodyPr wrap="square">
            <a:spAutoFit/>
          </a:bodyPr>
          <a:lstStyle/>
          <a:p>
            <a:pPr algn="l"/>
            <a:r>
              <a:rPr sz="850" b="0" i="0">
                <a:solidFill>
                  <a:srgbClr val="404040"/>
                </a:solidFill>
              </a:rPr>
              <a:t>MBC Group Form Annual Report (March 29, 2026) — segment revenue breakdown, operational review, D&amp;A schedule, content investment commentary. Multi-column PDF layout defeated text extraction for primary financial statements; Capital IQ Excel provided complete structured data.</a:t>
            </a:r>
          </a:p>
        </p:txBody>
      </p:sp>
      <p:sp>
        <p:nvSpPr>
          <p:cNvPr id="11" name="Rectangle 10"/>
          <p:cNvSpPr/>
          <p:nvPr/>
        </p:nvSpPr>
        <p:spPr>
          <a:xfrm>
            <a:off x="274320" y="3154680"/>
            <a:ext cx="1645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3429000"/>
            <a:ext cx="1554480" cy="365760"/>
          </a:xfrm>
          <a:prstGeom prst="rect">
            <a:avLst/>
          </a:prstGeom>
          <a:noFill/>
        </p:spPr>
        <p:txBody>
          <a:bodyPr wrap="square">
            <a:spAutoFit/>
          </a:bodyPr>
          <a:lstStyle/>
          <a:p>
            <a:pPr algn="l"/>
            <a:r>
              <a:rPr sz="900" b="1" i="0">
                <a:solidFill>
                  <a:srgbClr val="FFFFFF"/>
                </a:solidFill>
              </a:rPr>
              <a:t>Market Data</a:t>
            </a:r>
          </a:p>
        </p:txBody>
      </p:sp>
      <p:sp>
        <p:nvSpPr>
          <p:cNvPr id="13" name="TextBox 12"/>
          <p:cNvSpPr txBox="1"/>
          <p:nvPr/>
        </p:nvSpPr>
        <p:spPr>
          <a:xfrm>
            <a:off x="2011680" y="3154680"/>
            <a:ext cx="6858000" cy="960120"/>
          </a:xfrm>
          <a:prstGeom prst="rect">
            <a:avLst/>
          </a:prstGeom>
          <a:noFill/>
        </p:spPr>
        <p:txBody>
          <a:bodyPr wrap="square">
            <a:spAutoFit/>
          </a:bodyPr>
          <a:lstStyle/>
          <a:p>
            <a:pPr algn="l"/>
            <a:r>
              <a:rPr sz="850" b="0" i="0">
                <a:solidFill>
                  <a:srgbClr val="404040"/>
                </a:solidFill>
              </a:rPr>
              <a:t>Yahoo Finance, Saudi Exchange (Tadawul) — stock price April 21, 2026 (SAR 26.26), shares outstanding (332.5M), market cap (SAR 8,844M), TEV (SAR 7,683M). No beta available on Yahoo Finance or Capital IQ.</a:t>
            </a:r>
          </a:p>
        </p:txBody>
      </p:sp>
      <p:sp>
        <p:nvSpPr>
          <p:cNvPr id="14" name="Rectangle 13"/>
          <p:cNvSpPr/>
          <p:nvPr/>
        </p:nvSpPr>
        <p:spPr>
          <a:xfrm>
            <a:off x="274320" y="4251959"/>
            <a:ext cx="1645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4526279"/>
            <a:ext cx="1554480" cy="365760"/>
          </a:xfrm>
          <a:prstGeom prst="rect">
            <a:avLst/>
          </a:prstGeom>
          <a:noFill/>
        </p:spPr>
        <p:txBody>
          <a:bodyPr wrap="square">
            <a:spAutoFit/>
          </a:bodyPr>
          <a:lstStyle/>
          <a:p>
            <a:pPr algn="l"/>
            <a:r>
              <a:rPr sz="900" b="1" i="0">
                <a:solidFill>
                  <a:srgbClr val="FFFFFF"/>
                </a:solidFill>
              </a:rPr>
              <a:t>Peer Multiples</a:t>
            </a:r>
          </a:p>
        </p:txBody>
      </p:sp>
      <p:sp>
        <p:nvSpPr>
          <p:cNvPr id="16" name="TextBox 15"/>
          <p:cNvSpPr txBox="1"/>
          <p:nvPr/>
        </p:nvSpPr>
        <p:spPr>
          <a:xfrm>
            <a:off x="2011680" y="4251959"/>
            <a:ext cx="6858000" cy="960120"/>
          </a:xfrm>
          <a:prstGeom prst="rect">
            <a:avLst/>
          </a:prstGeom>
          <a:noFill/>
        </p:spPr>
        <p:txBody>
          <a:bodyPr wrap="square">
            <a:spAutoFit/>
          </a:bodyPr>
          <a:lstStyle/>
          <a:p>
            <a:pPr algn="l"/>
            <a:r>
              <a:rPr sz="850" b="0" i="0">
                <a:solidFill>
                  <a:srgbClr val="404040"/>
                </a:solidFill>
              </a:rPr>
              <a:t>Yahoo Finance, multiples.vc, Trefis, valueinvesting.io — Netflix (NFLX), Disney (DIS), Warner Bros Discovery (WBD), Paramount (PARA) trading multiples as of April 2026. Paramount deal price (Skydance/National Media, February 2026) from Paramount press release.</a:t>
            </a:r>
          </a:p>
        </p:txBody>
      </p:sp>
      <p:sp>
        <p:nvSpPr>
          <p:cNvPr id="17" name="Rectangle 16"/>
          <p:cNvSpPr/>
          <p:nvPr/>
        </p:nvSpPr>
        <p:spPr>
          <a:xfrm>
            <a:off x="274320" y="5349240"/>
            <a:ext cx="1645920" cy="9601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5623560"/>
            <a:ext cx="1554480" cy="365760"/>
          </a:xfrm>
          <a:prstGeom prst="rect">
            <a:avLst/>
          </a:prstGeom>
          <a:noFill/>
        </p:spPr>
        <p:txBody>
          <a:bodyPr wrap="square">
            <a:spAutoFit/>
          </a:bodyPr>
          <a:lstStyle/>
          <a:p>
            <a:pPr algn="l"/>
            <a:r>
              <a:rPr sz="900" b="1" i="0">
                <a:solidFill>
                  <a:srgbClr val="FFFFFF"/>
                </a:solidFill>
              </a:rPr>
              <a:t>Key Methodology Choices</a:t>
            </a:r>
          </a:p>
        </p:txBody>
      </p:sp>
      <p:sp>
        <p:nvSpPr>
          <p:cNvPr id="19" name="TextBox 18"/>
          <p:cNvSpPr txBox="1"/>
          <p:nvPr/>
        </p:nvSpPr>
        <p:spPr>
          <a:xfrm>
            <a:off x="2011680" y="5349240"/>
            <a:ext cx="6858000" cy="960120"/>
          </a:xfrm>
          <a:prstGeom prst="rect">
            <a:avLst/>
          </a:prstGeom>
          <a:noFill/>
        </p:spPr>
        <p:txBody>
          <a:bodyPr wrap="square">
            <a:spAutoFit/>
          </a:bodyPr>
          <a:lstStyle/>
          <a:p>
            <a:pPr algn="l"/>
            <a:r>
              <a:rPr sz="850" b="0" i="0">
                <a:solidFill>
                  <a:srgbClr val="404040"/>
                </a:solidFill>
              </a:rPr>
              <a:t>WACC estimated (no reliable beta): 10% base case, 8% bull, 12% bear. Terminal growth: 4.5% (Saudi nominal GDP proxy). CapEx: 4.1% of revenue (FY2025 actual). Tax rate: 20% (Saudi corporate tax). FCF normalization: NWC changes excluded (working capital swings transitory). Segment EBITDA estimated: no segment-level EBITDA disclosure in available data.</a:t>
            </a:r>
          </a:p>
        </p:txBody>
      </p:sp>
      <p:sp>
        <p:nvSpPr>
          <p:cNvPr id="20" name="TextBox 19"/>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21" name="TextBox 20"/>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201168"/>
            <a:ext cx="2103120" cy="228600"/>
          </a:xfrm>
          <a:prstGeom prst="rect">
            <a:avLst/>
          </a:prstGeom>
          <a:noFill/>
        </p:spPr>
        <p:txBody>
          <a:bodyPr wrap="square">
            <a:spAutoFit/>
          </a:bodyPr>
          <a:lstStyle/>
          <a:p>
            <a:pPr algn="l"/>
            <a:r>
              <a:rPr sz="800" b="1" i="0">
                <a:solidFill>
                  <a:srgbClr val="FFFFFF"/>
                </a:solidFill>
              </a:rPr>
              <a:t>IMPORTANT DISCLOSURES</a:t>
            </a:r>
          </a:p>
        </p:txBody>
      </p:sp>
      <p:sp>
        <p:nvSpPr>
          <p:cNvPr id="4" name="Rectangle 3"/>
          <p:cNvSpPr/>
          <p:nvPr/>
        </p:nvSpPr>
        <p:spPr>
          <a:xfrm>
            <a:off x="274320" y="594360"/>
            <a:ext cx="8595360" cy="1828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40080"/>
            <a:ext cx="8321040" cy="777240"/>
          </a:xfrm>
          <a:prstGeom prst="rect">
            <a:avLst/>
          </a:prstGeom>
          <a:noFill/>
        </p:spPr>
        <p:txBody>
          <a:bodyPr wrap="square">
            <a:spAutoFit/>
          </a:bodyPr>
          <a:lstStyle/>
          <a:p>
            <a:pPr algn="l"/>
            <a:r>
              <a:rPr sz="1000" b="0" i="0">
                <a:solidFill>
                  <a:srgbClr val="404040"/>
                </a:solidFill>
              </a:rPr>
              <a:t>This presentation was produced as an MBA practice exercise. It is not investment advice, a solicitation, or a recommendation to buy or sell any security. All data presented herein is sourced from publicly available information including Capital IQ, the company's annual report, and market data as of April 21, 2026.</a:t>
            </a:r>
          </a:p>
        </p:txBody>
      </p:sp>
      <p:sp>
        <p:nvSpPr>
          <p:cNvPr id="6" name="TextBox 5"/>
          <p:cNvSpPr txBox="1"/>
          <p:nvPr/>
        </p:nvSpPr>
        <p:spPr>
          <a:xfrm>
            <a:off x="411480" y="1417320"/>
            <a:ext cx="8321040" cy="777240"/>
          </a:xfrm>
          <a:prstGeom prst="rect">
            <a:avLst/>
          </a:prstGeom>
          <a:noFill/>
        </p:spPr>
        <p:txBody>
          <a:bodyPr wrap="square">
            <a:spAutoFit/>
          </a:bodyPr>
          <a:lstStyle/>
          <a:p>
            <a:pPr algn="l"/>
            <a:r>
              <a:rPr sz="1000" b="0" i="0">
                <a:solidFill>
                  <a:srgbClr val="404040"/>
                </a:solidFill>
              </a:rPr>
              <a:t>Valuations involve estimates and assumptions. DCF and SOTP models are highly sensitive to input assumptions including WACC, terminal growth rate, peer multiples, and segment margin estimates. MBC listed January 2024 — limited public trading history means no reliable beta is available. WACC is estimated, not market-derived. Actual results may differ materially from projections.</a:t>
            </a:r>
          </a:p>
        </p:txBody>
      </p:sp>
      <p:sp>
        <p:nvSpPr>
          <p:cNvPr id="7" name="TextBox 6"/>
          <p:cNvSpPr txBox="1"/>
          <p:nvPr/>
        </p:nvSpPr>
        <p:spPr>
          <a:xfrm>
            <a:off x="274320" y="2606040"/>
            <a:ext cx="8595360" cy="320040"/>
          </a:xfrm>
          <a:prstGeom prst="rect">
            <a:avLst/>
          </a:prstGeom>
          <a:noFill/>
        </p:spPr>
        <p:txBody>
          <a:bodyPr wrap="square">
            <a:spAutoFit/>
          </a:bodyPr>
          <a:lstStyle/>
          <a:p>
            <a:pPr algn="l"/>
            <a:r>
              <a:rPr sz="1400" b="1" i="0">
                <a:solidFill>
                  <a:srgbClr val="1F3864"/>
                </a:solidFill>
              </a:rPr>
              <a:t>Methodology Summary</a:t>
            </a:r>
          </a:p>
        </p:txBody>
      </p:sp>
      <p:sp>
        <p:nvSpPr>
          <p:cNvPr id="8" name="Rectangle 7"/>
          <p:cNvSpPr/>
          <p:nvPr/>
        </p:nvSpPr>
        <p:spPr>
          <a:xfrm>
            <a:off x="274320" y="2971800"/>
            <a:ext cx="2286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71800"/>
            <a:ext cx="8138160" cy="256032"/>
          </a:xfrm>
          <a:prstGeom prst="rect">
            <a:avLst/>
          </a:prstGeom>
          <a:noFill/>
        </p:spPr>
        <p:txBody>
          <a:bodyPr wrap="square">
            <a:spAutoFit/>
          </a:bodyPr>
          <a:lstStyle/>
          <a:p>
            <a:pPr algn="l"/>
            <a:r>
              <a:rPr sz="1000" b="1" i="0">
                <a:solidFill>
                  <a:srgbClr val="1F3864"/>
                </a:solidFill>
              </a:rPr>
              <a:t>DCF (Discounted Cash Flow)</a:t>
            </a:r>
          </a:p>
        </p:txBody>
      </p:sp>
      <p:sp>
        <p:nvSpPr>
          <p:cNvPr id="10" name="TextBox 9"/>
          <p:cNvSpPr txBox="1"/>
          <p:nvPr/>
        </p:nvSpPr>
        <p:spPr>
          <a:xfrm>
            <a:off x="640080" y="3227832"/>
            <a:ext cx="8138160" cy="548640"/>
          </a:xfrm>
          <a:prstGeom prst="rect">
            <a:avLst/>
          </a:prstGeom>
          <a:noFill/>
        </p:spPr>
        <p:txBody>
          <a:bodyPr wrap="square">
            <a:spAutoFit/>
          </a:bodyPr>
          <a:lstStyle/>
          <a:p>
            <a:pPr algn="l"/>
            <a:r>
              <a:rPr sz="850" b="0" i="0">
                <a:solidFill>
                  <a:srgbClr val="404040"/>
                </a:solidFill>
              </a:rPr>
              <a:t>5-year explicit FCFF projections (FY2026–2030). Revenue from Capital IQ consensus (FY2026–27) then faded to Saudi nominal GDP growth. EBITDA margins 5.0% → 18.0% (FY2025 → FY2030). Terminal value via Gordon Growth model at 4.5% perpetual growth. Three WACC scenarios (8%, 10%, 12%).</a:t>
            </a:r>
          </a:p>
        </p:txBody>
      </p:sp>
      <p:sp>
        <p:nvSpPr>
          <p:cNvPr id="11" name="Rectangle 10"/>
          <p:cNvSpPr/>
          <p:nvPr/>
        </p:nvSpPr>
        <p:spPr>
          <a:xfrm>
            <a:off x="274320" y="3794760"/>
            <a:ext cx="2286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794760"/>
            <a:ext cx="8138160" cy="256032"/>
          </a:xfrm>
          <a:prstGeom prst="rect">
            <a:avLst/>
          </a:prstGeom>
          <a:noFill/>
        </p:spPr>
        <p:txBody>
          <a:bodyPr wrap="square">
            <a:spAutoFit/>
          </a:bodyPr>
          <a:lstStyle/>
          <a:p>
            <a:pPr algn="l"/>
            <a:r>
              <a:rPr sz="1000" b="1" i="0">
                <a:solidFill>
                  <a:srgbClr val="1F3864"/>
                </a:solidFill>
              </a:rPr>
              <a:t>Comparable Companies</a:t>
            </a:r>
          </a:p>
        </p:txBody>
      </p:sp>
      <p:sp>
        <p:nvSpPr>
          <p:cNvPr id="13" name="TextBox 12"/>
          <p:cNvSpPr txBox="1"/>
          <p:nvPr/>
        </p:nvSpPr>
        <p:spPr>
          <a:xfrm>
            <a:off x="640080" y="4050792"/>
            <a:ext cx="8138160" cy="548640"/>
          </a:xfrm>
          <a:prstGeom prst="rect">
            <a:avLst/>
          </a:prstGeom>
          <a:noFill/>
        </p:spPr>
        <p:txBody>
          <a:bodyPr wrap="square">
            <a:spAutoFit/>
          </a:bodyPr>
          <a:lstStyle/>
          <a:p>
            <a:pPr algn="l"/>
            <a:r>
              <a:rPr sz="850" b="0" i="0">
                <a:solidFill>
                  <a:srgbClr val="404040"/>
                </a:solidFill>
              </a:rPr>
              <a:t>Three peer groups: Global Streaming (Netflix, Disney), Legacy/Distressed Media (WBD, Paramount), MBC itself. Multiples applied to NTM EBITDA (SAR 692.8M) and NTM Revenue (SAR 5,515.8M). Blended peer multiple construction (12–18x NTM EBITDA) based on qualitative assessment of business quality differentials.</a:t>
            </a:r>
          </a:p>
        </p:txBody>
      </p:sp>
      <p:sp>
        <p:nvSpPr>
          <p:cNvPr id="14" name="Rectangle 13"/>
          <p:cNvSpPr/>
          <p:nvPr/>
        </p:nvSpPr>
        <p:spPr>
          <a:xfrm>
            <a:off x="274320" y="4617720"/>
            <a:ext cx="2286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617720"/>
            <a:ext cx="8138160" cy="256032"/>
          </a:xfrm>
          <a:prstGeom prst="rect">
            <a:avLst/>
          </a:prstGeom>
          <a:noFill/>
        </p:spPr>
        <p:txBody>
          <a:bodyPr wrap="square">
            <a:spAutoFit/>
          </a:bodyPr>
          <a:lstStyle/>
          <a:p>
            <a:pPr algn="l"/>
            <a:r>
              <a:rPr sz="1000" b="1" i="0">
                <a:solidFill>
                  <a:srgbClr val="1F3864"/>
                </a:solidFill>
              </a:rPr>
              <a:t>Sum-of-Parts (SOTP)</a:t>
            </a:r>
          </a:p>
        </p:txBody>
      </p:sp>
      <p:sp>
        <p:nvSpPr>
          <p:cNvPr id="16" name="TextBox 15"/>
          <p:cNvSpPr txBox="1"/>
          <p:nvPr/>
        </p:nvSpPr>
        <p:spPr>
          <a:xfrm>
            <a:off x="640080" y="4873752"/>
            <a:ext cx="8138160" cy="548640"/>
          </a:xfrm>
          <a:prstGeom prst="rect">
            <a:avLst/>
          </a:prstGeom>
          <a:noFill/>
        </p:spPr>
        <p:txBody>
          <a:bodyPr wrap="square">
            <a:spAutoFit/>
          </a:bodyPr>
          <a:lstStyle/>
          <a:p>
            <a:pPr algn="l"/>
            <a:r>
              <a:rPr sz="850" b="0" i="0">
                <a:solidFill>
                  <a:srgbClr val="404040"/>
                </a:solidFill>
              </a:rPr>
              <a:t>Segment-level valuation: BOCA at 9–12x EBITDA (analog: regional TV broadcasters), Shahid at 3–8x EV/Revenue (analog: streaming peers), M&amp;E at 8–12x EBITDA (analog: production/events companies). Net debt allocated pro-rata by segment revenue weight.</a:t>
            </a:r>
          </a:p>
        </p:txBody>
      </p:sp>
      <p:sp>
        <p:nvSpPr>
          <p:cNvPr id="17" name="Rectangle 16"/>
          <p:cNvSpPr/>
          <p:nvPr/>
        </p:nvSpPr>
        <p:spPr>
          <a:xfrm>
            <a:off x="274320" y="5440680"/>
            <a:ext cx="22860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440680"/>
            <a:ext cx="8138160" cy="256032"/>
          </a:xfrm>
          <a:prstGeom prst="rect">
            <a:avLst/>
          </a:prstGeom>
          <a:noFill/>
        </p:spPr>
        <p:txBody>
          <a:bodyPr wrap="square">
            <a:spAutoFit/>
          </a:bodyPr>
          <a:lstStyle/>
          <a:p>
            <a:pPr algn="l"/>
            <a:r>
              <a:rPr sz="1000" b="1" i="0">
                <a:solidFill>
                  <a:srgbClr val="1F3864"/>
                </a:solidFill>
              </a:rPr>
              <a:t>Precedent Transactions</a:t>
            </a:r>
          </a:p>
        </p:txBody>
      </p:sp>
      <p:sp>
        <p:nvSpPr>
          <p:cNvPr id="19" name="TextBox 18"/>
          <p:cNvSpPr txBox="1"/>
          <p:nvPr/>
        </p:nvSpPr>
        <p:spPr>
          <a:xfrm>
            <a:off x="640080" y="5696712"/>
            <a:ext cx="8138160" cy="548640"/>
          </a:xfrm>
          <a:prstGeom prst="rect">
            <a:avLst/>
          </a:prstGeom>
          <a:noFill/>
        </p:spPr>
        <p:txBody>
          <a:bodyPr wrap="square">
            <a:spAutoFit/>
          </a:bodyPr>
          <a:lstStyle/>
          <a:p>
            <a:pPr algn="l"/>
            <a:r>
              <a:rPr sz="850" b="0" i="0">
                <a:solidFill>
                  <a:srgbClr val="404040"/>
                </a:solidFill>
              </a:rPr>
              <a:t>Paramount/Skydance acquisition (February 2026) at 7.5x fully synergized 2026E EBITDA used as acquisition floor. Applied to MBC NTM EBITDA (SAR 692.8M). Strategic premium acknowledged but not quantified.</a:t>
            </a:r>
          </a:p>
        </p:txBody>
      </p:sp>
      <p:sp>
        <p:nvSpPr>
          <p:cNvPr id="20" name="TextBox 19"/>
          <p:cNvSpPr txBox="1"/>
          <p:nvPr/>
        </p:nvSpPr>
        <p:spPr>
          <a:xfrm>
            <a:off x="274320" y="6492240"/>
            <a:ext cx="5486400" cy="274320"/>
          </a:xfrm>
          <a:prstGeom prst="rect">
            <a:avLst/>
          </a:prstGeom>
          <a:noFill/>
        </p:spPr>
        <p:txBody>
          <a:bodyPr wrap="square">
            <a:spAutoFit/>
          </a:bodyPr>
          <a:lstStyle/>
          <a:p>
            <a:pPr algn="l"/>
            <a:r>
              <a:rPr sz="700" b="0" i="0">
                <a:solidFill>
                  <a:srgbClr val="808080"/>
                </a:solidFill>
              </a:rPr>
              <a:t>MBC Group — Valuation Analysis  |  Confidential</a:t>
            </a:r>
          </a:p>
        </p:txBody>
      </p:sp>
      <p:sp>
        <p:nvSpPr>
          <p:cNvPr id="21" name="TextBox 20"/>
          <p:cNvSpPr txBox="1"/>
          <p:nvPr/>
        </p:nvSpPr>
        <p:spPr>
          <a:xfrm>
            <a:off x="8229600" y="6492240"/>
            <a:ext cx="640080" cy="274320"/>
          </a:xfrm>
          <a:prstGeom prst="rect">
            <a:avLst/>
          </a:prstGeom>
          <a:noFill/>
        </p:spPr>
        <p:txBody>
          <a:bodyPr wrap="square">
            <a:spAutoFit/>
          </a:bodyPr>
          <a:lstStyle/>
          <a:p>
            <a:pPr algn="r"/>
            <a:r>
              <a:rPr sz="700" b="0" i="0">
                <a:solidFill>
                  <a:srgbClr val="808080"/>
                </a:solidFill>
              </a:rPr>
              <a:t>14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