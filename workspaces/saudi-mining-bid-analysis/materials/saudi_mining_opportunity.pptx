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64008" cy="3200400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Saudi Mining Construction Opportunity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43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C9A02C"/>
                </a:solidFill>
              </a:rPr>
              <a:t>Vision 2030: A Once-in-a-Decade Window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520440"/>
            <a:ext cx="8229600" cy="36576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749039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0D97B"/>
                </a:solidFill>
              </a:rPr>
              <a:t>[Your Name], Saudi Arabia Operations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2976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0DAE4"/>
                </a:solidFill>
              </a:rPr>
              <a:t>10 May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640080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0DAE4"/>
                </a:solidFill>
              </a:rPr>
              <a:t>CONFIDENTIAL — Internal Use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Why Saudi Arabia — Why Now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6400800" cy="41148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3566160" cy="310896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3566160" cy="73152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0876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C9A02C"/>
                </a:solidFill>
              </a:rPr>
              <a:t>USD 426B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606040"/>
            <a:ext cx="2834639" cy="27432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74320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Saudi mining GDP target by 2035
under Vision 2030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60" y="1280160"/>
            <a:ext cx="3566160" cy="310896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60" y="1280160"/>
            <a:ext cx="3566160" cy="73152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50876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C9A02C"/>
                </a:solidFill>
              </a:rPr>
              <a:t>18–24 months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17720" y="2606040"/>
            <a:ext cx="2834639" cy="27432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274320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Window to establish position
before market consolidates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1280160"/>
            <a:ext cx="3566160" cy="310896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280160"/>
            <a:ext cx="3566160" cy="73152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150876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C9A02C"/>
                </a:solidFill>
              </a:rPr>
              <a:t>USD 5B+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03920" y="2606040"/>
            <a:ext cx="2834639" cy="27432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274320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Chinese EPC contracts already won
in Saudi Arabia (2022 alone)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617720"/>
            <a:ext cx="11457432" cy="7772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68172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9A02C"/>
                </a:solidFill>
              </a:rPr>
              <a:t>Saudi construction awards fell 60% in 2025. Fewer contracts = more competition. Early entrants win.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What We Have That Others Don't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5943600" cy="41148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5486400" cy="411480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5486400" cy="73152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9A02C"/>
                </a:solidFill>
              </a:rPr>
              <a:t>Saudi Side (My Contribution):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5120640" cy="27432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2075688"/>
            <a:ext cx="128016" cy="128016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965960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Ministry of Industry &amp; Mineral Resources contact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2788920"/>
            <a:ext cx="128016" cy="128016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679191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Local market knowledge and language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3502152"/>
            <a:ext cx="128016" cy="128016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392424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Network of potential Saudi JV partners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4215384"/>
            <a:ext cx="128016" cy="128016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105656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Etimad and MOMRA registration capability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1097280"/>
            <a:ext cx="5486400" cy="411480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1097280"/>
            <a:ext cx="5486400" cy="73152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12344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9A02C"/>
                </a:solidFill>
              </a:rPr>
              <a:t>China Side (Manager's Network):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1783080"/>
            <a:ext cx="5120640" cy="27432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37960" y="2075688"/>
            <a:ext cx="128016" cy="128016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0" y="1965960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Chinese construction / mining company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37960" y="2788920"/>
            <a:ext cx="128016" cy="128016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2679191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Chinese equipment supply chains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37960" y="3502152"/>
            <a:ext cx="128016" cy="128016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0" y="3392424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Chinese policy bank financing (EXIM/CDB)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37960" y="4215384"/>
            <a:ext cx="128016" cy="128016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66560" y="4105656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Technical credentials and track record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394960"/>
            <a:ext cx="11457432" cy="777240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544068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2B55"/>
                </a:solidFill>
              </a:rPr>
              <a:t>Together: A complete, compliant, competitive offering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How We Win — 5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5029200" cy="41148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97280"/>
            <a:ext cx="2011680" cy="402336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97280"/>
            <a:ext cx="2011680" cy="73152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51560" y="1280160"/>
            <a:ext cx="548640" cy="548640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298448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D2B55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9659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9A02C"/>
                </a:solidFill>
              </a:rPr>
              <a:t>Introduction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651760"/>
            <a:ext cx="1463040" cy="27432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788920"/>
            <a:ext cx="1828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Manager introduces
Chinese construction
company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68296" y="2999232"/>
            <a:ext cx="2468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9A02C"/>
                </a:solidFill>
              </a:rPr>
              <a:t>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51760" y="1097280"/>
            <a:ext cx="2011680" cy="402336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51760" y="1097280"/>
            <a:ext cx="2011680" cy="73152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83280" y="1280160"/>
            <a:ext cx="548640" cy="548640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51760" y="1298448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D2B55"/>
                </a:solidFill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19659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9A02C"/>
                </a:solidFill>
              </a:rPr>
              <a:t>Registration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26080" y="2651760"/>
            <a:ext cx="1463040" cy="27432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0" y="2788920"/>
            <a:ext cx="1828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Etimad + MOMRA
(Weeks 2–4)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0016" y="2999232"/>
            <a:ext cx="2468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9A02C"/>
                </a:solidFill>
              </a:rPr>
              <a:t>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83480" y="1097280"/>
            <a:ext cx="2011680" cy="402336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983480" y="1097280"/>
            <a:ext cx="2011680" cy="73152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715000" y="1280160"/>
            <a:ext cx="548640" cy="548640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83480" y="1298448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D2B55"/>
                </a:solidFill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74920" y="19659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9A02C"/>
                </a:solidFill>
              </a:rPr>
              <a:t>Ministry Meeting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57800" y="2651760"/>
            <a:ext cx="1463040" cy="27432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74920" y="2788920"/>
            <a:ext cx="1828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Official MIMR meeting
through proper channels
(Weeks 3–5)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31736" y="2999232"/>
            <a:ext cx="2468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9A02C"/>
                </a:solidFill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0" y="1097280"/>
            <a:ext cx="2011680" cy="402336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15200" y="1097280"/>
            <a:ext cx="2011680" cy="73152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46720" y="1280160"/>
            <a:ext cx="548640" cy="548640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0" y="1298448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D2B55"/>
                </a:solidFill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06640" y="19659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9A02C"/>
                </a:solidFill>
              </a:rPr>
              <a:t>JV Formation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589520" y="2651760"/>
            <a:ext cx="1463040" cy="27432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06640" y="2788920"/>
            <a:ext cx="1828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Saudi partner
identification and
due diligence
(Month 2–4)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63456" y="2999232"/>
            <a:ext cx="2468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9A02C"/>
                </a:solidFill>
              </a:rPr>
              <a:t>▶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646920" y="1097280"/>
            <a:ext cx="2011680" cy="402336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646920" y="1097280"/>
            <a:ext cx="2011680" cy="73152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378440" y="1280160"/>
            <a:ext cx="548640" cy="548640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646920" y="1298448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D2B55"/>
                </a:solidFill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38360" y="19659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9A02C"/>
                </a:solidFill>
              </a:rPr>
              <a:t>Tender Bid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921240" y="2651760"/>
            <a:ext cx="1463040" cy="27432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38360" y="2788920"/>
            <a:ext cx="1828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Pre-qualification and
competitive bid
submission
(Month 4–9)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How We Stay Clean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04672"/>
            <a:ext cx="4572000" cy="36576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9A02C"/>
                </a:solidFill>
              </a:rPr>
              <a:t>Fully Compliant Under Saudi and Chinese Law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3260896704000" cy="326089670400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463040"/>
            <a:ext cx="3260896704000" cy="73152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536192"/>
            <a:ext cx="3260896704000" cy="594360"/>
          </a:xfrm>
          <a:prstGeom prst="rect">
            <a:avLst/>
          </a:prstGeom>
          <a:solidFill>
            <a:srgbClr val="0A1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57276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9A02C"/>
                </a:solidFill>
              </a:rPr>
              <a:t>Saudi Law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12848"/>
            <a:ext cx="338327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0D97B"/>
                </a:solidFill>
              </a:rPr>
              <a:t>Anti-Bribery Royal Decree 1975
+ Tenders Law M/128 (2019)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063240"/>
            <a:ext cx="3017520" cy="27432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200400"/>
            <a:ext cx="338327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We use only official channels,
no payments, no gifts to officials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60" y="1463040"/>
            <a:ext cx="3260896704000" cy="326089670400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51960" y="1463040"/>
            <a:ext cx="3260896704000" cy="73152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51960" y="1536192"/>
            <a:ext cx="3260896704000" cy="594360"/>
          </a:xfrm>
          <a:prstGeom prst="rect">
            <a:avLst/>
          </a:prstGeom>
          <a:solidFill>
            <a:srgbClr val="0A1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157276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9A02C"/>
                </a:solidFill>
              </a:rPr>
              <a:t>Chinese Law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2212848"/>
            <a:ext cx="338327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0D97B"/>
                </a:solidFill>
              </a:rPr>
              <a:t>Criminal Law Art. 391
+ Anti-Foreign Bribery Law (2021)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26280" y="3063240"/>
            <a:ext cx="3017520" cy="27432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43400" y="3200400"/>
            <a:ext cx="338327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Zero impropriety;
all interactions documented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1463040"/>
            <a:ext cx="3260896704000" cy="326089670400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38160" y="1463040"/>
            <a:ext cx="3260896704000" cy="73152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38160" y="1536192"/>
            <a:ext cx="3260896704000" cy="594360"/>
          </a:xfrm>
          <a:prstGeom prst="rect">
            <a:avLst/>
          </a:prstGeom>
          <a:solidFill>
            <a:srgbClr val="0A1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75320" y="157276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9A02C"/>
                </a:solidFill>
              </a:rPr>
              <a:t>Our Standard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2212848"/>
            <a:ext cx="338327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0D97B"/>
                </a:solidFill>
              </a:rPr>
              <a:t>Internal compliance protocol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12480" y="3063240"/>
            <a:ext cx="3017520" cy="27432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3200400"/>
            <a:ext cx="338327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Every meeting logged; Saudi legal counsel
present; no non-public information accessed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5257800"/>
            <a:ext cx="11457432" cy="8229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534924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9A02C"/>
                </a:solidFill>
              </a:rPr>
              <a:t>I will not risk my professional reputation in Saudi Arabia for anything less.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Phase 1: Small Investment, Big Clarity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7315200" cy="41148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3566160" cy="329184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3566160" cy="73152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74520" y="1280160"/>
            <a:ext cx="548640" cy="548640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298448"/>
            <a:ext cx="326089670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D2B55"/>
                </a:solidFill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65960"/>
            <a:ext cx="33832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1. Register on Etimad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514600"/>
            <a:ext cx="33832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0DAE4"/>
                </a:solidFill>
              </a:rPr>
              <a:t>Saudi government procurement platform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520440"/>
            <a:ext cx="33832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C9A02C"/>
                </a:solidFill>
              </a:rPr>
              <a:t>RMB 5,000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0" y="1097280"/>
            <a:ext cx="3566160" cy="329184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51960" y="1097280"/>
            <a:ext cx="3566160" cy="73152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60720" y="1280160"/>
            <a:ext cx="548640" cy="548640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51960" y="1298448"/>
            <a:ext cx="326089670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D2B55"/>
                </a:solidFill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1965960"/>
            <a:ext cx="33832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2. Formal MIMR Meeting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2514600"/>
            <a:ext cx="33832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0DAE4"/>
                </a:solidFill>
              </a:rPr>
              <a:t>Delegation visit to Riyadh
(legal counsel + logistics)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3520440"/>
            <a:ext cx="33832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C9A02C"/>
                </a:solidFill>
              </a:rPr>
              <a:t>RMB 30,000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8160" y="1097280"/>
            <a:ext cx="3566160" cy="329184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38160" y="1097280"/>
            <a:ext cx="3566160" cy="73152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646920" y="1280160"/>
            <a:ext cx="548640" cy="548640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60" y="1298448"/>
            <a:ext cx="326089670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D2B55"/>
                </a:solidFill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1965960"/>
            <a:ext cx="33832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3. MOMRA Classification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2514600"/>
            <a:ext cx="33832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0DAE4"/>
                </a:solidFill>
              </a:rPr>
              <a:t>Contractor grade application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3520440"/>
            <a:ext cx="33832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C9A02C"/>
                </a:solidFill>
              </a:rPr>
              <a:t>RMB 3,000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617720"/>
            <a:ext cx="11457432" cy="868680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4663440"/>
            <a:ext cx="7315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2B55"/>
                </a:solidFill>
              </a:rPr>
              <a:t>Total Phase 1: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4663440"/>
            <a:ext cx="39776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200" b="1" i="0">
                <a:solidFill>
                  <a:srgbClr val="0D2B55"/>
                </a:solidFill>
              </a:rPr>
              <a:t>RMB 50,000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557784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0D97B"/>
                </a:solidFill>
              </a:rPr>
              <a:t>Decision needed within 10 days.  Results in 30 days.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10 Days to Decide.  18 Months to Act.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7772400" cy="41148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11457432" cy="100584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11457432" cy="64008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This is not a commitment. It is an option to find out if the opportunity is real.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377440"/>
            <a:ext cx="11457432" cy="2286000"/>
          </a:xfrm>
          <a:prstGeom prst="rect">
            <a:avLst/>
          </a:prstGeom>
          <a:solidFill>
            <a:srgbClr val="0F24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560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✓  Can we register and meet the Ministry officially?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18687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✓  Are Saudi JV partners available and interested?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877056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✓  Is Chinese financing viable for Saudi mining projects?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846320"/>
            <a:ext cx="11457432" cy="822960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4919472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2B55"/>
                </a:solidFill>
              </a:rPr>
              <a:t>If Phase 1 works, we are positioned in the Saudi mining market for the next decade.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0" y="640080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0DAE4"/>
                </a:solidFill>
              </a:rPr>
              <a:t>Presenter: [Your Name]  |  Date: 10 May 2026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C9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